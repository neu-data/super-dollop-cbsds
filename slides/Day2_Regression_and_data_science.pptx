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8"/>
    <p:sldId id="258" r:id="rId9"/>
    <p:sldId id="259" r:id="rId5"/>
    <p:sldId id="260" r:id="rId4"/>
    <p:sldId id="261" r:id="rId3"/>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ableStyles" Target="tableStyles.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Ask for one thing from Day 1 that was unclear; note it and return to it during the recap or the practical.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Linear regression is the main practical today. Logistic regression, Poisson regression and clustering are introductions: participants run guided code and learn to read the output, not to master the methods.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Outcomes 1 to 5 are practised fully. Outcomes 6 and 7 are introductory and supported by guided demonstrations.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to answer questions left over from Day 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(estimating an association, often with a causal question in mind) needs careful choice of confounders and design. Prediction needs good performance on new data and does not require coefficients to be causal. Clustering has no outcome at 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scatterplot shows what a single number cannot: curvature, clusters, outliers, unequal spread.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cor.test(~ sbp_0 + age, data = hearts) and method = "spearman". A correlation of 0.5 means age and SBP share a moderate linear association; it does not mean half of SBP is caused by 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Anscombe made this point in 1973 with four datasets that have the same correlation but very different plots.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data the lifestyle programme was randomised, so the difference between programme groups can be read causally (within the limits of the trial). The activity-SBP association is observational.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describes how the MEAN of the outcome changes with the predictor. Individuals vary around that mean; the residual standard error tells us by how much.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low R-squared does not make an association unimportant, and a high R-squared does not make it causal. The p-value for the slope (&lt; 0.001) tests whether the slope is zero.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 of importance: independence and linearity first. Non-normal residuals mainly affect prediction intervals and small-sample inference. If spread increases with the mean, a log transformation of the outcome often helps.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 par(mfrow = c(2, 2)); plot(fit1). Explain each panel briefly. Participants will do this in exercise 2.2.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anova(lm(sbp_0 ~ district)) gives exactly the F-test from Day 1 (F = 7.3). Changing the reference level with relevel() or factor(levels = ...) changes the coefficients but not the model.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b1 is now the difference in mean SBP per hour of activity among people of the same age and sex. This is what "adjusted for" means.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causal diagram (directed acyclic graph, DAG) makes assumptions explicit. Arrows show assumed causal directions. Draw the diagram from subject knowledge before the analysis, not from the data.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Whether to adjust for a mediator depends on the question. For the total effect of being more active, do not adjust for BMI. Mediation analysis is a specialised topic; this is the intuition only.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1: -2.08 (-2.62 to -1.53). Model 2: -1.60 (-2.08 to -1.12). Model 3: -0.86 (-1.36 to -0.37). Interpretation of model 2: among people of the same age and sex, each extra hour of activity per week is associated with a mean SBP 1.6 mmHg lower. Model 3 is not "more adjusted and therefore better"; it answers a different question. The models also differ slightly in sample size because of missing BMI.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collider is a variable caused by both exposure and outcome. Adjusting for it can create a spurious association. Mention briefly; it is further learning. Residual confounding remains in all observational studies.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Coefficients for the adjustment variables (age, sex) are not themselves adjusted for their own confounders, so be careful about interpreting them causally (the "Table 2 fallacy").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predict(fit_adj, newdata = new, interval = "confidence"). If we thought the slope differed by sex, we would add an interaction term (activity_hr * sex) and the lines could diverge.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Day 1 stratified table the smoking ORs were 2.75 (women) and 3.28 (men), with wide overlapping CIs: no clear evidence of effect modification. Looking at many subgroups invites false findings.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Logistic and Poisson regression are generalised linear models: a linear predictor on a transformed scale (log-odds or log-rate). The R syntax looks almost the same as lm(), which makes it easy to run them and easy to misread them. Hence the emphasis on interpretation.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Interpretation: among people of the same age and sex, the odds of high BP were about twice as high in smokers. The crude OR reflected partly that smokers were older and more often male. Note: ORs are not collapsible, so a crude and adjusted OR can differ slightly even without confounding; the large change here reflects real confounding by age. Check: enough events (124 here), linear log-odds for continuous predictors,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predict(fit, newdata = new, type = "response"). For risk ratios or differences from a binary outcome, other approaches exist (log-binomial or modified Poisson regression, marginal effects); further learning.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the offset, people followed for 12 months would look like heavy users compared with those followed for 3 months. The offset is the log of the exposure, entered with a fixed coefficient of 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Dispersion ratio = sum of squared Pearson residuals / residual degrees of freedom. Values well above 1 suggest overdispersion. Excess zeros, very long follow-up differences or clustered data need further methods.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good predictor of hospital use might be the number of past visits, which explains nothing causally. A good causal estimate may predict poorly. Be clear which goal you have.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RMSE = root mean squared error, the typical size of a prediction error. Cross-validation repeats the split several times. Leakage makes models look better than they will perform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Clustering is descriptive. It always returns clusters, even from data with no real groups. Our data were simulated with three hidden lifestyle profiles, which lets us check how well the clusters recover them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scale() gives each variable mean 0 and SD 1. Scaling is a choice: it gives each variable equal weight. Variables measured on the same scale and units may not need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Silhouette: how well each person fits their own cluster compared with the nearest other one (maximum 1). Values of 0.25 to 0.5 suggest weak to moderate structure. Here k = 2 is slightly highest; we show k = 3 for interpretability and compare k = 2 in the workbook. Be honest about this uncertainty when reporting.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linkage method matters: average linkage on these data gives one huge group and two tiny ones (workbook extension E2.4). Hierarchical clustering does not need k in advance, but you still choose where to cut.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Clusters are a summary to be checked, not a discovery to be believed. In our simulation, k-means placed most Active people in one cluster and most Sedentary in another, but the middle cluster mixed profiles.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packages exist on CRAN; they are signposts, not course content. The reference pack's decision diagrams show these routes in dashed boxes.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Protect the final exercise time. If the group is behind, shorten Part C to a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thanking participants. Remind them the reference pack (cheat sheet, decision diagrams, method-selection guide) is designed for use after the course.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participants. The materials, scripts and reference pack are theirs to keep. All examples used simulated data and are for teaching only.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xml"/><Relationship Id="rId3" Type="http://schemas.openxmlformats.org/officeDocument/2006/relationships/tags" Target="../tags/tag5.xml"/><Relationship Id="rId4" Type="http://schemas.openxmlformats.org/officeDocument/2006/relationships/tags" Target="../tags/tag6.xml"/><Relationship Id="rId5"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0.xml"/><Relationship Id="rId3" Type="http://schemas.openxmlformats.org/officeDocument/2006/relationships/tags" Target="../tags/tag11.xml"/><Relationship Id="rId4" Type="http://schemas.openxmlformats.org/officeDocument/2006/relationships/tags" Target="../tags/tag12.xml"/><Relationship Id="rId5" Type="http://schemas.openxmlformats.org/officeDocument/2006/relationships/tags" Target="../tags/tag13.xml"/><Relationship Id="rId6"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4.xml"/><Relationship Id="rId3" Type="http://schemas.openxmlformats.org/officeDocument/2006/relationships/tags" Target="../tags/tag15.xml"/><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6.xml"/><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016000" y="1460500"/>
            <a:ext cx="10160000" cy="1333500"/>
          </a:xfrm>
        </p:spPr>
        <p:txBody>
          <a:bodyPr lIns="90000" tIns="46800" rIns="90000" bIns="46800" anchor="b" anchorCtr="0">
            <a:normAutofit/>
          </a:bodyPr>
          <a:lstStyle>
            <a:lvl1pPr algn="ctr">
              <a:defRPr sz="4400" b="1">
                <a:solidFill>
                  <a:srgbClr val="0D7377"/>
                </a:solidFill>
                <a:latin typeface="Century Gothic" panose="020B0502020202020204" charset="0"/>
                <a:cs typeface="Century Gothic" panose="020B0502020202020204" charset="0"/>
              </a:defRPr>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2286000" y="2946400"/>
            <a:ext cx="7620000" cy="1143000"/>
          </a:xfrm>
        </p:spPr>
        <p:txBody>
          <a:bodyPr lIns="90000" tIns="46800" rIns="90000" bIns="46800">
            <a:normAutofit/>
          </a:bodyPr>
          <a:lstStyle>
            <a:lvl1pPr marL="0" indent="0" algn="ctr">
              <a:lnSpc>
                <a:spcPct val="110000"/>
              </a:lnSpc>
              <a:buNone/>
              <a:defRPr sz="2000">
                <a:solidFill>
                  <a:srgbClr val="1A1A1A"/>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a:xfrm>
            <a:off x="8128000" y="5562600"/>
            <a:ext cx="3556000" cy="381000"/>
          </a:xfrm>
          <a:prstGeom prst="rect">
            <a:avLst/>
          </a:prstGeom>
        </p:spPr>
        <p:txBody>
          <a:bodyPr/>
          <a:lstStyle>
            <a:lvl1pPr algn="r">
              <a:defRPr sz="1400" b="1">
                <a:solidFill>
                  <a:srgbClr val="1A1A1A"/>
                </a:solidFill>
                <a:latin typeface="Century Gothic" panose="020B0502020202020204" charset="0"/>
                <a:cs typeface="Century Gothic" panose="020B0502020202020204" charset="0"/>
              </a:defRPr>
            </a:lvl1pPr>
          </a:lstStyle>
          <a:p>
            <a:fld id="{760FBDFE-C587-4B4C-A407-44438C67B59E}" type="datetimeFigureOut">
              <a:rPr lang="en-US" smtClean="0"/>
            </a:fld>
            <a:endParaRPr lang="en-US"/>
          </a:p>
        </p:txBody>
      </p:sp>
      <p:pic>
        <p:nvPicPr>
          <p:cNvPr id="4" name="Neudata logo large" descr="neudata-logo"/>
          <p:cNvPicPr>
            <a:picLocks noChangeAspect="1"/>
          </p:cNvPicPr>
          <p:nvPr userDrawn="1"/>
        </p:nvPicPr>
        <p:blipFill>
          <a:blip r:embed="rId5"/>
          <a:stretch>
            <a:fillRect/>
          </a:stretch>
        </p:blipFill>
        <p:spPr>
          <a:xfrm>
            <a:off x="508000" y="4381500"/>
            <a:ext cx="3021965" cy="20955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81000" y="228600"/>
            <a:ext cx="11430000" cy="736600"/>
          </a:xfrm>
        </p:spPr>
        <p:txBody>
          <a:bodyPr vert="horz" lIns="90000" tIns="46800" rIns="90000" bIns="46800" rtlCol="0" anchor="b" anchorCtr="0">
            <a:normAutofit/>
          </a:bodyPr>
          <a:lstStyle>
            <a:lvl1pPr algn="l">
              <a:defRPr sz="3000" b="1">
                <a:solidFill>
                  <a:srgbClr val="0D7377"/>
                </a:solidFill>
                <a:latin typeface="Century Gothic" panose="020B0502020202020204" charset="0"/>
                <a:cs typeface="Century Gothic" panose="020B0502020202020204" charset="0"/>
              </a:defRPr>
            </a:lvl1p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431800" y="1270000"/>
            <a:ext cx="11328400" cy="46990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Slide Number Placeholder 5"/>
          <p:cNvSpPr>
            <a:spLocks noGrp="1"/>
          </p:cNvSpPr>
          <p:nvPr>
            <p:ph type="sldNum" sz="quarter" idx="12"/>
            <p:custDataLst>
              <p:tags r:id="rId4"/>
            </p:custDataLst>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a:p>
        </p:txBody>
      </p:sp>
      <p:cxnSp>
        <p:nvCxnSpPr>
          <p:cNvPr id="7" name="Title rule"/>
          <p:cNvCxnSpPr/>
          <p:nvPr userDrawn="1"/>
        </p:nvCxnSpPr>
        <p:spPr>
          <a:xfrm>
            <a:off x="355600" y="1041400"/>
            <a:ext cx="11480800" cy="635"/>
          </a:xfrm>
          <a:prstGeom prst="line">
            <a:avLst/>
          </a:prstGeom>
          <a:ln w="15875">
            <a:solidFill>
              <a:srgbClr val="0D7377"/>
            </a:solidFill>
          </a:ln>
        </p:spPr>
        <p:style>
          <a:lnRef idx="2">
            <a:schemeClr val="accent1"/>
          </a:lnRef>
          <a:fillRef idx="0">
            <a:srgbClr val="FFFFFF"/>
          </a:fillRef>
          <a:effectRef idx="0">
            <a:srgbClr val="FFFFFF"/>
          </a:effectRef>
          <a:fontRef idx="minor">
            <a:schemeClr val="tx1"/>
          </a:fontRef>
        </p:style>
      </p:cxnSp>
      <p:pic>
        <p:nvPicPr>
          <p:cNvPr id="8" name="Neudata logo" descr="neudata-logo"/>
          <p:cNvPicPr>
            <a:picLocks noChangeAspect="1"/>
          </p:cNvPicPr>
          <p:nvPr userDrawn="1"/>
        </p:nvPicPr>
        <p:blipFill>
          <a:blip r:embed="rId5"/>
          <a:stretch>
            <a:fillRect/>
          </a:stretch>
        </p:blipFill>
        <p:spPr>
          <a:xfrm>
            <a:off x="152400" y="6273800"/>
            <a:ext cx="732155" cy="508000"/>
          </a:xfrm>
          <a:prstGeom prst="rect">
            <a:avLst/>
          </a:prstGeom>
        </p:spPr>
      </p:pic>
      <p:sp>
        <p:nvSpPr>
          <p:cNvPr id="9"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Notes">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11430000" cy="736600"/>
          </a:xfrm>
        </p:spPr>
        <p:txBody>
          <a:bodyPr anchor="b"/>
          <a:lstStyle>
            <a:lvl1pPr algn="l">
              <a:defRPr sz="3000" b="1">
                <a:solidFill>
                  <a:srgbClr val="0D7377"/>
                </a:solidFill>
                <a:latin typeface="Century Gothic" panose="020B0502020202020204" charset="0"/>
                <a:cs typeface="Century Gothic" panose="020B0502020202020204" charset="0"/>
              </a:defRPr>
            </a:lvl1pPr>
          </a:lstStyle>
          <a:p>
            <a:r>
              <a:rPr lang="en-US" smtClean="0"/>
              <a:t>Click to edit Master title style</a:t>
            </a:r>
            <a:endParaRPr lang="en-US"/>
          </a:p>
        </p:txBody>
      </p:sp>
      <p:sp>
        <p:nvSpPr>
          <p:cNvPr id="5" name="Slide Number Placeholder 4"/>
          <p:cNvSpPr>
            <a:spLocks noGrp="1"/>
          </p:cNvSpPr>
          <p:nvPr>
            <p:ph type="sldNum" sz="quarter" idx="12"/>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dirty="0"/>
          </a:p>
        </p:txBody>
      </p:sp>
      <p:cxnSp>
        <p:nvCxnSpPr>
          <p:cNvPr id="6" name="Title rule"/>
          <p:cNvCxnSpPr/>
          <p:nvPr userDrawn="1"/>
        </p:nvCxnSpPr>
        <p:spPr>
          <a:xfrm>
            <a:off x="355600" y="1041400"/>
            <a:ext cx="11480800" cy="635"/>
          </a:xfrm>
          <a:prstGeom prst="line">
            <a:avLst/>
          </a:prstGeom>
          <a:ln w="15875">
            <a:solidFill>
              <a:srgbClr val="0D7377"/>
            </a:solidFill>
          </a:ln>
        </p:spPr>
        <p:style>
          <a:lnRef idx="2">
            <a:schemeClr val="accent1"/>
          </a:lnRef>
          <a:fillRef idx="0">
            <a:srgbClr val="FFFFFF"/>
          </a:fillRef>
          <a:effectRef idx="0">
            <a:srgbClr val="FFFFFF"/>
          </a:effectRef>
          <a:fontRef idx="minor">
            <a:schemeClr val="tx1"/>
          </a:fontRef>
        </p:style>
      </p:cxnSp>
      <p:pic>
        <p:nvPicPr>
          <p:cNvPr id="7" name="Neudata logo" descr="neudata-logo"/>
          <p:cNvPicPr>
            <a:picLocks noChangeAspect="1"/>
          </p:cNvPicPr>
          <p:nvPr userDrawn="1"/>
        </p:nvPicPr>
        <p:blipFill>
          <a:blip r:embed="rId2"/>
          <a:stretch>
            <a:fillRect/>
          </a:stretch>
        </p:blipFill>
        <p:spPr>
          <a:xfrm>
            <a:off x="152400" y="6273800"/>
            <a:ext cx="732155" cy="508000"/>
          </a:xfrm>
          <a:prstGeom prst="rect">
            <a:avLst/>
          </a:prstGeom>
        </p:spPr>
      </p:pic>
      <p:sp>
        <p:nvSpPr>
          <p:cNvPr id="8"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
        <p:nvSpPr>
          <p:cNvPr id="9" name="Text Placeholder 8"/>
          <p:cNvSpPr>
            <a:spLocks noGrp="1"/>
          </p:cNvSpPr>
          <p:nvPr>
            <p:ph type="body" idx="13"/>
          </p:nvPr>
        </p:nvSpPr>
        <p:spPr>
          <a:xfrm>
            <a:off x="431800" y="1270000"/>
            <a:ext cx="11328400" cy="4699000"/>
          </a:xfrm>
        </p:spPr>
        <p:txBody>
          <a:bodyPr/>
          <a:lstStyle>
            <a:lvl1pPr marL="0" indent="0">
              <a:buNone/>
              <a:defRPr>
                <a:solidFill>
                  <a:srgbClr val="0070C0"/>
                </a:solidFill>
              </a:defRPr>
            </a:lvl1pPr>
            <a:lvl2pPr marL="457200" indent="0">
              <a:buNone/>
              <a:defRPr>
                <a:solidFill>
                  <a:srgbClr val="0070C0"/>
                </a:solidFill>
              </a:defRPr>
            </a:lvl2pPr>
            <a:lvl3pPr marL="914400" indent="0">
              <a:buNone/>
              <a:defRPr>
                <a:solidFill>
                  <a:srgbClr val="0070C0"/>
                </a:solidFill>
              </a:defRPr>
            </a:lvl3pPr>
            <a:lvl4pPr marL="1371600" indent="0">
              <a:buNone/>
              <a:defRPr>
                <a:solidFill>
                  <a:srgbClr val="0070C0"/>
                </a:solidFill>
              </a:defRPr>
            </a:lvl4pPr>
            <a:lvl5pPr marL="1828800" indent="0">
              <a:buNone/>
              <a:defRPr sz="2800">
                <a:solidFill>
                  <a:srgbClr val="0070C0"/>
                </a:solidFill>
              </a:defRPr>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4953000" y="2349500"/>
            <a:ext cx="6858000" cy="1079500"/>
          </a:xfrm>
        </p:spPr>
        <p:txBody>
          <a:bodyPr lIns="90000" tIns="46800" rIns="90000" bIns="46800" anchor="b" anchorCtr="0">
            <a:normAutofit/>
          </a:bodyPr>
          <a:lstStyle>
            <a:lvl1pPr algn="l">
              <a:defRPr sz="4000" b="1">
                <a:solidFill>
                  <a:srgbClr val="0D7377"/>
                </a:solidFill>
                <a:latin typeface="Century Gothic" panose="020B0502020202020204" charset="0"/>
                <a:cs typeface="Century Gothic" panose="020B0502020202020204" charset="0"/>
              </a:defRPr>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4953000" y="3492500"/>
            <a:ext cx="6858000" cy="571500"/>
          </a:xfrm>
        </p:spPr>
        <p:txBody>
          <a:bodyPr lIns="90000" tIns="46800" rIns="90000" bIns="46800">
            <a:normAutofit/>
          </a:bodyPr>
          <a:lstStyle>
            <a:lvl1pPr marL="0" indent="0">
              <a:buNone/>
              <a:defRPr sz="1800">
                <a:solidFill>
                  <a:srgbClr val="8A99A3"/>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6" name="Slide Number Placeholder 5"/>
          <p:cNvSpPr>
            <a:spLocks noGrp="1"/>
          </p:cNvSpPr>
          <p:nvPr>
            <p:ph type="sldNum" sz="quarter" idx="12"/>
            <p:custDataLst>
              <p:tags r:id="rId4"/>
            </p:custDataLst>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a:p>
        </p:txBody>
      </p:sp>
      <p:pic>
        <p:nvPicPr>
          <p:cNvPr id="7" name="Neudata logo" descr="neudata-logo"/>
          <p:cNvPicPr>
            <a:picLocks noChangeAspect="1"/>
          </p:cNvPicPr>
          <p:nvPr userDrawn="1"/>
        </p:nvPicPr>
        <p:blipFill>
          <a:blip r:embed="rId5"/>
          <a:stretch>
            <a:fillRect/>
          </a:stretch>
        </p:blipFill>
        <p:spPr>
          <a:xfrm>
            <a:off x="762000" y="2413000"/>
            <a:ext cx="2564130" cy="1778000"/>
          </a:xfrm>
          <a:prstGeom prst="rect">
            <a:avLst/>
          </a:prstGeom>
        </p:spPr>
      </p:pic>
      <p:cxnSp>
        <p:nvCxnSpPr>
          <p:cNvPr id="8" name="Section rule"/>
          <p:cNvCxnSpPr/>
          <p:nvPr userDrawn="1"/>
        </p:nvCxnSpPr>
        <p:spPr>
          <a:xfrm>
            <a:off x="4572000" y="2222500"/>
            <a:ext cx="635" cy="2159000"/>
          </a:xfrm>
          <a:prstGeom prst="line">
            <a:avLst/>
          </a:prstGeom>
          <a:ln w="25400">
            <a:solidFill>
              <a:srgbClr val="0D7377"/>
            </a:solidFill>
          </a:ln>
        </p:spPr>
        <p:style>
          <a:lnRef idx="2">
            <a:schemeClr val="accent1"/>
          </a:lnRef>
          <a:fillRef idx="0">
            <a:srgbClr val="FFFFFF"/>
          </a:fillRef>
          <a:effectRef idx="0">
            <a:srgbClr val="FFFFFF"/>
          </a:effectRef>
          <a:fontRef idx="minor">
            <a:schemeClr val="tx1"/>
          </a:fontRef>
        </p:style>
      </p:cxnSp>
      <p:sp>
        <p:nvSpPr>
          <p:cNvPr id="9"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81000" y="228600"/>
            <a:ext cx="11430000" cy="736600"/>
          </a:xfrm>
        </p:spPr>
        <p:txBody>
          <a:bodyPr vert="horz" lIns="90000" tIns="46800" rIns="90000" bIns="46800" rtlCol="0" anchor="b" anchorCtr="0">
            <a:normAutofit/>
          </a:bodyPr>
          <a:lstStyle>
            <a:lvl1pPr algn="l">
              <a:defRPr sz="3000" b="1">
                <a:solidFill>
                  <a:srgbClr val="0D7377"/>
                </a:solidFill>
                <a:latin typeface="Century Gothic" panose="020B0502020202020204" charset="0"/>
                <a:cs typeface="Century Gothic" panose="020B0502020202020204" charset="0"/>
              </a:defRPr>
            </a:lvl1p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431800" y="1270000"/>
            <a:ext cx="5537200" cy="46990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223000" y="1270000"/>
            <a:ext cx="5537200" cy="46990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Slide Number Placeholder 6"/>
          <p:cNvSpPr>
            <a:spLocks noGrp="1"/>
          </p:cNvSpPr>
          <p:nvPr>
            <p:ph type="sldNum" sz="quarter" idx="12"/>
            <p:custDataLst>
              <p:tags r:id="rId5"/>
            </p:custDataLst>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a:p>
        </p:txBody>
      </p:sp>
      <p:cxnSp>
        <p:nvCxnSpPr>
          <p:cNvPr id="8" name="Title rule"/>
          <p:cNvCxnSpPr/>
          <p:nvPr userDrawn="1"/>
        </p:nvCxnSpPr>
        <p:spPr>
          <a:xfrm>
            <a:off x="355600" y="1041400"/>
            <a:ext cx="11480800" cy="635"/>
          </a:xfrm>
          <a:prstGeom prst="line">
            <a:avLst/>
          </a:prstGeom>
          <a:ln w="15875">
            <a:solidFill>
              <a:srgbClr val="0D7377"/>
            </a:solidFill>
          </a:ln>
        </p:spPr>
        <p:style>
          <a:lnRef idx="2">
            <a:schemeClr val="accent1"/>
          </a:lnRef>
          <a:fillRef idx="0">
            <a:srgbClr val="FFFFFF"/>
          </a:fillRef>
          <a:effectRef idx="0">
            <a:srgbClr val="FFFFFF"/>
          </a:effectRef>
          <a:fontRef idx="minor">
            <a:schemeClr val="tx1"/>
          </a:fontRef>
        </p:style>
      </p:cxnSp>
      <p:pic>
        <p:nvPicPr>
          <p:cNvPr id="9" name="Neudata logo" descr="neudata-logo"/>
          <p:cNvPicPr>
            <a:picLocks noChangeAspect="1"/>
          </p:cNvPicPr>
          <p:nvPr userDrawn="1"/>
        </p:nvPicPr>
        <p:blipFill>
          <a:blip r:embed="rId6"/>
          <a:stretch>
            <a:fillRect/>
          </a:stretch>
        </p:blipFill>
        <p:spPr>
          <a:xfrm>
            <a:off x="152400" y="6273800"/>
            <a:ext cx="732155" cy="508000"/>
          </a:xfrm>
          <a:prstGeom prst="rect">
            <a:avLst/>
          </a:prstGeom>
        </p:spPr>
      </p:pic>
      <p:sp>
        <p:nvSpPr>
          <p:cNvPr id="10"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81000" y="228600"/>
            <a:ext cx="11430000" cy="736600"/>
          </a:xfrm>
        </p:spPr>
        <p:txBody>
          <a:bodyPr vert="horz" lIns="90000" tIns="46800" rIns="90000" bIns="46800" rtlCol="0" anchor="b" anchorCtr="0">
            <a:normAutofit/>
          </a:bodyPr>
          <a:lstStyle>
            <a:lvl1pPr algn="l">
              <a:defRPr sz="3000" b="1">
                <a:solidFill>
                  <a:srgbClr val="0D7377"/>
                </a:solidFill>
                <a:latin typeface="Century Gothic" panose="020B0502020202020204" charset="0"/>
                <a:cs typeface="Century Gothic" panose="020B0502020202020204" charset="0"/>
              </a:defRPr>
            </a:lvl1pPr>
          </a:lstStyle>
          <a:p>
            <a:pPr lvl="0"/>
            <a:r>
              <a:rPr lang="en-US" smtClean="0"/>
              <a:t>Click to edit Master title style</a:t>
            </a:r>
            <a:endParaRPr lang="en-US"/>
          </a:p>
        </p:txBody>
      </p:sp>
      <p:sp>
        <p:nvSpPr>
          <p:cNvPr id="5" name="Slide Number Placeholder 4"/>
          <p:cNvSpPr>
            <a:spLocks noGrp="1"/>
          </p:cNvSpPr>
          <p:nvPr>
            <p:ph type="sldNum" sz="quarter" idx="12"/>
            <p:custDataLst>
              <p:tags r:id="rId3"/>
            </p:custDataLst>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a:p>
        </p:txBody>
      </p:sp>
      <p:cxnSp>
        <p:nvCxnSpPr>
          <p:cNvPr id="6" name="Title rule"/>
          <p:cNvCxnSpPr/>
          <p:nvPr userDrawn="1"/>
        </p:nvCxnSpPr>
        <p:spPr>
          <a:xfrm>
            <a:off x="355600" y="1041400"/>
            <a:ext cx="11480800" cy="635"/>
          </a:xfrm>
          <a:prstGeom prst="line">
            <a:avLst/>
          </a:prstGeom>
          <a:ln w="15875">
            <a:solidFill>
              <a:srgbClr val="0D7377"/>
            </a:solidFill>
          </a:ln>
        </p:spPr>
        <p:style>
          <a:lnRef idx="2">
            <a:schemeClr val="accent1"/>
          </a:lnRef>
          <a:fillRef idx="0">
            <a:srgbClr val="FFFFFF"/>
          </a:fillRef>
          <a:effectRef idx="0">
            <a:srgbClr val="FFFFFF"/>
          </a:effectRef>
          <a:fontRef idx="minor">
            <a:schemeClr val="tx1"/>
          </a:fontRef>
        </p:style>
      </p:cxnSp>
      <p:pic>
        <p:nvPicPr>
          <p:cNvPr id="7" name="Neudata logo" descr="neudata-logo"/>
          <p:cNvPicPr>
            <a:picLocks noChangeAspect="1"/>
          </p:cNvPicPr>
          <p:nvPr userDrawn="1"/>
        </p:nvPicPr>
        <p:blipFill>
          <a:blip r:embed="rId4"/>
          <a:stretch>
            <a:fillRect/>
          </a:stretch>
        </p:blipFill>
        <p:spPr>
          <a:xfrm>
            <a:off x="152400" y="6273800"/>
            <a:ext cx="732155" cy="508000"/>
          </a:xfrm>
          <a:prstGeom prst="rect">
            <a:avLst/>
          </a:prstGeom>
        </p:spPr>
      </p:pic>
      <p:sp>
        <p:nvSpPr>
          <p:cNvPr id="8"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custDataLst>
              <p:tags r:id="rId2"/>
            </p:custDataLst>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a:p>
        </p:txBody>
      </p:sp>
      <p:pic>
        <p:nvPicPr>
          <p:cNvPr id="5" name="Neudata logo" descr="neudata-logo"/>
          <p:cNvPicPr>
            <a:picLocks noChangeAspect="1"/>
          </p:cNvPicPr>
          <p:nvPr userDrawn="1"/>
        </p:nvPicPr>
        <p:blipFill>
          <a:blip r:embed="rId3"/>
          <a:stretch>
            <a:fillRect/>
          </a:stretch>
        </p:blipFill>
        <p:spPr>
          <a:xfrm>
            <a:off x="152400" y="6273800"/>
            <a:ext cx="732155" cy="508000"/>
          </a:xfrm>
          <a:prstGeom prst="rect">
            <a:avLst/>
          </a:prstGeom>
        </p:spPr>
      </p:pic>
      <p:sp>
        <p:nvSpPr>
          <p:cNvPr id="6"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 Copyrigh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dirty="0"/>
          </a:p>
        </p:txBody>
      </p:sp>
      <p:pic>
        <p:nvPicPr>
          <p:cNvPr id="6" name="Neudata logo large" descr="neudata-logo"/>
          <p:cNvPicPr>
            <a:picLocks noChangeAspect="1"/>
          </p:cNvPicPr>
          <p:nvPr userDrawn="1"/>
        </p:nvPicPr>
        <p:blipFill>
          <a:blip r:embed="rId2"/>
          <a:stretch>
            <a:fillRect/>
          </a:stretch>
        </p:blipFill>
        <p:spPr>
          <a:xfrm>
            <a:off x="4355465" y="317500"/>
            <a:ext cx="3479800" cy="2413000"/>
          </a:xfrm>
          <a:prstGeom prst="rect">
            <a:avLst/>
          </a:prstGeom>
        </p:spPr>
      </p:pic>
      <p:sp>
        <p:nvSpPr>
          <p:cNvPr id="7" name="Copyright heading"/>
          <p:cNvSpPr txBox="1"/>
          <p:nvPr/>
        </p:nvSpPr>
        <p:spPr>
          <a:xfrm>
            <a:off x="1905000" y="2946400"/>
            <a:ext cx="8890000" cy="398780"/>
          </a:xfrm>
          <a:prstGeom prst="rect">
            <a:avLst/>
          </a:prstGeom>
          <a:noFill/>
        </p:spPr>
        <p:txBody>
          <a:bodyPr wrap="square" rtlCol="0" anchor="t">
            <a:spAutoFit/>
          </a:bodyPr>
          <a:p>
            <a:r>
              <a:rPr lang="en-US" sz="2000" b="1">
                <a:solidFill>
                  <a:srgbClr val="0070C0"/>
                </a:solidFill>
                <a:latin typeface="Century Gothic" panose="020B0502020202020204" charset="0"/>
                <a:cs typeface="Century Gothic" panose="020B0502020202020204" charset="0"/>
              </a:rPr>
              <a:t>Copyright © Neudata, 2026</a:t>
            </a:r>
            <a:endParaRPr lang="en-US" sz="2000" b="1">
              <a:solidFill>
                <a:srgbClr val="0070C0"/>
              </a:solidFill>
              <a:latin typeface="Century Gothic" panose="020B0502020202020204" charset="0"/>
              <a:cs typeface="Century Gothic" panose="020B0502020202020204" charset="0"/>
            </a:endParaRPr>
          </a:p>
        </p:txBody>
      </p:sp>
      <p:sp>
        <p:nvSpPr>
          <p:cNvPr id="8" name="Copyright notice"/>
          <p:cNvSpPr txBox="1"/>
          <p:nvPr/>
        </p:nvSpPr>
        <p:spPr>
          <a:xfrm>
            <a:off x="1905000" y="3403600"/>
            <a:ext cx="8890000" cy="1783715"/>
          </a:xfrm>
          <a:prstGeom prst="rect">
            <a:avLst/>
          </a:prstGeom>
          <a:noFill/>
        </p:spPr>
        <p:txBody>
          <a:bodyPr wrap="square" rtlCol="0" anchor="t">
            <a:spAutoFit/>
          </a:bodyPr>
          <a:p>
            <a:r>
              <a:rPr lang="en-US" sz="1100">
                <a:solidFill>
                  <a:srgbClr val="1A1A1A"/>
                </a:solidFill>
                <a:latin typeface="Consolas" panose="020B0609020204030204" charset="0"/>
                <a:cs typeface="Consolas" panose="020B0609020204030204" charset="0"/>
              </a:rPr>
              <a:t>All property rights and copyright are reserved.</a:t>
            </a:r>
            <a:endParaRPr lang="en-US" sz="1100">
              <a:solidFill>
                <a:srgbClr val="1A1A1A"/>
              </a:solidFill>
              <a:latin typeface="Consolas" panose="020B0609020204030204" charset="0"/>
              <a:cs typeface="Consolas" panose="020B0609020204030204" charset="0"/>
            </a:endParaRPr>
          </a:p>
          <a:p>
            <a:endParaRPr lang="en-US" sz="1100">
              <a:solidFill>
                <a:srgbClr val="1A1A1A"/>
              </a:solidFill>
              <a:latin typeface="Consolas" panose="020B0609020204030204" charset="0"/>
              <a:cs typeface="Consolas" panose="020B0609020204030204" charset="0"/>
            </a:endParaRPr>
          </a:p>
          <a:p>
            <a:r>
              <a:rPr lang="en-US" sz="1100">
                <a:solidFill>
                  <a:srgbClr val="1A1A1A"/>
                </a:solidFill>
                <a:latin typeface="Consolas" panose="020B0609020204030204" charset="0"/>
                <a:cs typeface="Consolas" panose="020B0609020204030204" charset="0"/>
              </a:rPr>
              <a:t>This presentation contains proprietary data, information, and materials developed by Neudata for dedicated use only and may not be communicated, copied, reproduced, distributed, published, or cited, in whole or in part, without the prior written consent of Neudata. Where explicit written permission has been granted, appropriate attribution must be included, followed by “by courtesy of Neudata”.</a:t>
            </a:r>
            <a:endParaRPr lang="en-US" sz="1100">
              <a:solidFill>
                <a:srgbClr val="1A1A1A"/>
              </a:solidFill>
              <a:latin typeface="Consolas" panose="020B0609020204030204" charset="0"/>
              <a:cs typeface="Consolas" panose="020B0609020204030204" charset="0"/>
            </a:endParaRPr>
          </a:p>
          <a:p>
            <a:endParaRPr lang="en-US" sz="1100">
              <a:solidFill>
                <a:srgbClr val="1A1A1A"/>
              </a:solidFill>
              <a:latin typeface="Consolas" panose="020B0609020204030204" charset="0"/>
              <a:cs typeface="Consolas" panose="020B0609020204030204" charset="0"/>
            </a:endParaRPr>
          </a:p>
          <a:p>
            <a:r>
              <a:rPr lang="en-US" sz="1100">
                <a:solidFill>
                  <a:srgbClr val="1A1A1A"/>
                </a:solidFill>
                <a:latin typeface="Consolas" panose="020B0609020204030204" charset="0"/>
                <a:cs typeface="Consolas" panose="020B0609020204030204" charset="0"/>
              </a:rPr>
              <a:t>Any unauthorized use or infringement of these materials may give rise to legal action and claims for damages, without prejudice to any other rights of Neudata, including rights relating to patents, trademarks, or other forms of intellectual property protection.</a:t>
            </a:r>
            <a:endParaRPr lang="en-US" sz="1100">
              <a:solidFill>
                <a:srgbClr val="1A1A1A"/>
              </a:solidFill>
              <a:latin typeface="Consolas" panose="020B0609020204030204" charset="0"/>
              <a:cs typeface="Consolas" panose="020B0609020204030204" charset="0"/>
            </a:endParaRPr>
          </a:p>
        </p:txBody>
      </p:sp>
      <p:sp>
        <p:nvSpPr>
          <p:cNvPr id="9"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ags" Target="../tags/tag17.xml"/><Relationship Id="rId10" Type="http://schemas.openxmlformats.org/officeDocument/2006/relationships/tags" Target="../tags/tag18.xml"/><Relationship Id="rId11" Type="http://schemas.openxmlformats.org/officeDocument/2006/relationships/tags" Target="../tags/tag19.xml"/><Relationship Id="rId12" Type="http://schemas.openxmlformats.org/officeDocument/2006/relationships/tags" Target="../tags/tag20.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custDataLst>
              <p:tags r:id="rId9"/>
            </p:custDataLst>
          </p:nvPr>
        </p:nvSpPr>
        <p:spPr>
          <a:xfrm>
            <a:off x="381000" y="228600"/>
            <a:ext cx="11430000" cy="736600"/>
          </a:xfrm>
          <a:prstGeom prst="rect">
            <a:avLst/>
          </a:prstGeom>
        </p:spPr>
        <p:txBody>
          <a:bodyPr vert="horz" lIns="90170" tIns="46990" rIns="90170" bIns="46990" rtlCol="0" anchor="b"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0"/>
            </p:custDataLst>
          </p:nvPr>
        </p:nvSpPr>
        <p:spPr>
          <a:xfrm>
            <a:off x="431800" y="1270000"/>
            <a:ext cx="11328400" cy="46990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Slide Number Placeholder 5"/>
          <p:cNvSpPr>
            <a:spLocks noGrp="1"/>
          </p:cNvSpPr>
          <p:nvPr>
            <p:ph type="sldNum" sz="quarter" idx="4"/>
            <p:custDataLst>
              <p:tags r:id="rId11"/>
            </p:custDataLst>
          </p:nvPr>
        </p:nvSpPr>
        <p:spPr>
          <a:xfrm>
            <a:off x="10922000" y="6413500"/>
            <a:ext cx="952500" cy="304800"/>
          </a:xfrm>
          <a:prstGeom prst="rect">
            <a:avLst/>
          </a:prstGeom>
        </p:spPr>
        <p:txBody>
          <a:bodyPr vert="horz" lIns="91440" tIns="45720" rIns="91440" bIns="45720" rtlCol="0" anchor="ctr">
            <a:normAutofit/>
          </a:bodyPr>
          <a:lstStyle>
            <a:lvl1pPr algn="r">
              <a:defRPr sz="1000" baseline="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dirty="0"/>
          </a:p>
        </p:txBody>
      </p:sp>
    </p:spTree>
    <p:custDataLst>
      <p:tags r:id="rId12"/>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3000" b="1" u="none" strike="noStrike" kern="1200" cap="none" normalizeH="0" baseline="0">
          <a:solidFill>
            <a:srgbClr val="0D7377"/>
          </a:solidFill>
          <a:uFillTx/>
          <a:latin typeface="Century Gothic" panose="020B0502020202020204" charset="0"/>
          <a:ea typeface="+mj-ea"/>
          <a:cs typeface="Century Gothic" panose="020B0502020202020204" charset="0"/>
        </a:defRPr>
      </a:lvl1pPr>
    </p:titleStyle>
    <p:bodyStyle>
      <a:lvl1pPr marL="228600" indent="-228600" algn="l" defTabSz="914400" rtl="0" eaLnBrk="1" fontAlgn="auto" latinLnBrk="0" hangingPunct="1">
        <a:lnSpc>
          <a:spcPct val="130000"/>
        </a:lnSpc>
        <a:spcBef>
          <a:spcPts val="0"/>
        </a:spcBef>
        <a:spcAft>
          <a:spcPts val="1000"/>
        </a:spcAft>
        <a:buClr>
          <a:srgbClr val="0D7377"/>
        </a:buClr>
        <a:buFont typeface="Arial" panose="020B0604020202020204" pitchFamily="34" charset="0"/>
        <a:buChar char="●"/>
        <a:defRPr sz="2000" u="none" strike="noStrike" kern="1200" cap="none" normalizeH="0" baseline="0">
          <a:solidFill>
            <a:srgbClr val="1A1A1A"/>
          </a:solidFill>
          <a:uFillTx/>
          <a:latin typeface="Century Gothic" panose="020B0502020202020204" charset="0"/>
          <a:ea typeface="+mn-ea"/>
          <a:cs typeface="Century Gothic" panose="020B0502020202020204" charset="0"/>
        </a:defRPr>
      </a:lvl1pPr>
      <a:lvl2pPr marL="685800" indent="-228600" algn="l" defTabSz="914400" rtl="0" eaLnBrk="1" fontAlgn="auto" latinLnBrk="0" hangingPunct="1">
        <a:lnSpc>
          <a:spcPct val="120000"/>
        </a:lnSpc>
        <a:spcBef>
          <a:spcPts val="0"/>
        </a:spcBef>
        <a:spcAft>
          <a:spcPts val="600"/>
        </a:spcAft>
        <a:buClr>
          <a:srgbClr val="0D7377"/>
        </a:buClr>
        <a:buFont typeface="Arial" panose="020B0604020202020204" pitchFamily="34" charset="0"/>
        <a:buChar char="●"/>
        <a:tabLst>
          <a:tab pos="1609725" algn="l"/>
          <a:tab pos="1609725" algn="l"/>
          <a:tab pos="1609725" algn="l"/>
          <a:tab pos="1609725" algn="l"/>
        </a:tabLst>
        <a:defRPr sz="2000" u="none" strike="noStrike" kern="1200" cap="none" normalizeH="0" baseline="0">
          <a:solidFill>
            <a:srgbClr val="1A1A1A"/>
          </a:solidFill>
          <a:uFillTx/>
          <a:latin typeface="Century Gothic" panose="020B0502020202020204" charset="0"/>
          <a:ea typeface="+mn-ea"/>
          <a:cs typeface="Century Gothic" panose="020B0502020202020204" charset="0"/>
        </a:defRPr>
      </a:lvl2pPr>
      <a:lvl3pPr marL="1143000" indent="-228600" algn="l" defTabSz="914400" rtl="0" eaLnBrk="1" fontAlgn="auto" latinLnBrk="0" hangingPunct="1">
        <a:lnSpc>
          <a:spcPct val="120000"/>
        </a:lnSpc>
        <a:spcBef>
          <a:spcPts val="0"/>
        </a:spcBef>
        <a:spcAft>
          <a:spcPts val="600"/>
        </a:spcAft>
        <a:buClr>
          <a:srgbClr val="0D7377"/>
        </a:buClr>
        <a:buFont typeface="Arial" panose="020B0604020202020204" pitchFamily="34" charset="0"/>
        <a:buChar char="●"/>
        <a:defRPr sz="2000" u="none" strike="noStrike" kern="1200" cap="none" normalizeH="0" baseline="0">
          <a:solidFill>
            <a:srgbClr val="1A1A1A"/>
          </a:solidFill>
          <a:uFillTx/>
          <a:latin typeface="Century Gothic" panose="020B0502020202020204" charset="0"/>
          <a:ea typeface="+mn-ea"/>
          <a:cs typeface="Century Gothic" panose="020B0502020202020204" charset="0"/>
        </a:defRPr>
      </a:lvl3pPr>
      <a:lvl4pPr marL="1600200" indent="-228600" algn="l" defTabSz="914400" rtl="0" eaLnBrk="1" fontAlgn="auto" latinLnBrk="0" hangingPunct="1">
        <a:lnSpc>
          <a:spcPct val="120000"/>
        </a:lnSpc>
        <a:spcBef>
          <a:spcPts val="0"/>
        </a:spcBef>
        <a:spcAft>
          <a:spcPts val="300"/>
        </a:spcAft>
        <a:buClr>
          <a:srgbClr val="0D7377"/>
        </a:buClr>
        <a:buFont typeface="Wingdings" panose="05000000000000000000" charset="0"/>
        <a:buChar char=""/>
        <a:defRPr sz="2000" u="none" strike="noStrike" kern="1200" cap="none" normalizeH="0" baseline="0">
          <a:solidFill>
            <a:srgbClr val="1A1A1A"/>
          </a:solidFill>
          <a:uFillTx/>
          <a:latin typeface="Century Gothic" panose="020B0502020202020204" charset="0"/>
          <a:ea typeface="+mn-ea"/>
          <a:cs typeface="Century Gothic" panose="020B0502020202020204" charset="0"/>
        </a:defRPr>
      </a:lvl4pPr>
      <a:lvl5pPr marL="2057400" indent="-228600" algn="l" defTabSz="914400" rtl="0" eaLnBrk="1" fontAlgn="auto" latinLnBrk="0" hangingPunct="1">
        <a:lnSpc>
          <a:spcPct val="120000"/>
        </a:lnSpc>
        <a:spcBef>
          <a:spcPts val="0"/>
        </a:spcBef>
        <a:spcAft>
          <a:spcPts val="300"/>
        </a:spcAft>
        <a:buClr>
          <a:srgbClr val="0D7377"/>
        </a:buClr>
        <a:buFont typeface="Arial" panose="020B0604020202020204" pitchFamily="34" charset="0"/>
        <a:buChar char="•"/>
        <a:defRPr sz="2000" u="none" strike="noStrike" kern="1200" cap="none" normalizeH="0" baseline="0">
          <a:solidFill>
            <a:srgbClr val="1A1A1A"/>
          </a:solidFill>
          <a:uFillTx/>
          <a:latin typeface="Century Gothic" panose="020B0502020202020204" charset="0"/>
          <a:ea typeface="+mn-ea"/>
          <a:cs typeface="Century Gothic" panose="020B050202020202020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1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Concepts of Biostatistics and Data Science</a:t>
            </a:r>
          </a:p>
        </p:txBody>
      </p:sp>
      <p:sp>
        <p:nvSpPr>
          <p:cNvPr id="3" name="Subtitle 2"/>
          <p:cNvSpPr>
            <a:spLocks noGrp="1"/>
          </p:cNvSpPr>
          <p:nvPr>
            <p:ph type="subTitle" idx="1"/>
          </p:nvPr>
        </p:nvSpPr>
        <p:spPr/>
        <p:txBody>
          <a:bodyPr/>
          <a:lstStyle/>
          <a:p>
            <a:r>
              <a:t>A two-day crash course with practical analysis in R</a:t>
            </a:r>
          </a:p>
          <a:p>
            <a:r>
              <a:t>Day 2: Regression and an introduction to data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 for today</a:t>
            </a:r>
          </a:p>
        </p:txBody>
      </p:sp>
      <p:sp>
        <p:nvSpPr>
          <p:cNvPr id="3" name="Slide Number Placeholder 2"/>
          <p:cNvSpPr>
            <a:spLocks noGrp="1"/>
          </p:cNvSpPr>
          <p:nvPr>
            <p:ph type="sldNum" idx="12" sz="quarter"/>
          </p:nvPr>
        </p:nvSpPr>
        <p:spPr/>
        <p:txBody>
          <a:bodyPr/>
          <a:lstStyle/>
          <a:p>
            <a:fld id="{B6F15528-21DE-4FAA-801E-634DDDAF4B2B}" type="slidenum">
              <a:rPr lang="en-GB"/>
              <a:t>2</a:t>
            </a:fld>
          </a:p>
        </p:txBody>
      </p:sp>
      <p:graphicFrame>
        <p:nvGraphicFramePr>
          <p:cNvPr id="4" name="Table 3"/>
          <p:cNvGraphicFramePr>
            <a:graphicFrameLocks noGrp="1"/>
          </p:cNvGraphicFramePr>
          <p:nvPr/>
        </p:nvGraphicFramePr>
        <p:xfrm>
          <a:off x="429768" y="1435608"/>
          <a:ext cx="11332157" cy="4572000"/>
        </p:xfrm>
        <a:graphic>
          <a:graphicData uri="http://schemas.openxmlformats.org/drawingml/2006/table">
            <a:tbl>
              <a:tblPr firstRow="1" bandRow="1">
                <a:tableStyleId>{5C22544A-7EE6-4342-B048-85BDC9FD1C3A}</a:tableStyleId>
              </a:tblPr>
              <a:tblGrid>
                <a:gridCol w="2493074"/>
                <a:gridCol w="2039788"/>
                <a:gridCol w="6799295"/>
              </a:tblGrid>
              <a:tr h="457200">
                <a:tc>
                  <a:txBody>
                    <a:bodyPr/>
                    <a:lstStyle/>
                    <a:p>
                      <a:r>
                        <a:rPr sz="1900" b="1" i="0">
                          <a:solidFill>
                            <a:srgbClr val="FFFFFF"/>
                          </a:solidFill>
                        </a:rPr>
                        <a:t>Time</a:t>
                      </a:r>
                    </a:p>
                  </a:txBody>
                  <a:tcPr marL="73152" marR="73152" marT="36576" marB="36576">
                    <a:solidFill>
                      <a:srgbClr val="04242F"/>
                    </a:solidFill>
                  </a:tcPr>
                </a:tc>
                <a:tc>
                  <a:txBody>
                    <a:bodyPr/>
                    <a:lstStyle/>
                    <a:p>
                      <a:r>
                        <a:rPr sz="1900" b="1" i="0">
                          <a:solidFill>
                            <a:srgbClr val="FFFFFF"/>
                          </a:solidFill>
                        </a:rPr>
                        <a:t>Session</a:t>
                      </a:r>
                    </a:p>
                  </a:txBody>
                  <a:tcPr marL="73152" marR="73152" marT="36576" marB="36576">
                    <a:solidFill>
                      <a:srgbClr val="04242F"/>
                    </a:solidFill>
                  </a:tcPr>
                </a:tc>
                <a:tc>
                  <a:txBody>
                    <a:bodyPr/>
                    <a:lstStyle/>
                    <a:p>
                      <a:r>
                        <a:rPr sz="1900" b="1" i="0">
                          <a:solidFill>
                            <a:srgbClr val="FFFFFF"/>
                          </a:solidFill>
                        </a:rPr>
                        <a:t>Focus</a:t>
                      </a:r>
                    </a:p>
                  </a:txBody>
                  <a:tcPr marL="73152" marR="73152" marT="36576" marB="36576">
                    <a:solidFill>
                      <a:srgbClr val="04242F"/>
                    </a:solidFill>
                  </a:tcPr>
                </a:tc>
              </a:tr>
              <a:tr h="457200">
                <a:tc>
                  <a:txBody>
                    <a:bodyPr/>
                    <a:lstStyle/>
                    <a:p>
                      <a:r>
                        <a:rPr sz="1900" b="0" i="0">
                          <a:solidFill>
                            <a:srgbClr val="1F2D33"/>
                          </a:solidFill>
                        </a:rPr>
                        <a:t>09:00 to 09:10</a:t>
                      </a:r>
                    </a:p>
                  </a:txBody>
                  <a:tcPr marL="73152" marR="73152" marT="36576" marB="36576">
                    <a:solidFill>
                      <a:srgbClr val="FFFFFF"/>
                    </a:solidFill>
                  </a:tcPr>
                </a:tc>
                <a:tc>
                  <a:txBody>
                    <a:bodyPr/>
                    <a:lstStyle/>
                    <a:p>
                      <a:r>
                        <a:rPr sz="1900" b="0" i="0">
                          <a:solidFill>
                            <a:srgbClr val="1F2D33"/>
                          </a:solidFill>
                        </a:rPr>
                        <a:t>Theory 1</a:t>
                      </a:r>
                    </a:p>
                  </a:txBody>
                  <a:tcPr marL="73152" marR="73152" marT="36576" marB="36576">
                    <a:solidFill>
                      <a:srgbClr val="FFFFFF"/>
                    </a:solidFill>
                  </a:tcPr>
                </a:tc>
                <a:tc>
                  <a:txBody>
                    <a:bodyPr/>
                    <a:lstStyle/>
                    <a:p>
                      <a:r>
                        <a:rPr sz="1900" b="0" i="0">
                          <a:solidFill>
                            <a:srgbClr val="1F2D33"/>
                          </a:solidFill>
                        </a:rPr>
                        <a:t>Recap; four purposes of analysis</a:t>
                      </a:r>
                    </a:p>
                  </a:txBody>
                  <a:tcPr marL="73152" marR="73152" marT="36576" marB="36576">
                    <a:solidFill>
                      <a:srgbClr val="FFFFFF"/>
                    </a:solidFill>
                  </a:tcPr>
                </a:tc>
              </a:tr>
              <a:tr h="457200">
                <a:tc>
                  <a:txBody>
                    <a:bodyPr/>
                    <a:lstStyle/>
                    <a:p>
                      <a:r>
                        <a:rPr sz="1900" b="0" i="0">
                          <a:solidFill>
                            <a:srgbClr val="1F2D33"/>
                          </a:solidFill>
                        </a:rPr>
                        <a:t>09:10 to 09:25</a:t>
                      </a:r>
                    </a:p>
                  </a:txBody>
                  <a:tcPr marL="73152" marR="73152" marT="36576" marB="36576">
                    <a:solidFill>
                      <a:srgbClr val="EAF2F5"/>
                    </a:solidFill>
                  </a:tcPr>
                </a:tc>
                <a:tc>
                  <a:txBody>
                    <a:bodyPr/>
                    <a:lstStyle/>
                    <a:p>
                      <a:r>
                        <a:rPr sz="1900" b="0" i="0">
                          <a:solidFill>
                            <a:srgbClr val="1F2D33"/>
                          </a:solidFill>
                        </a:rPr>
                        <a:t>Theory 2</a:t>
                      </a:r>
                    </a:p>
                  </a:txBody>
                  <a:tcPr marL="73152" marR="73152" marT="36576" marB="36576">
                    <a:solidFill>
                      <a:srgbClr val="EAF2F5"/>
                    </a:solidFill>
                  </a:tcPr>
                </a:tc>
                <a:tc>
                  <a:txBody>
                    <a:bodyPr/>
                    <a:lstStyle/>
                    <a:p>
                      <a:r>
                        <a:rPr sz="1900" b="0" i="0">
                          <a:solidFill>
                            <a:srgbClr val="1F2D33"/>
                          </a:solidFill>
                        </a:rPr>
                        <a:t>Scatterplots, correlation, association and causation</a:t>
                      </a:r>
                    </a:p>
                  </a:txBody>
                  <a:tcPr marL="73152" marR="73152" marT="36576" marB="36576">
                    <a:solidFill>
                      <a:srgbClr val="EAF2F5"/>
                    </a:solidFill>
                  </a:tcPr>
                </a:tc>
              </a:tr>
              <a:tr h="457200">
                <a:tc>
                  <a:txBody>
                    <a:bodyPr/>
                    <a:lstStyle/>
                    <a:p>
                      <a:r>
                        <a:rPr sz="1900" b="0" i="0">
                          <a:solidFill>
                            <a:srgbClr val="1F2D33"/>
                          </a:solidFill>
                        </a:rPr>
                        <a:t>09:25 to 09:45</a:t>
                      </a:r>
                    </a:p>
                  </a:txBody>
                  <a:tcPr marL="73152" marR="73152" marT="36576" marB="36576">
                    <a:solidFill>
                      <a:srgbClr val="FFFFFF"/>
                    </a:solidFill>
                  </a:tcPr>
                </a:tc>
                <a:tc>
                  <a:txBody>
                    <a:bodyPr/>
                    <a:lstStyle/>
                    <a:p>
                      <a:r>
                        <a:rPr sz="1900" b="0" i="0">
                          <a:solidFill>
                            <a:srgbClr val="1F2D33"/>
                          </a:solidFill>
                        </a:rPr>
                        <a:t>Theory 3</a:t>
                      </a:r>
                    </a:p>
                  </a:txBody>
                  <a:tcPr marL="73152" marR="73152" marT="36576" marB="36576">
                    <a:solidFill>
                      <a:srgbClr val="FFFFFF"/>
                    </a:solidFill>
                  </a:tcPr>
                </a:tc>
                <a:tc>
                  <a:txBody>
                    <a:bodyPr/>
                    <a:lstStyle/>
                    <a:p>
                      <a:r>
                        <a:rPr sz="1900" b="0" i="0">
                          <a:solidFill>
                            <a:srgbClr val="1F2D33"/>
                          </a:solidFill>
                        </a:rPr>
                        <a:t>Simple linear regression</a:t>
                      </a:r>
                    </a:p>
                  </a:txBody>
                  <a:tcPr marL="73152" marR="73152" marT="36576" marB="36576">
                    <a:solidFill>
                      <a:srgbClr val="FFFFFF"/>
                    </a:solidFill>
                  </a:tcPr>
                </a:tc>
              </a:tr>
              <a:tr h="457200">
                <a:tc>
                  <a:txBody>
                    <a:bodyPr/>
                    <a:lstStyle/>
                    <a:p>
                      <a:r>
                        <a:rPr sz="1900" b="0" i="0">
                          <a:solidFill>
                            <a:srgbClr val="1F2D33"/>
                          </a:solidFill>
                        </a:rPr>
                        <a:t>09:45 to 10:10</a:t>
                      </a:r>
                    </a:p>
                  </a:txBody>
                  <a:tcPr marL="73152" marR="73152" marT="36576" marB="36576">
                    <a:solidFill>
                      <a:srgbClr val="EAF2F5"/>
                    </a:solidFill>
                  </a:tcPr>
                </a:tc>
                <a:tc>
                  <a:txBody>
                    <a:bodyPr/>
                    <a:lstStyle/>
                    <a:p>
                      <a:r>
                        <a:rPr sz="1900" b="0" i="0">
                          <a:solidFill>
                            <a:srgbClr val="1F2D33"/>
                          </a:solidFill>
                        </a:rPr>
                        <a:t>Theory 4</a:t>
                      </a:r>
                    </a:p>
                  </a:txBody>
                  <a:tcPr marL="73152" marR="73152" marT="36576" marB="36576">
                    <a:solidFill>
                      <a:srgbClr val="EAF2F5"/>
                    </a:solidFill>
                  </a:tcPr>
                </a:tc>
                <a:tc>
                  <a:txBody>
                    <a:bodyPr/>
                    <a:lstStyle/>
                    <a:p>
                      <a:r>
                        <a:rPr sz="1900" b="0" i="0">
                          <a:solidFill>
                            <a:srgbClr val="1F2D33"/>
                          </a:solidFill>
                        </a:rPr>
                        <a:t>Multiple regression, confounding and mediators</a:t>
                      </a:r>
                    </a:p>
                  </a:txBody>
                  <a:tcPr marL="73152" marR="73152" marT="36576" marB="36576">
                    <a:solidFill>
                      <a:srgbClr val="EAF2F5"/>
                    </a:solidFill>
                  </a:tcPr>
                </a:tc>
              </a:tr>
              <a:tr h="457200">
                <a:tc>
                  <a:txBody>
                    <a:bodyPr/>
                    <a:lstStyle/>
                    <a:p>
                      <a:r>
                        <a:rPr sz="1900" b="0" i="0">
                          <a:solidFill>
                            <a:srgbClr val="1F2D33"/>
                          </a:solidFill>
                        </a:rPr>
                        <a:t>10:10 to 10:20</a:t>
                      </a:r>
                    </a:p>
                  </a:txBody>
                  <a:tcPr marL="73152" marR="73152" marT="36576" marB="36576">
                    <a:solidFill>
                      <a:srgbClr val="FFFFFF"/>
                    </a:solidFill>
                  </a:tcPr>
                </a:tc>
                <a:tc>
                  <a:txBody>
                    <a:bodyPr/>
                    <a:lstStyle/>
                    <a:p>
                      <a:r>
                        <a:rPr sz="1900" b="0" i="0">
                          <a:solidFill>
                            <a:srgbClr val="1F2D33"/>
                          </a:solidFill>
                        </a:rPr>
                        <a:t>Theory 5</a:t>
                      </a:r>
                    </a:p>
                  </a:txBody>
                  <a:tcPr marL="73152" marR="73152" marT="36576" marB="36576">
                    <a:solidFill>
                      <a:srgbClr val="FFFFFF"/>
                    </a:solidFill>
                  </a:tcPr>
                </a:tc>
                <a:tc>
                  <a:txBody>
                    <a:bodyPr/>
                    <a:lstStyle/>
                    <a:p>
                      <a:r>
                        <a:rPr sz="1900" b="0" i="0">
                          <a:solidFill>
                            <a:srgbClr val="1F2D33"/>
                          </a:solidFill>
                        </a:rPr>
                        <a:t>Model checks and plots of fitted relationships</a:t>
                      </a:r>
                    </a:p>
                  </a:txBody>
                  <a:tcPr marL="73152" marR="73152" marT="36576" marB="36576">
                    <a:solidFill>
                      <a:srgbClr val="FFFFFF"/>
                    </a:solidFill>
                  </a:tcPr>
                </a:tc>
              </a:tr>
              <a:tr h="457200">
                <a:tc>
                  <a:txBody>
                    <a:bodyPr/>
                    <a:lstStyle/>
                    <a:p>
                      <a:r>
                        <a:rPr sz="1900" b="0" i="0">
                          <a:solidFill>
                            <a:srgbClr val="1F2D33"/>
                          </a:solidFill>
                        </a:rPr>
                        <a:t>10:20 to 10:40</a:t>
                      </a:r>
                    </a:p>
                  </a:txBody>
                  <a:tcPr marL="73152" marR="73152" marT="36576" marB="36576">
                    <a:solidFill>
                      <a:srgbClr val="EAF2F5"/>
                    </a:solidFill>
                  </a:tcPr>
                </a:tc>
                <a:tc>
                  <a:txBody>
                    <a:bodyPr/>
                    <a:lstStyle/>
                    <a:p>
                      <a:r>
                        <a:rPr sz="1900" b="0" i="0">
                          <a:solidFill>
                            <a:srgbClr val="1F2D33"/>
                          </a:solidFill>
                        </a:rPr>
                        <a:t>Theory 6</a:t>
                      </a:r>
                    </a:p>
                  </a:txBody>
                  <a:tcPr marL="73152" marR="73152" marT="36576" marB="36576">
                    <a:solidFill>
                      <a:srgbClr val="EAF2F5"/>
                    </a:solidFill>
                  </a:tcPr>
                </a:tc>
                <a:tc>
                  <a:txBody>
                    <a:bodyPr/>
                    <a:lstStyle/>
                    <a:p>
                      <a:r>
                        <a:rPr sz="1900" b="0" i="0">
                          <a:solidFill>
                            <a:srgbClr val="1F2D33"/>
                          </a:solidFill>
                        </a:rPr>
                        <a:t>Introduction to logistic and Poisson regression</a:t>
                      </a:r>
                    </a:p>
                  </a:txBody>
                  <a:tcPr marL="73152" marR="73152" marT="36576" marB="36576">
                    <a:solidFill>
                      <a:srgbClr val="EAF2F5"/>
                    </a:solidFill>
                  </a:tcPr>
                </a:tc>
              </a:tr>
              <a:tr h="457200">
                <a:tc>
                  <a:txBody>
                    <a:bodyPr/>
                    <a:lstStyle/>
                    <a:p>
                      <a:r>
                        <a:rPr sz="1900" b="0" i="0">
                          <a:solidFill>
                            <a:srgbClr val="1F2D33"/>
                          </a:solidFill>
                        </a:rPr>
                        <a:t>10:40 to 11:00</a:t>
                      </a:r>
                    </a:p>
                  </a:txBody>
                  <a:tcPr marL="73152" marR="73152" marT="36576" marB="36576">
                    <a:solidFill>
                      <a:srgbClr val="FFFFFF"/>
                    </a:solidFill>
                  </a:tcPr>
                </a:tc>
                <a:tc>
                  <a:txBody>
                    <a:bodyPr/>
                    <a:lstStyle/>
                    <a:p>
                      <a:r>
                        <a:rPr sz="1900" b="0" i="0">
                          <a:solidFill>
                            <a:srgbClr val="1F2D33"/>
                          </a:solidFill>
                        </a:rPr>
                        <a:t>Theory 7</a:t>
                      </a:r>
                    </a:p>
                  </a:txBody>
                  <a:tcPr marL="73152" marR="73152" marT="36576" marB="36576">
                    <a:solidFill>
                      <a:srgbClr val="FFFFFF"/>
                    </a:solidFill>
                  </a:tcPr>
                </a:tc>
                <a:tc>
                  <a:txBody>
                    <a:bodyPr/>
                    <a:lstStyle/>
                    <a:p>
                      <a:r>
                        <a:rPr sz="1900" b="0" i="0">
                          <a:solidFill>
                            <a:srgbClr val="1F2D33"/>
                          </a:solidFill>
                        </a:rPr>
                        <a:t>Prediction, train/test, and clustering</a:t>
                      </a:r>
                    </a:p>
                  </a:txBody>
                  <a:tcPr marL="73152" marR="73152" marT="36576" marB="36576">
                    <a:solidFill>
                      <a:srgbClr val="FFFFFF"/>
                    </a:solidFill>
                  </a:tcPr>
                </a:tc>
              </a:tr>
              <a:tr h="457200">
                <a:tc>
                  <a:txBody>
                    <a:bodyPr/>
                    <a:lstStyle/>
                    <a:p>
                      <a:r>
                        <a:rPr sz="1900" b="0" i="0">
                          <a:solidFill>
                            <a:srgbClr val="1F2D33"/>
                          </a:solidFill>
                        </a:rPr>
                        <a:t>11:00 to 11:30</a:t>
                      </a:r>
                    </a:p>
                  </a:txBody>
                  <a:tcPr marL="73152" marR="73152" marT="36576" marB="36576">
                    <a:solidFill>
                      <a:srgbClr val="EAF2F5"/>
                    </a:solidFill>
                  </a:tcPr>
                </a:tc>
                <a:tc>
                  <a:txBody>
                    <a:bodyPr/>
                    <a:lstStyle/>
                    <a:p>
                      <a:r>
                        <a:rPr sz="1900" b="0" i="0">
                          <a:solidFill>
                            <a:srgbClr val="1F2D33"/>
                          </a:solidFill>
                        </a:rPr>
                        <a:t>Break</a:t>
                      </a:r>
                    </a:p>
                  </a:txBody>
                  <a:tcPr marL="73152" marR="73152" marT="36576" marB="36576">
                    <a:solidFill>
                      <a:srgbClr val="EAF2F5"/>
                    </a:solidFill>
                  </a:tcPr>
                </a:tc>
                <a:tc>
                  <a:txBody>
                    <a:bodyPr/>
                    <a:lstStyle/>
                    <a:p>
                      <a:r>
                        <a:rPr sz="1900" b="0" i="0">
                          <a:solidFill>
                            <a:srgbClr val="1F2D33"/>
                          </a:solidFill>
                        </a:rPr>
                        <a:t>(not counted in teaching time)</a:t>
                      </a:r>
                    </a:p>
                  </a:txBody>
                  <a:tcPr marL="73152" marR="73152" marT="36576" marB="36576">
                    <a:solidFill>
                      <a:srgbClr val="EAF2F5"/>
                    </a:solidFill>
                  </a:tcPr>
                </a:tc>
              </a:tr>
              <a:tr h="457200">
                <a:tc>
                  <a:txBody>
                    <a:bodyPr/>
                    <a:lstStyle/>
                    <a:p>
                      <a:r>
                        <a:rPr sz="1900" b="0" i="0">
                          <a:solidFill>
                            <a:srgbClr val="1F2D33"/>
                          </a:solidFill>
                        </a:rPr>
                        <a:t>11:30 to 13:30</a:t>
                      </a:r>
                    </a:p>
                  </a:txBody>
                  <a:tcPr marL="73152" marR="73152" marT="36576" marB="36576">
                    <a:solidFill>
                      <a:srgbClr val="FFFFFF"/>
                    </a:solidFill>
                  </a:tcPr>
                </a:tc>
                <a:tc>
                  <a:txBody>
                    <a:bodyPr/>
                    <a:lstStyle/>
                    <a:p>
                      <a:r>
                        <a:rPr sz="1900" b="0" i="0">
                          <a:solidFill>
                            <a:srgbClr val="1F2D33"/>
                          </a:solidFill>
                        </a:rPr>
                        <a:t>Practical</a:t>
                      </a:r>
                    </a:p>
                  </a:txBody>
                  <a:tcPr marL="73152" marR="73152" marT="36576" marB="36576">
                    <a:solidFill>
                      <a:srgbClr val="FFFFFF"/>
                    </a:solidFill>
                  </a:tcPr>
                </a:tc>
                <a:tc>
                  <a:txBody>
                    <a:bodyPr/>
                    <a:lstStyle/>
                    <a:p>
                      <a:r>
                        <a:rPr sz="1900" b="0" i="0">
                          <a:solidFill>
                            <a:srgbClr val="1F2D33"/>
                          </a:solidFill>
                        </a:rPr>
                        <a:t>Regression in R, guided demos, final exercise</a:t>
                      </a:r>
                    </a:p>
                  </a:txBody>
                  <a:tcPr marL="73152" marR="73152" marT="36576" marB="36576">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By the end of today you will be able to</a:t>
            </a:r>
          </a:p>
        </p:txBody>
      </p:sp>
      <p:sp>
        <p:nvSpPr>
          <p:cNvPr id="3" name="Slide Number Placeholder 2"/>
          <p:cNvSpPr>
            <a:spLocks noGrp="1"/>
          </p:cNvSpPr>
          <p:nvPr>
            <p:ph type="sldNum" idx="12" sz="quarter"/>
          </p:nvPr>
        </p:nvSpPr>
        <p:spPr/>
        <p:txBody>
          <a:bodyPr/>
          <a:lstStyle/>
          <a:p>
            <a:fld id="{B6F15528-21DE-4FAA-801E-634DDDAF4B2B}" type="slidenum">
              <a:rPr lang="en-GB"/>
              <a:t>3</a:t>
            </a:fld>
          </a:p>
        </p:txBody>
      </p:sp>
      <p:sp>
        <p:nvSpPr>
          <p:cNvPr id="4" name="TextBox 3"/>
          <p:cNvSpPr txBox="1"/>
          <p:nvPr/>
        </p:nvSpPr>
        <p:spPr>
          <a:xfrm>
            <a:off x="429768" y="1389888"/>
            <a:ext cx="11332159" cy="475488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Explain the difference between describing, estimating associations, predicting and discovering groups</a:t>
            </a:r>
          </a:p>
          <a:p>
            <a:pPr>
              <a:spcAft>
                <a:spcPts val="1000"/>
              </a:spcAft>
            </a:pPr>
            <a:r>
              <a:rPr sz="1600" b="0" i="0">
                <a:solidFill>
                  <a:srgbClr val="0D7377"/>
                </a:solidFill>
              </a:rPr>
              <a:t>●  </a:t>
            </a:r>
            <a:r>
              <a:rPr sz="2200" b="0" i="0">
                <a:solidFill>
                  <a:srgbClr val="1F2D33"/>
                </a:solidFill>
              </a:rPr>
              <a:t>Use a scatterplot and correlation to describe a relationship, and explain why association is not causation</a:t>
            </a:r>
          </a:p>
          <a:p>
            <a:pPr>
              <a:spcAft>
                <a:spcPts val="1000"/>
              </a:spcAft>
            </a:pPr>
            <a:r>
              <a:rPr sz="1600" b="0" i="0">
                <a:solidFill>
                  <a:srgbClr val="0D7377"/>
                </a:solidFill>
              </a:rPr>
              <a:t>●  </a:t>
            </a:r>
            <a:r>
              <a:rPr sz="2200" b="0" i="0">
                <a:solidFill>
                  <a:srgbClr val="1F2D33"/>
                </a:solidFill>
              </a:rPr>
              <a:t>Fit and interpret simple and multiple linear regression models in R</a:t>
            </a:r>
          </a:p>
          <a:p>
            <a:pPr>
              <a:spcAft>
                <a:spcPts val="1000"/>
              </a:spcAft>
            </a:pPr>
            <a:r>
              <a:rPr sz="1600" b="0" i="0">
                <a:solidFill>
                  <a:srgbClr val="0D7377"/>
                </a:solidFill>
              </a:rPr>
              <a:t>●  </a:t>
            </a:r>
            <a:r>
              <a:rPr sz="2200" b="0" i="0">
                <a:solidFill>
                  <a:srgbClr val="1F2D33"/>
                </a:solidFill>
              </a:rPr>
              <a:t>Explain confounding and mediation, and interpret an adjusted association</a:t>
            </a:r>
          </a:p>
          <a:p>
            <a:pPr>
              <a:spcAft>
                <a:spcPts val="1000"/>
              </a:spcAft>
            </a:pPr>
            <a:r>
              <a:rPr sz="1600" b="0" i="0">
                <a:solidFill>
                  <a:srgbClr val="0D7377"/>
                </a:solidFill>
              </a:rPr>
              <a:t>●  </a:t>
            </a:r>
            <a:r>
              <a:rPr sz="2200" b="0" i="0">
                <a:solidFill>
                  <a:srgbClr val="1F2D33"/>
                </a:solidFill>
              </a:rPr>
              <a:t>Check a linear regression model using residual plots, and plot fitted relationships</a:t>
            </a:r>
          </a:p>
          <a:p>
            <a:pPr>
              <a:spcAft>
                <a:spcPts val="1000"/>
              </a:spcAft>
            </a:pPr>
            <a:r>
              <a:rPr sz="1600" b="0" i="0">
                <a:solidFill>
                  <a:srgbClr val="0D7377"/>
                </a:solidFill>
              </a:rPr>
              <a:t>●  </a:t>
            </a:r>
            <a:r>
              <a:rPr sz="2200" b="0" i="0">
                <a:solidFill>
                  <a:srgbClr val="1F2D33"/>
                </a:solidFill>
              </a:rPr>
              <a:t>Read the output of a logistic and a Poisson regression (OR, aOR, IRR) at an introductory level</a:t>
            </a:r>
          </a:p>
          <a:p>
            <a:pPr>
              <a:spcAft>
                <a:spcPts val="1000"/>
              </a:spcAft>
            </a:pPr>
            <a:r>
              <a:rPr sz="1600" b="0" i="0">
                <a:solidFill>
                  <a:srgbClr val="0D7377"/>
                </a:solidFill>
              </a:rPr>
              <a:t>●  </a:t>
            </a:r>
            <a:r>
              <a:rPr sz="2200" b="0" i="0">
                <a:solidFill>
                  <a:srgbClr val="1F2D33"/>
                </a:solidFill>
              </a:rPr>
              <a:t>Describe what k-means clustering does, why scaling matters, and why clusters need checking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Recap of Day 1</a:t>
            </a:r>
          </a:p>
        </p:txBody>
      </p:sp>
      <p:sp>
        <p:nvSpPr>
          <p:cNvPr id="3" name="Slide Number Placeholder 2"/>
          <p:cNvSpPr>
            <a:spLocks noGrp="1"/>
          </p:cNvSpPr>
          <p:nvPr>
            <p:ph type="sldNum" idx="12" sz="quarter"/>
          </p:nvPr>
        </p:nvSpPr>
        <p:spPr/>
        <p:txBody>
          <a:bodyPr/>
          <a:lstStyle/>
          <a:p>
            <a:fld id="{B6F15528-21DE-4FAA-801E-634DDDAF4B2B}" type="slidenum">
              <a:rPr lang="en-GB"/>
              <a:t>4</a:t>
            </a:fld>
          </a:p>
        </p:txBody>
      </p:sp>
      <p:sp>
        <p:nvSpPr>
          <p:cNvPr id="4" name="TextBox 3"/>
          <p:cNvSpPr txBox="1"/>
          <p:nvPr/>
        </p:nvSpPr>
        <p:spPr>
          <a:xfrm>
            <a:off x="429768" y="1389888"/>
            <a:ext cx="11332159" cy="475488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Start from the question, the outcome type and the design (independent or paired)</a:t>
            </a:r>
          </a:p>
          <a:p>
            <a:pPr>
              <a:spcAft>
                <a:spcPts val="1000"/>
              </a:spcAft>
            </a:pPr>
            <a:r>
              <a:rPr sz="1600" b="0" i="0">
                <a:solidFill>
                  <a:srgbClr val="0D7377"/>
                </a:solidFill>
              </a:rPr>
              <a:t>●  </a:t>
            </a:r>
            <a:r>
              <a:rPr sz="2200" b="0" i="0">
                <a:solidFill>
                  <a:srgbClr val="1F2D33"/>
                </a:solidFill>
              </a:rPr>
              <a:t>Describe first: counts with denominators, mean (SD) or median (IQR), plots</a:t>
            </a:r>
          </a:p>
          <a:p>
            <a:pPr>
              <a:spcAft>
                <a:spcPts val="1000"/>
              </a:spcAft>
            </a:pPr>
            <a:r>
              <a:rPr sz="1600" b="0" i="0">
                <a:solidFill>
                  <a:srgbClr val="0D7377"/>
                </a:solidFill>
              </a:rPr>
              <a:t>●  </a:t>
            </a:r>
            <a:r>
              <a:rPr sz="2200" b="0" i="0">
                <a:solidFill>
                  <a:srgbClr val="1F2D33"/>
                </a:solidFill>
              </a:rPr>
              <a:t>Report an effect size with a 95% CI; a p-value alone is not enough</a:t>
            </a:r>
          </a:p>
          <a:p>
            <a:pPr>
              <a:spcAft>
                <a:spcPts val="1000"/>
              </a:spcAft>
            </a:pPr>
            <a:r>
              <a:rPr sz="1600" b="0" i="0">
                <a:solidFill>
                  <a:srgbClr val="0D7377"/>
                </a:solidFill>
              </a:rPr>
              <a:t>●  </a:t>
            </a:r>
            <a:r>
              <a:rPr sz="2200" b="0" i="0">
                <a:solidFill>
                  <a:srgbClr val="1F2D33"/>
                </a:solidFill>
              </a:rPr>
              <a:t>Welch's t-test and ANOVA by default; rank-based tests answer a different question</a:t>
            </a:r>
          </a:p>
          <a:p>
            <a:pPr>
              <a:spcAft>
                <a:spcPts val="1000"/>
              </a:spcAft>
            </a:pPr>
            <a:r>
              <a:rPr sz="1600" b="0" i="0">
                <a:solidFill>
                  <a:srgbClr val="0D7377"/>
                </a:solidFill>
              </a:rPr>
              <a:t>●  </a:t>
            </a:r>
            <a:r>
              <a:rPr sz="2200" b="0" i="0">
                <a:solidFill>
                  <a:srgbClr val="1F2D33"/>
                </a:solidFill>
              </a:rPr>
              <a:t>Proportions, risks and odds differ; the design decides which you can interpret</a:t>
            </a:r>
          </a:p>
          <a:p>
            <a:pPr>
              <a:spcAft>
                <a:spcPts val="1000"/>
              </a:spcAft>
            </a:pPr>
            <a:r>
              <a:rPr sz="1600" b="0" i="0">
                <a:solidFill>
                  <a:srgbClr val="0D7377"/>
                </a:solidFill>
              </a:rPr>
              <a:t>●  </a:t>
            </a:r>
            <a:r>
              <a:rPr sz="2200" b="0" i="0">
                <a:solidFill>
                  <a:srgbClr val="1F2D33"/>
                </a:solidFill>
              </a:rPr>
              <a:t>Crude associations can be confounded: smoking OR 3.4 fell to 2.6 after stratifying by 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purposes of analysis</a:t>
            </a:r>
          </a:p>
        </p:txBody>
      </p:sp>
      <p:sp>
        <p:nvSpPr>
          <p:cNvPr id="3" name="Slide Number Placeholder 2"/>
          <p:cNvSpPr>
            <a:spLocks noGrp="1"/>
          </p:cNvSpPr>
          <p:nvPr>
            <p:ph type="sldNum" idx="12" sz="quarter"/>
          </p:nvPr>
        </p:nvSpPr>
        <p:spPr/>
        <p:txBody>
          <a:bodyPr/>
          <a:lstStyle/>
          <a:p>
            <a:fld id="{B6F15528-21DE-4FAA-801E-634DDDAF4B2B}" type="slidenum">
              <a:rPr lang="en-GB"/>
              <a:t>5</a:t>
            </a:fld>
          </a:p>
        </p:txBody>
      </p:sp>
      <p:graphicFrame>
        <p:nvGraphicFramePr>
          <p:cNvPr id="4" name="Table 3"/>
          <p:cNvGraphicFramePr>
            <a:graphicFrameLocks noGrp="1"/>
          </p:cNvGraphicFramePr>
          <p:nvPr/>
        </p:nvGraphicFramePr>
        <p:xfrm>
          <a:off x="429768" y="1435608"/>
          <a:ext cx="11332158" cy="2971800"/>
        </p:xfrm>
        <a:graphic>
          <a:graphicData uri="http://schemas.openxmlformats.org/drawingml/2006/table">
            <a:tbl>
              <a:tblPr firstRow="1" bandRow="1">
                <a:tableStyleId>{5C22544A-7EE6-4342-B048-85BDC9FD1C3A}</a:tableStyleId>
              </a:tblPr>
              <a:tblGrid>
                <a:gridCol w="2171997"/>
                <a:gridCol w="4343994"/>
                <a:gridCol w="2644170"/>
                <a:gridCol w="2171997"/>
              </a:tblGrid>
              <a:tr h="594360">
                <a:tc>
                  <a:txBody>
                    <a:bodyPr/>
                    <a:lstStyle/>
                    <a:p>
                      <a:r>
                        <a:rPr sz="1800" b="1" i="0">
                          <a:solidFill>
                            <a:srgbClr val="FFFFFF"/>
                          </a:solidFill>
                        </a:rPr>
                        <a:t>Purpose</a:t>
                      </a:r>
                    </a:p>
                  </a:txBody>
                  <a:tcPr marL="73152" marR="73152" marT="36576" marB="36576">
                    <a:solidFill>
                      <a:srgbClr val="04242F"/>
                    </a:solidFill>
                  </a:tcPr>
                </a:tc>
                <a:tc>
                  <a:txBody>
                    <a:bodyPr/>
                    <a:lstStyle/>
                    <a:p>
                      <a:r>
                        <a:rPr sz="1800" b="1" i="0">
                          <a:solidFill>
                            <a:srgbClr val="FFFFFF"/>
                          </a:solidFill>
                        </a:rPr>
                        <a:t>Example question (our data)</a:t>
                      </a:r>
                    </a:p>
                  </a:txBody>
                  <a:tcPr marL="73152" marR="73152" marT="36576" marB="36576">
                    <a:solidFill>
                      <a:srgbClr val="04242F"/>
                    </a:solidFill>
                  </a:tcPr>
                </a:tc>
                <a:tc>
                  <a:txBody>
                    <a:bodyPr/>
                    <a:lstStyle/>
                    <a:p>
                      <a:r>
                        <a:rPr sz="1800" b="1" i="0">
                          <a:solidFill>
                            <a:srgbClr val="FFFFFF"/>
                          </a:solidFill>
                        </a:rPr>
                        <a:t>Typical tools</a:t>
                      </a:r>
                    </a:p>
                  </a:txBody>
                  <a:tcPr marL="73152" marR="73152" marT="36576" marB="36576">
                    <a:solidFill>
                      <a:srgbClr val="04242F"/>
                    </a:solidFill>
                  </a:tcPr>
                </a:tc>
                <a:tc>
                  <a:txBody>
                    <a:bodyPr/>
                    <a:lstStyle/>
                    <a:p>
                      <a:r>
                        <a:rPr sz="1800" b="1" i="0">
                          <a:solidFill>
                            <a:srgbClr val="FFFFFF"/>
                          </a:solidFill>
                        </a:rPr>
                        <a:t>Judged by</a:t>
                      </a:r>
                    </a:p>
                  </a:txBody>
                  <a:tcPr marL="73152" marR="73152" marT="36576" marB="36576">
                    <a:solidFill>
                      <a:srgbClr val="04242F"/>
                    </a:solidFill>
                  </a:tcPr>
                </a:tc>
              </a:tr>
              <a:tr h="594360">
                <a:tc>
                  <a:txBody>
                    <a:bodyPr/>
                    <a:lstStyle/>
                    <a:p>
                      <a:r>
                        <a:rPr sz="1800" b="0" i="0">
                          <a:solidFill>
                            <a:srgbClr val="1F2D33"/>
                          </a:solidFill>
                        </a:rPr>
                        <a:t>Describe</a:t>
                      </a:r>
                    </a:p>
                  </a:txBody>
                  <a:tcPr marL="73152" marR="73152" marT="36576" marB="36576">
                    <a:solidFill>
                      <a:srgbClr val="FFFFFF"/>
                    </a:solidFill>
                  </a:tcPr>
                </a:tc>
                <a:tc>
                  <a:txBody>
                    <a:bodyPr/>
                    <a:lstStyle/>
                    <a:p>
                      <a:r>
                        <a:rPr sz="1800" b="0" i="0">
                          <a:solidFill>
                            <a:srgbClr val="1F2D33"/>
                          </a:solidFill>
                        </a:rPr>
                        <a:t>What is the distribution of SBP?</a:t>
                      </a:r>
                    </a:p>
                  </a:txBody>
                  <a:tcPr marL="73152" marR="73152" marT="36576" marB="36576">
                    <a:solidFill>
                      <a:srgbClr val="FFFFFF"/>
                    </a:solidFill>
                  </a:tcPr>
                </a:tc>
                <a:tc>
                  <a:txBody>
                    <a:bodyPr/>
                    <a:lstStyle/>
                    <a:p>
                      <a:r>
                        <a:rPr sz="1800" b="0" i="0">
                          <a:solidFill>
                            <a:srgbClr val="1F2D33"/>
                          </a:solidFill>
                        </a:rPr>
                        <a:t>Summaries, plots</a:t>
                      </a:r>
                    </a:p>
                  </a:txBody>
                  <a:tcPr marL="73152" marR="73152" marT="36576" marB="36576">
                    <a:solidFill>
                      <a:srgbClr val="FFFFFF"/>
                    </a:solidFill>
                  </a:tcPr>
                </a:tc>
                <a:tc>
                  <a:txBody>
                    <a:bodyPr/>
                    <a:lstStyle/>
                    <a:p>
                      <a:r>
                        <a:rPr sz="1800" b="0" i="0">
                          <a:solidFill>
                            <a:srgbClr val="1F2D33"/>
                          </a:solidFill>
                        </a:rPr>
                        <a:t>Accuracy, clarity</a:t>
                      </a:r>
                    </a:p>
                  </a:txBody>
                  <a:tcPr marL="73152" marR="73152" marT="36576" marB="36576">
                    <a:solidFill>
                      <a:srgbClr val="FFFFFF"/>
                    </a:solidFill>
                  </a:tcPr>
                </a:tc>
              </a:tr>
              <a:tr h="594360">
                <a:tc>
                  <a:txBody>
                    <a:bodyPr/>
                    <a:lstStyle/>
                    <a:p>
                      <a:r>
                        <a:rPr sz="1800" b="0" i="0">
                          <a:solidFill>
                            <a:srgbClr val="1F2D33"/>
                          </a:solidFill>
                        </a:rPr>
                        <a:t>Estimate associations</a:t>
                      </a:r>
                    </a:p>
                  </a:txBody>
                  <a:tcPr marL="73152" marR="73152" marT="36576" marB="36576">
                    <a:solidFill>
                      <a:srgbClr val="EAF2F5"/>
                    </a:solidFill>
                  </a:tcPr>
                </a:tc>
                <a:tc>
                  <a:txBody>
                    <a:bodyPr/>
                    <a:lstStyle/>
                    <a:p>
                      <a:r>
                        <a:rPr sz="1800" b="0" i="0">
                          <a:solidFill>
                            <a:srgbClr val="1F2D33"/>
                          </a:solidFill>
                        </a:rPr>
                        <a:t>Is activity associated with lower SBP, at the same age and sex?</a:t>
                      </a:r>
                    </a:p>
                  </a:txBody>
                  <a:tcPr marL="73152" marR="73152" marT="36576" marB="36576">
                    <a:solidFill>
                      <a:srgbClr val="EAF2F5"/>
                    </a:solidFill>
                  </a:tcPr>
                </a:tc>
                <a:tc>
                  <a:txBody>
                    <a:bodyPr/>
                    <a:lstStyle/>
                    <a:p>
                      <a:r>
                        <a:rPr sz="1800" b="0" i="0">
                          <a:solidFill>
                            <a:srgbClr val="1F2D33"/>
                          </a:solidFill>
                        </a:rPr>
                        <a:t>Regression with adjustment</a:t>
                      </a:r>
                    </a:p>
                  </a:txBody>
                  <a:tcPr marL="73152" marR="73152" marT="36576" marB="36576">
                    <a:solidFill>
                      <a:srgbClr val="EAF2F5"/>
                    </a:solidFill>
                  </a:tcPr>
                </a:tc>
                <a:tc>
                  <a:txBody>
                    <a:bodyPr/>
                    <a:lstStyle/>
                    <a:p>
                      <a:r>
                        <a:rPr sz="1800" b="0" i="0">
                          <a:solidFill>
                            <a:srgbClr val="1F2D33"/>
                          </a:solidFill>
                        </a:rPr>
                        <a:t>Bias, CI, design</a:t>
                      </a:r>
                    </a:p>
                  </a:txBody>
                  <a:tcPr marL="73152" marR="73152" marT="36576" marB="36576">
                    <a:solidFill>
                      <a:srgbClr val="EAF2F5"/>
                    </a:solidFill>
                  </a:tcPr>
                </a:tc>
              </a:tr>
              <a:tr h="594360">
                <a:tc>
                  <a:txBody>
                    <a:bodyPr/>
                    <a:lstStyle/>
                    <a:p>
                      <a:r>
                        <a:rPr sz="1800" b="0" i="0">
                          <a:solidFill>
                            <a:srgbClr val="1F2D33"/>
                          </a:solidFill>
                        </a:rPr>
                        <a:t>Predict</a:t>
                      </a:r>
                    </a:p>
                  </a:txBody>
                  <a:tcPr marL="73152" marR="73152" marT="36576" marB="36576">
                    <a:solidFill>
                      <a:srgbClr val="FFFFFF"/>
                    </a:solidFill>
                  </a:tcPr>
                </a:tc>
                <a:tc>
                  <a:txBody>
                    <a:bodyPr/>
                    <a:lstStyle/>
                    <a:p>
                      <a:r>
                        <a:rPr sz="1800" b="0" i="0">
                          <a:solidFill>
                            <a:srgbClr val="1F2D33"/>
                          </a:solidFill>
                        </a:rPr>
                        <a:t>Can we predict a person's SBP from routine data?</a:t>
                      </a:r>
                    </a:p>
                  </a:txBody>
                  <a:tcPr marL="73152" marR="73152" marT="36576" marB="36576">
                    <a:solidFill>
                      <a:srgbClr val="FFFFFF"/>
                    </a:solidFill>
                  </a:tcPr>
                </a:tc>
                <a:tc>
                  <a:txBody>
                    <a:bodyPr/>
                    <a:lstStyle/>
                    <a:p>
                      <a:r>
                        <a:rPr sz="1800" b="0" i="0">
                          <a:solidFill>
                            <a:srgbClr val="1F2D33"/>
                          </a:solidFill>
                        </a:rPr>
                        <a:t>Regression, machine learning</a:t>
                      </a:r>
                    </a:p>
                  </a:txBody>
                  <a:tcPr marL="73152" marR="73152" marT="36576" marB="36576">
                    <a:solidFill>
                      <a:srgbClr val="FFFFFF"/>
                    </a:solidFill>
                  </a:tcPr>
                </a:tc>
                <a:tc>
                  <a:txBody>
                    <a:bodyPr/>
                    <a:lstStyle/>
                    <a:p>
                      <a:r>
                        <a:rPr sz="1800" b="0" i="0">
                          <a:solidFill>
                            <a:srgbClr val="1F2D33"/>
                          </a:solidFill>
                        </a:rPr>
                        <a:t>Error on new data</a:t>
                      </a:r>
                    </a:p>
                  </a:txBody>
                  <a:tcPr marL="73152" marR="73152" marT="36576" marB="36576">
                    <a:solidFill>
                      <a:srgbClr val="FFFFFF"/>
                    </a:solidFill>
                  </a:tcPr>
                </a:tc>
              </a:tr>
              <a:tr h="594360">
                <a:tc>
                  <a:txBody>
                    <a:bodyPr/>
                    <a:lstStyle/>
                    <a:p>
                      <a:r>
                        <a:rPr sz="1800" b="0" i="0">
                          <a:solidFill>
                            <a:srgbClr val="1F2D33"/>
                          </a:solidFill>
                        </a:rPr>
                        <a:t>Discover groups</a:t>
                      </a:r>
                    </a:p>
                  </a:txBody>
                  <a:tcPr marL="73152" marR="73152" marT="36576" marB="36576">
                    <a:solidFill>
                      <a:srgbClr val="EAF2F5"/>
                    </a:solidFill>
                  </a:tcPr>
                </a:tc>
                <a:tc>
                  <a:txBody>
                    <a:bodyPr/>
                    <a:lstStyle/>
                    <a:p>
                      <a:r>
                        <a:rPr sz="1800" b="0" i="0">
                          <a:solidFill>
                            <a:srgbClr val="1F2D33"/>
                          </a:solidFill>
                        </a:rPr>
                        <a:t>Are there distinct lifestyle profiles?</a:t>
                      </a:r>
                    </a:p>
                  </a:txBody>
                  <a:tcPr marL="73152" marR="73152" marT="36576" marB="36576">
                    <a:solidFill>
                      <a:srgbClr val="EAF2F5"/>
                    </a:solidFill>
                  </a:tcPr>
                </a:tc>
                <a:tc>
                  <a:txBody>
                    <a:bodyPr/>
                    <a:lstStyle/>
                    <a:p>
                      <a:r>
                        <a:rPr sz="1800" b="0" i="0">
                          <a:solidFill>
                            <a:srgbClr val="1F2D33"/>
                          </a:solidFill>
                        </a:rPr>
                        <a:t>Clustering</a:t>
                      </a:r>
                    </a:p>
                  </a:txBody>
                  <a:tcPr marL="73152" marR="73152" marT="36576" marB="36576">
                    <a:solidFill>
                      <a:srgbClr val="EAF2F5"/>
                    </a:solidFill>
                  </a:tcPr>
                </a:tc>
                <a:tc>
                  <a:txBody>
                    <a:bodyPr/>
                    <a:lstStyle/>
                    <a:p>
                      <a:r>
                        <a:rPr sz="1800" b="0" i="0">
                          <a:solidFill>
                            <a:srgbClr val="1F2D33"/>
                          </a:solidFill>
                        </a:rPr>
                        <a:t>Usefulness, stability</a:t>
                      </a:r>
                    </a:p>
                  </a:txBody>
                  <a:tcPr marL="73152" marR="73152" marT="36576" marB="36576">
                    <a:solidFill>
                      <a:srgbClr val="EAF2F5"/>
                    </a:solidFill>
                  </a:tcPr>
                </a:tc>
              </a:tr>
            </a:tbl>
          </a:graphicData>
        </a:graphic>
      </p:graphicFrame>
      <p:sp>
        <p:nvSpPr>
          <p:cNvPr id="5" name="Rectangle 4"/>
          <p:cNvSpPr/>
          <p:nvPr/>
        </p:nvSpPr>
        <p:spPr>
          <a:xfrm>
            <a:off x="429768" y="5276088"/>
            <a:ext cx="11332159" cy="822960"/>
          </a:xfrm>
          <a:prstGeom prst="rect">
            <a:avLst/>
          </a:prstGeom>
          <a:solidFill>
            <a:srgbClr val="EA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182880"/>
          <a:lstStyle/>
          <a:p>
            <a:pPr algn="ctr"/>
            <a:r>
              <a:rPr sz="1600" b="0" i="0">
                <a:solidFill>
                  <a:srgbClr val="04242F"/>
                </a:solidFill>
              </a:rPr>
              <a:t>The same model can serve different purposes, but each purpose asks different things of it.</a:t>
            </a:r>
          </a:p>
        </p:txBody>
      </p:sp>
      <p:sp>
        <p:nvSpPr>
          <p:cNvPr id="6" name="Rectangle 5"/>
          <p:cNvSpPr/>
          <p:nvPr/>
        </p:nvSpPr>
        <p:spPr>
          <a:xfrm>
            <a:off x="429768" y="5276088"/>
            <a:ext cx="82296" cy="822960"/>
          </a:xfrm>
          <a:prstGeom prst="rect">
            <a:avLst/>
          </a:prstGeom>
          <a:solidFill>
            <a:srgbClr val="05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Relationships between continuous variables</a:t>
            </a:r>
          </a:p>
        </p:txBody>
      </p:sp>
      <p:sp>
        <p:nvSpPr>
          <p:cNvPr id="3" name="Text Placeholder 2"/>
          <p:cNvSpPr>
            <a:spLocks noGrp="1"/>
          </p:cNvSpPr>
          <p:nvPr>
            <p:ph type="body" idx="1"/>
          </p:nvPr>
        </p:nvSpPr>
        <p:spPr/>
        <p:txBody>
          <a:bodyPr/>
          <a:lstStyle/>
          <a:p>
            <a:r>
              <a:t>Part 1. Scatterplots, correlation, association and causation</a:t>
            </a:r>
          </a:p>
        </p:txBody>
      </p:sp>
      <p:sp>
        <p:nvSpPr>
          <p:cNvPr id="4" name="Slide Number Placeholder 3"/>
          <p:cNvSpPr>
            <a:spLocks noGrp="1"/>
          </p:cNvSpPr>
          <p:nvPr>
            <p:ph type="sldNum" idx="12" sz="quarter"/>
          </p:nvPr>
        </p:nvSpPr>
        <p:spPr/>
        <p:txBody>
          <a:bodyPr/>
          <a:lstStyle/>
          <a:p>
            <a:fld id="{B6F15528-21DE-4FAA-801E-634DDDAF4B2B}" type="slidenum">
              <a:rPr lang="en-GB"/>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Always start with a scatterplot</a:t>
            </a:r>
          </a:p>
        </p:txBody>
      </p:sp>
      <p:sp>
        <p:nvSpPr>
          <p:cNvPr id="3" name="Slide Number Placeholder 2"/>
          <p:cNvSpPr>
            <a:spLocks noGrp="1"/>
          </p:cNvSpPr>
          <p:nvPr>
            <p:ph type="sldNum" idx="12" sz="quarter"/>
          </p:nvPr>
        </p:nvSpPr>
        <p:spPr/>
        <p:txBody>
          <a:bodyPr/>
          <a:lstStyle/>
          <a:p>
            <a:fld id="{B6F15528-21DE-4FAA-801E-634DDDAF4B2B}" type="slidenum">
              <a:rPr lang="en-GB"/>
              <a:t>7</a:t>
            </a:fld>
          </a:p>
        </p:txBody>
      </p:sp>
      <p:sp>
        <p:nvSpPr>
          <p:cNvPr id="4" name="TextBox 3"/>
          <p:cNvSpPr txBox="1"/>
          <p:nvPr/>
        </p:nvSpPr>
        <p:spPr>
          <a:xfrm>
            <a:off x="429768" y="1389888"/>
            <a:ext cx="4079577" cy="475488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Each point is one person</a:t>
            </a:r>
          </a:p>
          <a:p>
            <a:pPr>
              <a:spcAft>
                <a:spcPts val="1000"/>
              </a:spcAft>
            </a:pPr>
            <a:r>
              <a:rPr sz="1300" b="0" i="0">
                <a:solidFill>
                  <a:srgbClr val="0D7377"/>
                </a:solidFill>
              </a:rPr>
              <a:t>●  </a:t>
            </a:r>
            <a:r>
              <a:rPr sz="1900" b="0" i="0">
                <a:solidFill>
                  <a:srgbClr val="1F2D33"/>
                </a:solidFill>
              </a:rPr>
              <a:t>Look for direction, form (straight or curved), spread and outliers</a:t>
            </a:r>
          </a:p>
          <a:p>
            <a:pPr>
              <a:spcAft>
                <a:spcPts val="1000"/>
              </a:spcAft>
            </a:pPr>
            <a:r>
              <a:rPr sz="1300" b="0" i="0">
                <a:solidFill>
                  <a:srgbClr val="0D7377"/>
                </a:solidFill>
              </a:rPr>
              <a:t>●  </a:t>
            </a:r>
            <a:r>
              <a:rPr sz="1900" b="0" i="0">
                <a:solidFill>
                  <a:srgbClr val="1F2D33"/>
                </a:solidFill>
              </a:rPr>
              <a:t>SBP rises with age, fairly linearly</a:t>
            </a:r>
          </a:p>
          <a:p>
            <a:pPr>
              <a:spcAft>
                <a:spcPts val="1000"/>
              </a:spcAft>
            </a:pPr>
            <a:r>
              <a:rPr sz="1300" b="0" i="0">
                <a:solidFill>
                  <a:srgbClr val="0D7377"/>
                </a:solidFill>
              </a:rPr>
              <a:t>●  </a:t>
            </a:r>
            <a:r>
              <a:rPr sz="1900" b="0" i="0">
                <a:solidFill>
                  <a:srgbClr val="1F2D33"/>
                </a:solidFill>
              </a:rPr>
              <a:t>Line: least-squares fit with 95% confidence band</a:t>
            </a:r>
          </a:p>
        </p:txBody>
      </p:sp>
      <p:pic>
        <p:nvPicPr>
          <p:cNvPr id="5" name="Picture 4" descr="f_scatter_age.png"/>
          <p:cNvPicPr>
            <a:picLocks noChangeAspect="1"/>
          </p:cNvPicPr>
          <p:nvPr/>
        </p:nvPicPr>
        <p:blipFill>
          <a:blip r:embed="rId3"/>
          <a:stretch>
            <a:fillRect/>
          </a:stretch>
        </p:blipFill>
        <p:spPr>
          <a:xfrm>
            <a:off x="4692225" y="1558046"/>
            <a:ext cx="7069702" cy="4418563"/>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Correlation coefficients</a:t>
            </a:r>
          </a:p>
        </p:txBody>
      </p:sp>
      <p:sp>
        <p:nvSpPr>
          <p:cNvPr id="3" name="Slide Number Placeholder 2"/>
          <p:cNvSpPr>
            <a:spLocks noGrp="1"/>
          </p:cNvSpPr>
          <p:nvPr>
            <p:ph type="sldNum" idx="12" sz="quarter"/>
          </p:nvPr>
        </p:nvSpPr>
        <p:spPr/>
        <p:txBody>
          <a:bodyPr/>
          <a:lstStyle/>
          <a:p>
            <a:fld id="{B6F15528-21DE-4FAA-801E-634DDDAF4B2B}" type="slidenum">
              <a:rPr lang="en-GB"/>
              <a:t>8</a:t>
            </a:fld>
          </a:p>
        </p:txBody>
      </p:sp>
      <p:sp>
        <p:nvSpPr>
          <p:cNvPr id="4" name="TextBox 3"/>
          <p:cNvSpPr txBox="1"/>
          <p:nvPr/>
        </p:nvSpPr>
        <p:spPr>
          <a:xfrm>
            <a:off x="429768" y="1389888"/>
            <a:ext cx="11332159" cy="475488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Pearson's r: strength of a straight-line association, from -1 to +1</a:t>
            </a:r>
          </a:p>
          <a:p>
            <a:pPr>
              <a:spcAft>
                <a:spcPts val="500"/>
              </a:spcAft>
            </a:pPr>
            <a:r>
              <a:rPr sz="1900" b="0" i="0">
                <a:solidFill>
                  <a:srgbClr val="8A99A3"/>
                </a:solidFill>
              </a:rPr>
              <a:t>        –  </a:t>
            </a:r>
            <a:r>
              <a:rPr sz="1900" b="0" i="0">
                <a:solidFill>
                  <a:srgbClr val="8A99A3"/>
                </a:solidFill>
              </a:rPr>
              <a:t>Age and SBP: r = 0.50 (95% CI 0.43 to 0.57)</a:t>
            </a:r>
          </a:p>
          <a:p>
            <a:pPr>
              <a:spcAft>
                <a:spcPts val="1000"/>
              </a:spcAft>
            </a:pPr>
            <a:r>
              <a:rPr sz="1600" b="0" i="0">
                <a:solidFill>
                  <a:srgbClr val="0D7377"/>
                </a:solidFill>
              </a:rPr>
              <a:t>●  </a:t>
            </a:r>
            <a:r>
              <a:rPr sz="2200" b="0" i="0">
                <a:solidFill>
                  <a:srgbClr val="1F2D33"/>
                </a:solidFill>
              </a:rPr>
              <a:t>Spearman's rho: uses ranks; measures a monotonic association, less affected by skew and outliers</a:t>
            </a:r>
          </a:p>
          <a:p>
            <a:pPr>
              <a:spcAft>
                <a:spcPts val="500"/>
              </a:spcAft>
            </a:pPr>
            <a:r>
              <a:rPr sz="1900" b="0" i="0">
                <a:solidFill>
                  <a:srgbClr val="8A99A3"/>
                </a:solidFill>
              </a:rPr>
              <a:t>        –  </a:t>
            </a:r>
            <a:r>
              <a:rPr sz="1900" b="0" i="0">
                <a:solidFill>
                  <a:srgbClr val="8A99A3"/>
                </a:solidFill>
              </a:rPr>
              <a:t>Activity and CRP: rho = -0.15, p = 0.001</a:t>
            </a:r>
          </a:p>
          <a:p>
            <a:pPr>
              <a:spcAft>
                <a:spcPts val="1000"/>
              </a:spcAft>
            </a:pPr>
            <a:r>
              <a:rPr sz="1600" b="0" i="0">
                <a:solidFill>
                  <a:srgbClr val="0D7377"/>
                </a:solidFill>
              </a:rPr>
              <a:t>●  </a:t>
            </a:r>
            <a:r>
              <a:rPr sz="2200" b="0" i="0">
                <a:solidFill>
                  <a:srgbClr val="1F2D33"/>
                </a:solidFill>
              </a:rPr>
              <a:t>r has no units and does not tell you how much y changes per unit of x</a:t>
            </a:r>
          </a:p>
          <a:p>
            <a:pPr>
              <a:spcAft>
                <a:spcPts val="1000"/>
              </a:spcAft>
            </a:pPr>
            <a:r>
              <a:rPr sz="1600" b="0" i="0">
                <a:solidFill>
                  <a:srgbClr val="0D7377"/>
                </a:solidFill>
              </a:rPr>
              <a:t>●  </a:t>
            </a:r>
            <a:r>
              <a:rPr sz="2200" b="0" i="0">
                <a:solidFill>
                  <a:srgbClr val="1F2D33"/>
                </a:solidFill>
              </a:rPr>
              <a:t>r near 0 does not mean no relationship: it may be curved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we always plot</a:t>
            </a:r>
          </a:p>
        </p:txBody>
      </p:sp>
      <p:sp>
        <p:nvSpPr>
          <p:cNvPr id="3" name="Slide Number Placeholder 2"/>
          <p:cNvSpPr>
            <a:spLocks noGrp="1"/>
          </p:cNvSpPr>
          <p:nvPr>
            <p:ph type="sldNum" idx="12" sz="quarter"/>
          </p:nvPr>
        </p:nvSpPr>
        <p:spPr/>
        <p:txBody>
          <a:bodyPr/>
          <a:lstStyle/>
          <a:p>
            <a:fld id="{B6F15528-21DE-4FAA-801E-634DDDAF4B2B}" type="slidenum">
              <a:rPr lang="en-GB"/>
              <a:t>9</a:t>
            </a:fld>
          </a:p>
        </p:txBody>
      </p:sp>
      <p:pic>
        <p:nvPicPr>
          <p:cNvPr id="4" name="Picture 3" descr="f_correlation_examples.png"/>
          <p:cNvPicPr>
            <a:picLocks noChangeAspect="1"/>
          </p:cNvPicPr>
          <p:nvPr/>
        </p:nvPicPr>
        <p:blipFill>
          <a:blip r:embed="rId3"/>
          <a:stretch>
            <a:fillRect/>
          </a:stretch>
        </p:blipFill>
        <p:spPr>
          <a:xfrm>
            <a:off x="429768" y="1721609"/>
            <a:ext cx="11332159" cy="3588517"/>
          </a:xfrm>
          <a:prstGeom prst="rect">
            <a:avLst/>
          </a:prstGeom>
        </p:spPr>
      </p:pic>
      <p:sp>
        <p:nvSpPr>
          <p:cNvPr id="5" name="TextBox 4"/>
          <p:cNvSpPr txBox="1"/>
          <p:nvPr/>
        </p:nvSpPr>
        <p:spPr>
          <a:xfrm>
            <a:off x="429768" y="5733288"/>
            <a:ext cx="11332159" cy="411480"/>
          </a:xfrm>
          <a:prstGeom prst="rect">
            <a:avLst/>
          </a:prstGeom>
          <a:noFill/>
        </p:spPr>
        <p:txBody>
          <a:bodyPr wrap="square" anchor="t" lIns="45720" rIns="45720">
            <a:spAutoFit/>
          </a:bodyPr>
          <a:lstStyle/>
          <a:p>
            <a:pPr algn="ctr"/>
            <a:r>
              <a:rPr sz="1500" b="0" i="0">
                <a:solidFill>
                  <a:srgbClr val="0070C0"/>
                </a:solidFill>
              </a:rPr>
              <a:t>Simulated examples. The curved relationship is strong but r is close to 0; one outlier creates r = 0.68.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Association is not causation</a:t>
            </a:r>
          </a:p>
        </p:txBody>
      </p:sp>
      <p:sp>
        <p:nvSpPr>
          <p:cNvPr id="3" name="Slide Number Placeholder 2"/>
          <p:cNvSpPr>
            <a:spLocks noGrp="1"/>
          </p:cNvSpPr>
          <p:nvPr>
            <p:ph type="sldNum" idx="12" sz="quarter"/>
          </p:nvPr>
        </p:nvSpPr>
        <p:spPr/>
        <p:txBody>
          <a:bodyPr/>
          <a:lstStyle/>
          <a:p>
            <a:fld id="{B6F15528-21DE-4FAA-801E-634DDDAF4B2B}" type="slidenum">
              <a:rPr lang="en-GB"/>
              <a:t>10</a:t>
            </a:fld>
          </a:p>
        </p:txBody>
      </p:sp>
      <p:sp>
        <p:nvSpPr>
          <p:cNvPr id="4" name="TextBox 3"/>
          <p:cNvSpPr txBox="1"/>
          <p:nvPr/>
        </p:nvSpPr>
        <p:spPr>
          <a:xfrm>
            <a:off x="429768" y="1389888"/>
            <a:ext cx="11332159" cy="475488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An association between X and Y can arise because:</a:t>
            </a:r>
          </a:p>
          <a:p>
            <a:pPr>
              <a:spcAft>
                <a:spcPts val="500"/>
              </a:spcAft>
            </a:pPr>
            <a:r>
              <a:rPr sz="1900" b="0" i="0">
                <a:solidFill>
                  <a:srgbClr val="8A99A3"/>
                </a:solidFill>
              </a:rPr>
              <a:t>        –  </a:t>
            </a:r>
            <a:r>
              <a:rPr sz="1900" b="0" i="0">
                <a:solidFill>
                  <a:srgbClr val="8A99A3"/>
                </a:solidFill>
              </a:rPr>
              <a:t>X causes Y</a:t>
            </a:r>
          </a:p>
          <a:p>
            <a:pPr>
              <a:spcAft>
                <a:spcPts val="500"/>
              </a:spcAft>
            </a:pPr>
            <a:r>
              <a:rPr sz="1900" b="0" i="0">
                <a:solidFill>
                  <a:srgbClr val="8A99A3"/>
                </a:solidFill>
              </a:rPr>
              <a:t>        –  </a:t>
            </a:r>
            <a:r>
              <a:rPr sz="1900" b="0" i="0">
                <a:solidFill>
                  <a:srgbClr val="8A99A3"/>
                </a:solidFill>
              </a:rPr>
              <a:t>Y causes X (reverse causation)</a:t>
            </a:r>
          </a:p>
          <a:p>
            <a:pPr>
              <a:spcAft>
                <a:spcPts val="500"/>
              </a:spcAft>
            </a:pPr>
            <a:r>
              <a:rPr sz="1900" b="0" i="0">
                <a:solidFill>
                  <a:srgbClr val="8A99A3"/>
                </a:solidFill>
              </a:rPr>
              <a:t>        –  </a:t>
            </a:r>
            <a:r>
              <a:rPr sz="1900" b="0" i="0">
                <a:solidFill>
                  <a:srgbClr val="8A99A3"/>
                </a:solidFill>
              </a:rPr>
              <a:t>A third variable causes both (confounding)</a:t>
            </a:r>
          </a:p>
          <a:p>
            <a:pPr>
              <a:spcAft>
                <a:spcPts val="500"/>
              </a:spcAft>
            </a:pPr>
            <a:r>
              <a:rPr sz="1900" b="0" i="0">
                <a:solidFill>
                  <a:srgbClr val="8A99A3"/>
                </a:solidFill>
              </a:rPr>
              <a:t>        –  </a:t>
            </a:r>
            <a:r>
              <a:rPr sz="1900" b="0" i="0">
                <a:solidFill>
                  <a:srgbClr val="8A99A3"/>
                </a:solidFill>
              </a:rPr>
              <a:t>Chance, or how participants were selected or measured (bias)</a:t>
            </a:r>
          </a:p>
          <a:p>
            <a:pPr>
              <a:spcAft>
                <a:spcPts val="1000"/>
              </a:spcAft>
            </a:pPr>
            <a:r>
              <a:rPr sz="1600" b="0" i="0">
                <a:solidFill>
                  <a:srgbClr val="0D7377"/>
                </a:solidFill>
              </a:rPr>
              <a:t>●  </a:t>
            </a:r>
            <a:r>
              <a:rPr sz="2200" b="0" i="0">
                <a:solidFill>
                  <a:srgbClr val="1F2D33"/>
                </a:solidFill>
              </a:rPr>
              <a:t>More active people have lower SBP in our data, but they are also younger</a:t>
            </a:r>
          </a:p>
          <a:p>
            <a:pPr>
              <a:spcAft>
                <a:spcPts val="1000"/>
              </a:spcAft>
            </a:pPr>
            <a:r>
              <a:rPr sz="1600" b="0" i="0">
                <a:solidFill>
                  <a:srgbClr val="0D7377"/>
                </a:solidFill>
              </a:rPr>
              <a:t>●  </a:t>
            </a:r>
            <a:r>
              <a:rPr sz="2200" b="0" i="0">
                <a:solidFill>
                  <a:srgbClr val="1F2D33"/>
                </a:solidFill>
              </a:rPr>
              <a:t>Randomised trials remove confounding by design; observational studies must adjust for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Simple linear regression</a:t>
            </a:r>
          </a:p>
        </p:txBody>
      </p:sp>
      <p:sp>
        <p:nvSpPr>
          <p:cNvPr id="3" name="Text Placeholder 2"/>
          <p:cNvSpPr>
            <a:spLocks noGrp="1"/>
          </p:cNvSpPr>
          <p:nvPr>
            <p:ph type="body" idx="1"/>
          </p:nvPr>
        </p:nvSpPr>
        <p:spPr/>
        <p:txBody>
          <a:bodyPr/>
          <a:lstStyle/>
          <a:p>
            <a:r>
              <a:t>Part 2. One outcome, one predictor</a:t>
            </a:r>
          </a:p>
        </p:txBody>
      </p:sp>
      <p:sp>
        <p:nvSpPr>
          <p:cNvPr id="4" name="Slide Number Placeholder 3"/>
          <p:cNvSpPr>
            <a:spLocks noGrp="1"/>
          </p:cNvSpPr>
          <p:nvPr>
            <p:ph type="sldNum" idx="12" sz="quarter"/>
          </p:nvPr>
        </p:nvSpPr>
        <p:spPr/>
        <p:txBody>
          <a:bodyPr/>
          <a:lstStyle/>
          <a:p>
            <a:fld id="{B6F15528-21DE-4FAA-801E-634DDDAF4B2B}" type="slidenum">
              <a:rPr lang="en-GB"/>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regression line</a:t>
            </a:r>
          </a:p>
        </p:txBody>
      </p:sp>
      <p:sp>
        <p:nvSpPr>
          <p:cNvPr id="3" name="Slide Number Placeholder 2"/>
          <p:cNvSpPr>
            <a:spLocks noGrp="1"/>
          </p:cNvSpPr>
          <p:nvPr>
            <p:ph type="sldNum" idx="12" sz="quarter"/>
          </p:nvPr>
        </p:nvSpPr>
        <p:spPr/>
        <p:txBody>
          <a:bodyPr/>
          <a:lstStyle/>
          <a:p>
            <a:fld id="{B6F15528-21DE-4FAA-801E-634DDDAF4B2B}" type="slidenum">
              <a:rPr lang="en-GB"/>
              <a:t>12</a:t>
            </a:fld>
          </a:p>
        </p:txBody>
      </p:sp>
      <p:sp>
        <p:nvSpPr>
          <p:cNvPr id="4" name="TextBox 3"/>
          <p:cNvSpPr txBox="1"/>
          <p:nvPr/>
        </p:nvSpPr>
        <p:spPr>
          <a:xfrm>
            <a:off x="429768" y="1389888"/>
            <a:ext cx="11332159" cy="379476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Model: SBP = b0 + b1 × age + error</a:t>
            </a:r>
          </a:p>
          <a:p>
            <a:pPr>
              <a:spcAft>
                <a:spcPts val="1000"/>
              </a:spcAft>
            </a:pPr>
            <a:r>
              <a:rPr sz="1600" b="0" i="0">
                <a:solidFill>
                  <a:srgbClr val="0D7377"/>
                </a:solidFill>
              </a:rPr>
              <a:t>●  </a:t>
            </a:r>
            <a:r>
              <a:rPr sz="2200" b="0" i="0">
                <a:solidFill>
                  <a:srgbClr val="1F2D33"/>
                </a:solidFill>
              </a:rPr>
              <a:t>b1 (slope): difference in mean SBP for a 1-unit difference in age</a:t>
            </a:r>
          </a:p>
          <a:p>
            <a:pPr>
              <a:spcAft>
                <a:spcPts val="1000"/>
              </a:spcAft>
            </a:pPr>
            <a:r>
              <a:rPr sz="1600" b="0" i="0">
                <a:solidFill>
                  <a:srgbClr val="0D7377"/>
                </a:solidFill>
              </a:rPr>
              <a:t>●  </a:t>
            </a:r>
            <a:r>
              <a:rPr sz="2200" b="0" i="0">
                <a:solidFill>
                  <a:srgbClr val="1F2D33"/>
                </a:solidFill>
              </a:rPr>
              <a:t>b0 (intercept): predicted mean SBP when age = 0 (anchors the line; often not meaningful)</a:t>
            </a:r>
          </a:p>
          <a:p>
            <a:pPr>
              <a:spcAft>
                <a:spcPts val="1000"/>
              </a:spcAft>
            </a:pPr>
            <a:r>
              <a:rPr sz="1600" b="0" i="0">
                <a:solidFill>
                  <a:srgbClr val="0D7377"/>
                </a:solidFill>
              </a:rPr>
              <a:t>●  </a:t>
            </a:r>
            <a:r>
              <a:rPr sz="2200" b="0" i="0">
                <a:solidFill>
                  <a:srgbClr val="1F2D33"/>
                </a:solidFill>
              </a:rPr>
              <a:t>Error: how far each person is from the line (the residual)</a:t>
            </a:r>
          </a:p>
          <a:p>
            <a:pPr>
              <a:spcAft>
                <a:spcPts val="1000"/>
              </a:spcAft>
            </a:pPr>
            <a:r>
              <a:rPr sz="1600" b="0" i="0">
                <a:solidFill>
                  <a:srgbClr val="0D7377"/>
                </a:solidFill>
              </a:rPr>
              <a:t>●  </a:t>
            </a:r>
            <a:r>
              <a:rPr sz="2200" b="0" i="0">
                <a:solidFill>
                  <a:srgbClr val="1F2D33"/>
                </a:solidFill>
              </a:rPr>
              <a:t>R chooses b0 and b1 to make the squared residuals as small as possible (least squares)</a:t>
            </a:r>
          </a:p>
        </p:txBody>
      </p:sp>
      <p:sp>
        <p:nvSpPr>
          <p:cNvPr id="5" name="Rectangle 4"/>
          <p:cNvSpPr/>
          <p:nvPr/>
        </p:nvSpPr>
        <p:spPr>
          <a:xfrm>
            <a:off x="429768" y="5276088"/>
            <a:ext cx="11332159" cy="822960"/>
          </a:xfrm>
          <a:prstGeom prst="rect">
            <a:avLst/>
          </a:prstGeom>
          <a:solidFill>
            <a:srgbClr val="EA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182880"/>
          <a:lstStyle/>
          <a:p>
            <a:pPr algn="ctr"/>
            <a:r>
              <a:rPr sz="1700" b="0" i="0">
                <a:solidFill>
                  <a:srgbClr val="04242F"/>
                </a:solidFill>
              </a:rPr>
              <a:t>R:  fit1 &lt;- lm(sbp_0 ~ age, data = hearts);  summary(fit1);  confint(fit1)</a:t>
            </a:r>
          </a:p>
        </p:txBody>
      </p:sp>
      <p:sp>
        <p:nvSpPr>
          <p:cNvPr id="6" name="Rectangle 5"/>
          <p:cNvSpPr/>
          <p:nvPr/>
        </p:nvSpPr>
        <p:spPr>
          <a:xfrm>
            <a:off x="429768" y="5276088"/>
            <a:ext cx="82296" cy="822960"/>
          </a:xfrm>
          <a:prstGeom prst="rect">
            <a:avLst/>
          </a:prstGeom>
          <a:solidFill>
            <a:srgbClr val="05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Reading the output</a:t>
            </a:r>
          </a:p>
        </p:txBody>
      </p:sp>
      <p:sp>
        <p:nvSpPr>
          <p:cNvPr id="3" name="Slide Number Placeholder 2"/>
          <p:cNvSpPr>
            <a:spLocks noGrp="1"/>
          </p:cNvSpPr>
          <p:nvPr>
            <p:ph type="sldNum" idx="12" sz="quarter"/>
          </p:nvPr>
        </p:nvSpPr>
        <p:spPr/>
        <p:txBody>
          <a:bodyPr/>
          <a:lstStyle/>
          <a:p>
            <a:fld id="{B6F15528-21DE-4FAA-801E-634DDDAF4B2B}" type="slidenum">
              <a:rPr lang="en-GB"/>
              <a:t>13</a:t>
            </a:fld>
          </a:p>
        </p:txBody>
      </p:sp>
      <p:graphicFrame>
        <p:nvGraphicFramePr>
          <p:cNvPr id="4" name="Table 3"/>
          <p:cNvGraphicFramePr>
            <a:graphicFrameLocks noGrp="1"/>
          </p:cNvGraphicFramePr>
          <p:nvPr/>
        </p:nvGraphicFramePr>
        <p:xfrm>
          <a:off x="429768" y="1435608"/>
          <a:ext cx="11332157" cy="1828800"/>
        </p:xfrm>
        <a:graphic>
          <a:graphicData uri="http://schemas.openxmlformats.org/drawingml/2006/table">
            <a:tbl>
              <a:tblPr firstRow="1" bandRow="1">
                <a:tableStyleId>{5C22544A-7EE6-4342-B048-85BDC9FD1C3A}</a:tableStyleId>
              </a:tblPr>
              <a:tblGrid>
                <a:gridCol w="2376097"/>
                <a:gridCol w="1462214"/>
                <a:gridCol w="2010544"/>
                <a:gridCol w="5483302"/>
              </a:tblGrid>
              <a:tr h="457200">
                <a:tc>
                  <a:txBody>
                    <a:bodyPr/>
                    <a:lstStyle/>
                    <a:p>
                      <a:r>
                        <a:rPr sz="1900" b="1" i="0">
                          <a:solidFill>
                            <a:srgbClr val="FFFFFF"/>
                          </a:solidFill>
                        </a:rPr>
                        <a:t>Term</a:t>
                      </a:r>
                    </a:p>
                  </a:txBody>
                  <a:tcPr marL="73152" marR="73152" marT="36576" marB="36576">
                    <a:solidFill>
                      <a:srgbClr val="04242F"/>
                    </a:solidFill>
                  </a:tcPr>
                </a:tc>
                <a:tc>
                  <a:txBody>
                    <a:bodyPr/>
                    <a:lstStyle/>
                    <a:p>
                      <a:r>
                        <a:rPr sz="1900" b="1" i="0">
                          <a:solidFill>
                            <a:srgbClr val="FFFFFF"/>
                          </a:solidFill>
                        </a:rPr>
                        <a:t>Estimate</a:t>
                      </a:r>
                    </a:p>
                  </a:txBody>
                  <a:tcPr marL="73152" marR="73152" marT="36576" marB="36576">
                    <a:solidFill>
                      <a:srgbClr val="04242F"/>
                    </a:solidFill>
                  </a:tcPr>
                </a:tc>
                <a:tc>
                  <a:txBody>
                    <a:bodyPr/>
                    <a:lstStyle/>
                    <a:p>
                      <a:r>
                        <a:rPr sz="1900" b="1" i="0">
                          <a:solidFill>
                            <a:srgbClr val="FFFFFF"/>
                          </a:solidFill>
                        </a:rPr>
                        <a:t>95% CI</a:t>
                      </a:r>
                    </a:p>
                  </a:txBody>
                  <a:tcPr marL="73152" marR="73152" marT="36576" marB="36576">
                    <a:solidFill>
                      <a:srgbClr val="04242F"/>
                    </a:solidFill>
                  </a:tcPr>
                </a:tc>
                <a:tc>
                  <a:txBody>
                    <a:bodyPr/>
                    <a:lstStyle/>
                    <a:p>
                      <a:r>
                        <a:rPr sz="1900" b="1" i="0">
                          <a:solidFill>
                            <a:srgbClr val="FFFFFF"/>
                          </a:solidFill>
                        </a:rPr>
                        <a:t>Meaning</a:t>
                      </a:r>
                    </a:p>
                  </a:txBody>
                  <a:tcPr marL="73152" marR="73152" marT="36576" marB="36576">
                    <a:solidFill>
                      <a:srgbClr val="04242F"/>
                    </a:solidFill>
                  </a:tcPr>
                </a:tc>
              </a:tr>
              <a:tr h="457200">
                <a:tc>
                  <a:txBody>
                    <a:bodyPr/>
                    <a:lstStyle/>
                    <a:p>
                      <a:r>
                        <a:rPr sz="1900" b="0" i="0">
                          <a:solidFill>
                            <a:srgbClr val="1F2D33"/>
                          </a:solidFill>
                        </a:rPr>
                        <a:t>Intercept</a:t>
                      </a:r>
                    </a:p>
                  </a:txBody>
                  <a:tcPr marL="73152" marR="73152" marT="36576" marB="36576">
                    <a:solidFill>
                      <a:srgbClr val="FFFFFF"/>
                    </a:solidFill>
                  </a:tcPr>
                </a:tc>
                <a:tc>
                  <a:txBody>
                    <a:bodyPr/>
                    <a:lstStyle/>
                    <a:p>
                      <a:r>
                        <a:rPr sz="1900" b="0" i="0">
                          <a:solidFill>
                            <a:srgbClr val="1F2D33"/>
                          </a:solidFill>
                        </a:rPr>
                        <a:t>95.2</a:t>
                      </a:r>
                    </a:p>
                  </a:txBody>
                  <a:tcPr marL="73152" marR="73152" marT="36576" marB="36576">
                    <a:solidFill>
                      <a:srgbClr val="FFFFFF"/>
                    </a:solidFill>
                  </a:tcPr>
                </a:tc>
                <a:tc>
                  <a:txBody>
                    <a:bodyPr/>
                    <a:lstStyle/>
                    <a:p>
                      <a:r>
                        <a:rPr sz="1900" b="0" i="0">
                          <a:solidFill>
                            <a:srgbClr val="1F2D33"/>
                          </a:solidFill>
                        </a:rPr>
                        <a:t>89.8 to 100.6</a:t>
                      </a:r>
                    </a:p>
                  </a:txBody>
                  <a:tcPr marL="73152" marR="73152" marT="36576" marB="36576">
                    <a:solidFill>
                      <a:srgbClr val="FFFFFF"/>
                    </a:solidFill>
                  </a:tcPr>
                </a:tc>
                <a:tc>
                  <a:txBody>
                    <a:bodyPr/>
                    <a:lstStyle/>
                    <a:p>
                      <a:r>
                        <a:rPr sz="1900" b="0" i="0">
                          <a:solidFill>
                            <a:srgbClr val="1F2D33"/>
                          </a:solidFill>
                        </a:rPr>
                        <a:t>Predicted mean SBP at age 0 (outside the data)</a:t>
                      </a:r>
                    </a:p>
                  </a:txBody>
                  <a:tcPr marL="73152" marR="73152" marT="36576" marB="36576">
                    <a:solidFill>
                      <a:srgbClr val="FFFFFF"/>
                    </a:solidFill>
                  </a:tcPr>
                </a:tc>
              </a:tr>
              <a:tr h="457200">
                <a:tc>
                  <a:txBody>
                    <a:bodyPr/>
                    <a:lstStyle/>
                    <a:p>
                      <a:r>
                        <a:rPr sz="1900" b="0" i="0">
                          <a:solidFill>
                            <a:srgbClr val="1F2D33"/>
                          </a:solidFill>
                        </a:rPr>
                        <a:t>age</a:t>
                      </a:r>
                    </a:p>
                  </a:txBody>
                  <a:tcPr marL="73152" marR="73152" marT="36576" marB="36576">
                    <a:solidFill>
                      <a:srgbClr val="EAF2F5"/>
                    </a:solidFill>
                  </a:tcPr>
                </a:tc>
                <a:tc>
                  <a:txBody>
                    <a:bodyPr/>
                    <a:lstStyle/>
                    <a:p>
                      <a:r>
                        <a:rPr sz="1900" b="0" i="0">
                          <a:solidFill>
                            <a:srgbClr val="1F2D33"/>
                          </a:solidFill>
                        </a:rPr>
                        <a:t>0.66</a:t>
                      </a:r>
                    </a:p>
                  </a:txBody>
                  <a:tcPr marL="73152" marR="73152" marT="36576" marB="36576">
                    <a:solidFill>
                      <a:srgbClr val="EAF2F5"/>
                    </a:solidFill>
                  </a:tcPr>
                </a:tc>
                <a:tc>
                  <a:txBody>
                    <a:bodyPr/>
                    <a:lstStyle/>
                    <a:p>
                      <a:r>
                        <a:rPr sz="1900" b="0" i="0">
                          <a:solidFill>
                            <a:srgbClr val="1F2D33"/>
                          </a:solidFill>
                        </a:rPr>
                        <a:t>0.56 to 0.76</a:t>
                      </a:r>
                    </a:p>
                  </a:txBody>
                  <a:tcPr marL="73152" marR="73152" marT="36576" marB="36576">
                    <a:solidFill>
                      <a:srgbClr val="EAF2F5"/>
                    </a:solidFill>
                  </a:tcPr>
                </a:tc>
                <a:tc>
                  <a:txBody>
                    <a:bodyPr/>
                    <a:lstStyle/>
                    <a:p>
                      <a:r>
                        <a:rPr sz="1900" b="0" i="0">
                          <a:solidFill>
                            <a:srgbClr val="1F2D33"/>
                          </a:solidFill>
                        </a:rPr>
                        <a:t>Mean SBP 0.66 mmHg higher per year of age</a:t>
                      </a:r>
                    </a:p>
                  </a:txBody>
                  <a:tcPr marL="73152" marR="73152" marT="36576" marB="36576">
                    <a:solidFill>
                      <a:srgbClr val="EAF2F5"/>
                    </a:solidFill>
                  </a:tcPr>
                </a:tc>
              </a:tr>
              <a:tr h="457200">
                <a:tc>
                  <a:txBody>
                    <a:bodyPr/>
                    <a:lstStyle/>
                    <a:p>
                      <a:r>
                        <a:rPr sz="1900" b="0" i="0">
                          <a:solidFill>
                            <a:srgbClr val="1F2D33"/>
                          </a:solidFill>
                        </a:rPr>
                        <a:t>age10 (per 10 years)</a:t>
                      </a:r>
                    </a:p>
                  </a:txBody>
                  <a:tcPr marL="73152" marR="73152" marT="36576" marB="36576">
                    <a:solidFill>
                      <a:srgbClr val="FFFFFF"/>
                    </a:solidFill>
                  </a:tcPr>
                </a:tc>
                <a:tc>
                  <a:txBody>
                    <a:bodyPr/>
                    <a:lstStyle/>
                    <a:p>
                      <a:r>
                        <a:rPr sz="1900" b="0" i="0">
                          <a:solidFill>
                            <a:srgbClr val="1F2D33"/>
                          </a:solidFill>
                        </a:rPr>
                        <a:t>6.6</a:t>
                      </a:r>
                    </a:p>
                  </a:txBody>
                  <a:tcPr marL="73152" marR="73152" marT="36576" marB="36576">
                    <a:solidFill>
                      <a:srgbClr val="FFFFFF"/>
                    </a:solidFill>
                  </a:tcPr>
                </a:tc>
                <a:tc>
                  <a:txBody>
                    <a:bodyPr/>
                    <a:lstStyle/>
                    <a:p>
                      <a:r>
                        <a:rPr sz="1900" b="0" i="0">
                          <a:solidFill>
                            <a:srgbClr val="1F2D33"/>
                          </a:solidFill>
                        </a:rPr>
                        <a:t>5.6 to 7.6</a:t>
                      </a:r>
                    </a:p>
                  </a:txBody>
                  <a:tcPr marL="73152" marR="73152" marT="36576" marB="36576">
                    <a:solidFill>
                      <a:srgbClr val="FFFFFF"/>
                    </a:solidFill>
                  </a:tcPr>
                </a:tc>
                <a:tc>
                  <a:txBody>
                    <a:bodyPr/>
                    <a:lstStyle/>
                    <a:p>
                      <a:r>
                        <a:rPr sz="1900" b="0" i="0">
                          <a:solidFill>
                            <a:srgbClr val="1F2D33"/>
                          </a:solidFill>
                        </a:rPr>
                        <a:t>Mean SBP 6.6 mmHg higher per decade</a:t>
                      </a:r>
                    </a:p>
                  </a:txBody>
                  <a:tcPr marL="73152" marR="73152" marT="36576" marB="36576">
                    <a:solidFill>
                      <a:srgbClr val="FFFFFF"/>
                    </a:solidFill>
                  </a:tcPr>
                </a:tc>
              </a:tr>
            </a:tbl>
          </a:graphicData>
        </a:graphic>
      </p:graphicFrame>
      <p:sp>
        <p:nvSpPr>
          <p:cNvPr id="5" name="TextBox 4"/>
          <p:cNvSpPr txBox="1"/>
          <p:nvPr/>
        </p:nvSpPr>
        <p:spPr>
          <a:xfrm>
            <a:off x="429768" y="3538728"/>
            <a:ext cx="11332159" cy="260604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R² = 0.25: age accounts for a quarter of the variation in SBP</a:t>
            </a:r>
          </a:p>
          <a:p>
            <a:pPr>
              <a:spcAft>
                <a:spcPts val="1000"/>
              </a:spcAft>
            </a:pPr>
            <a:r>
              <a:rPr sz="1300" b="0" i="0">
                <a:solidFill>
                  <a:srgbClr val="0D7377"/>
                </a:solidFill>
              </a:rPr>
              <a:t>●  </a:t>
            </a:r>
            <a:r>
              <a:rPr sz="1900" b="0" i="0">
                <a:solidFill>
                  <a:srgbClr val="1F2D33"/>
                </a:solidFill>
              </a:rPr>
              <a:t>Residual standard error 13.5 mmHg: typical distance of a person from the line</a:t>
            </a:r>
          </a:p>
          <a:p>
            <a:pPr>
              <a:spcAft>
                <a:spcPts val="1000"/>
              </a:spcAft>
            </a:pPr>
            <a:r>
              <a:rPr sz="1300" b="0" i="0">
                <a:solidFill>
                  <a:srgbClr val="0D7377"/>
                </a:solidFill>
              </a:rPr>
              <a:t>●  </a:t>
            </a:r>
            <a:r>
              <a:rPr sz="1900" b="0" i="0">
                <a:solidFill>
                  <a:srgbClr val="1F2D33"/>
                </a:solidFill>
              </a:rPr>
              <a:t>Rescale predictors (e.g. per 10 years) so the slope is a meaningful difference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Assumptions of linear regression</a:t>
            </a:r>
          </a:p>
        </p:txBody>
      </p:sp>
      <p:sp>
        <p:nvSpPr>
          <p:cNvPr id="3" name="Slide Number Placeholder 2"/>
          <p:cNvSpPr>
            <a:spLocks noGrp="1"/>
          </p:cNvSpPr>
          <p:nvPr>
            <p:ph type="sldNum" idx="12" sz="quarter"/>
          </p:nvPr>
        </p:nvSpPr>
        <p:spPr/>
        <p:txBody>
          <a:bodyPr/>
          <a:lstStyle/>
          <a:p>
            <a:fld id="{B6F15528-21DE-4FAA-801E-634DDDAF4B2B}" type="slidenum">
              <a:rPr lang="en-GB"/>
              <a:t>14</a:t>
            </a:fld>
          </a:p>
        </p:txBody>
      </p:sp>
      <p:sp>
        <p:nvSpPr>
          <p:cNvPr id="4" name="TextBox 3"/>
          <p:cNvSpPr txBox="1"/>
          <p:nvPr/>
        </p:nvSpPr>
        <p:spPr>
          <a:xfrm>
            <a:off x="429768" y="1389888"/>
            <a:ext cx="11332159" cy="475488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Independent observations: comes from the design, not from a plot</a:t>
            </a:r>
          </a:p>
          <a:p>
            <a:pPr>
              <a:spcAft>
                <a:spcPts val="1000"/>
              </a:spcAft>
            </a:pPr>
            <a:r>
              <a:rPr sz="1600" b="0" i="0">
                <a:solidFill>
                  <a:srgbClr val="0D7377"/>
                </a:solidFill>
              </a:rPr>
              <a:t>●  </a:t>
            </a:r>
            <a:r>
              <a:rPr sz="2200" b="0" i="0">
                <a:solidFill>
                  <a:srgbClr val="1F2D33"/>
                </a:solidFill>
              </a:rPr>
              <a:t>Linearity: the mean outcome changes in a straight line with each predictor</a:t>
            </a:r>
          </a:p>
          <a:p>
            <a:pPr>
              <a:spcAft>
                <a:spcPts val="1000"/>
              </a:spcAft>
            </a:pPr>
            <a:r>
              <a:rPr sz="1600" b="0" i="0">
                <a:solidFill>
                  <a:srgbClr val="0D7377"/>
                </a:solidFill>
              </a:rPr>
              <a:t>●  </a:t>
            </a:r>
            <a:r>
              <a:rPr sz="2200" b="0" i="0">
                <a:solidFill>
                  <a:srgbClr val="1F2D33"/>
                </a:solidFill>
              </a:rPr>
              <a:t>Constant spread: residuals have similar variance across fitted values</a:t>
            </a:r>
          </a:p>
          <a:p>
            <a:pPr>
              <a:spcAft>
                <a:spcPts val="1000"/>
              </a:spcAft>
            </a:pPr>
            <a:r>
              <a:rPr sz="1600" b="0" i="0">
                <a:solidFill>
                  <a:srgbClr val="0D7377"/>
                </a:solidFill>
              </a:rPr>
              <a:t>●  </a:t>
            </a:r>
            <a:r>
              <a:rPr sz="2200" b="0" i="0">
                <a:solidFill>
                  <a:srgbClr val="1F2D33"/>
                </a:solidFill>
              </a:rPr>
              <a:t>Approximately normal residuals: matters least with large samples</a:t>
            </a:r>
          </a:p>
          <a:p>
            <a:pPr>
              <a:spcAft>
                <a:spcPts val="1000"/>
              </a:spcAft>
            </a:pPr>
            <a:r>
              <a:rPr sz="1600" b="0" i="0">
                <a:solidFill>
                  <a:srgbClr val="0D7377"/>
                </a:solidFill>
              </a:rPr>
              <a:t>●  </a:t>
            </a:r>
            <a:r>
              <a:rPr sz="2200" b="0" i="0">
                <a:solidFill>
                  <a:srgbClr val="1F2D33"/>
                </a:solidFill>
              </a:rPr>
              <a:t>The OUTCOME does not need to be normally distributed; the residuals are what we check</a:t>
            </a:r>
          </a:p>
          <a:p>
            <a:pPr>
              <a:spcAft>
                <a:spcPts val="1000"/>
              </a:spcAft>
            </a:pPr>
            <a:r>
              <a:rPr sz="1600" b="0" i="0">
                <a:solidFill>
                  <a:srgbClr val="0D7377"/>
                </a:solidFill>
              </a:rPr>
              <a:t>●  </a:t>
            </a:r>
            <a:r>
              <a:rPr sz="2200" b="0" i="0">
                <a:solidFill>
                  <a:srgbClr val="1F2D33"/>
                </a:solidFill>
              </a:rPr>
              <a:t>Watch for single points with large influence on the fit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Checking residuals</a:t>
            </a:r>
          </a:p>
        </p:txBody>
      </p:sp>
      <p:sp>
        <p:nvSpPr>
          <p:cNvPr id="3" name="Slide Number Placeholder 2"/>
          <p:cNvSpPr>
            <a:spLocks noGrp="1"/>
          </p:cNvSpPr>
          <p:nvPr>
            <p:ph type="sldNum" idx="12" sz="quarter"/>
          </p:nvPr>
        </p:nvSpPr>
        <p:spPr/>
        <p:txBody>
          <a:bodyPr/>
          <a:lstStyle/>
          <a:p>
            <a:fld id="{B6F15528-21DE-4FAA-801E-634DDDAF4B2B}" type="slidenum">
              <a:rPr lang="en-GB"/>
              <a:t>15</a:t>
            </a:fld>
          </a:p>
        </p:txBody>
      </p:sp>
      <p:pic>
        <p:nvPicPr>
          <p:cNvPr id="4" name="Picture 3" descr="f_residuals.png"/>
          <p:cNvPicPr>
            <a:picLocks noChangeAspect="1"/>
          </p:cNvPicPr>
          <p:nvPr/>
        </p:nvPicPr>
        <p:blipFill>
          <a:blip r:embed="rId3"/>
          <a:stretch>
            <a:fillRect/>
          </a:stretch>
        </p:blipFill>
        <p:spPr>
          <a:xfrm>
            <a:off x="787247" y="1344168"/>
            <a:ext cx="10617200" cy="4343400"/>
          </a:xfrm>
          <a:prstGeom prst="rect">
            <a:avLst/>
          </a:prstGeom>
        </p:spPr>
      </p:pic>
      <p:sp>
        <p:nvSpPr>
          <p:cNvPr id="5" name="TextBox 4"/>
          <p:cNvSpPr txBox="1"/>
          <p:nvPr/>
        </p:nvSpPr>
        <p:spPr>
          <a:xfrm>
            <a:off x="429768" y="5733288"/>
            <a:ext cx="11332159" cy="411480"/>
          </a:xfrm>
          <a:prstGeom prst="rect">
            <a:avLst/>
          </a:prstGeom>
          <a:noFill/>
        </p:spPr>
        <p:txBody>
          <a:bodyPr wrap="square" anchor="t" lIns="45720" rIns="45720">
            <a:spAutoFit/>
          </a:bodyPr>
          <a:lstStyle/>
          <a:p>
            <a:pPr algn="ctr"/>
            <a:r>
              <a:rPr sz="1500" b="0" i="0">
                <a:solidFill>
                  <a:srgbClr val="0070C0"/>
                </a:solidFill>
              </a:rPr>
              <a:t>Left: SBP on age, no pattern. Right: a curved relationship forced into a straight line leaves a clear pattern.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Categorical predictors: t-tests and ANOVA are regressions</a:t>
            </a:r>
          </a:p>
        </p:txBody>
      </p:sp>
      <p:sp>
        <p:nvSpPr>
          <p:cNvPr id="3" name="Slide Number Placeholder 2"/>
          <p:cNvSpPr>
            <a:spLocks noGrp="1"/>
          </p:cNvSpPr>
          <p:nvPr>
            <p:ph type="sldNum" idx="12" sz="quarter"/>
          </p:nvPr>
        </p:nvSpPr>
        <p:spPr/>
        <p:txBody>
          <a:bodyPr/>
          <a:lstStyle/>
          <a:p>
            <a:fld id="{B6F15528-21DE-4FAA-801E-634DDDAF4B2B}" type="slidenum">
              <a:rPr lang="en-GB"/>
              <a:t>16</a:t>
            </a:fld>
          </a:p>
        </p:txBody>
      </p:sp>
      <p:sp>
        <p:nvSpPr>
          <p:cNvPr id="4" name="TextBox 3"/>
          <p:cNvSpPr txBox="1"/>
          <p:nvPr/>
        </p:nvSpPr>
        <p:spPr>
          <a:xfrm>
            <a:off x="429768" y="1389888"/>
            <a:ext cx="11332159" cy="475488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A binary predictor gives the difference in means: same as a Student t-test</a:t>
            </a:r>
          </a:p>
          <a:p>
            <a:pPr>
              <a:spcAft>
                <a:spcPts val="1000"/>
              </a:spcAft>
            </a:pPr>
            <a:r>
              <a:rPr sz="1600" b="0" i="0">
                <a:solidFill>
                  <a:srgbClr val="0D7377"/>
                </a:solidFill>
              </a:rPr>
              <a:t>●  </a:t>
            </a:r>
            <a:r>
              <a:rPr sz="2200" b="0" i="0">
                <a:solidFill>
                  <a:srgbClr val="1F2D33"/>
                </a:solidFill>
              </a:rPr>
              <a:t>A predictor with k categories becomes k - 1 indicator (dummy) variables</a:t>
            </a:r>
          </a:p>
          <a:p>
            <a:pPr>
              <a:spcAft>
                <a:spcPts val="500"/>
              </a:spcAft>
            </a:pPr>
            <a:r>
              <a:rPr sz="1900" b="0" i="0">
                <a:solidFill>
                  <a:srgbClr val="8A99A3"/>
                </a:solidFill>
              </a:rPr>
              <a:t>        –  </a:t>
            </a:r>
            <a:r>
              <a:rPr sz="1900" b="0" i="0">
                <a:solidFill>
                  <a:srgbClr val="8A99A3"/>
                </a:solidFill>
              </a:rPr>
              <a:t>Each coefficient is a difference from the reference level</a:t>
            </a:r>
          </a:p>
          <a:p>
            <a:pPr>
              <a:spcAft>
                <a:spcPts val="1000"/>
              </a:spcAft>
            </a:pPr>
            <a:r>
              <a:rPr sz="1600" b="0" i="0">
                <a:solidFill>
                  <a:srgbClr val="0D7377"/>
                </a:solidFill>
              </a:rPr>
              <a:t>●  </a:t>
            </a:r>
            <a:r>
              <a:rPr sz="2200" b="0" i="0">
                <a:solidFill>
                  <a:srgbClr val="1F2D33"/>
                </a:solidFill>
              </a:rPr>
              <a:t>SBP by district, adjusted for age and sex (reference North):</a:t>
            </a:r>
          </a:p>
          <a:p>
            <a:pPr>
              <a:spcAft>
                <a:spcPts val="500"/>
              </a:spcAft>
            </a:pPr>
            <a:r>
              <a:rPr sz="1900" b="0" i="0">
                <a:solidFill>
                  <a:srgbClr val="8A99A3"/>
                </a:solidFill>
              </a:rPr>
              <a:t>        –  </a:t>
            </a:r>
            <a:r>
              <a:rPr sz="1900" b="0" i="0">
                <a:solidFill>
                  <a:srgbClr val="8A99A3"/>
                </a:solidFill>
              </a:rPr>
              <a:t>South +5.7 mmHg (2.3 to 9.1); East +2.0 (-1.3 to 5.3); West -1.6 (-4.9 to 1.7)</a:t>
            </a:r>
          </a:p>
          <a:p>
            <a:pPr>
              <a:spcAft>
                <a:spcPts val="1000"/>
              </a:spcAft>
            </a:pPr>
            <a:r>
              <a:rPr sz="1600" b="0" i="0">
                <a:solidFill>
                  <a:srgbClr val="0D7377"/>
                </a:solidFill>
              </a:rPr>
              <a:t>●  </a:t>
            </a:r>
            <a:r>
              <a:rPr sz="2200" b="0" i="0">
                <a:solidFill>
                  <a:srgbClr val="1F2D33"/>
                </a:solidFill>
              </a:rPr>
              <a:t>Regression lets us compare groups while adjusting for other variables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regression and confounding</a:t>
            </a:r>
          </a:p>
        </p:txBody>
      </p:sp>
      <p:sp>
        <p:nvSpPr>
          <p:cNvPr id="3" name="Text Placeholder 2"/>
          <p:cNvSpPr>
            <a:spLocks noGrp="1"/>
          </p:cNvSpPr>
          <p:nvPr>
            <p:ph type="body" idx="1"/>
          </p:nvPr>
        </p:nvSpPr>
        <p:spPr/>
        <p:txBody>
          <a:bodyPr/>
          <a:lstStyle/>
          <a:p>
            <a:r>
              <a:t>Part 3. Adjusted associations, confounders and mediators</a:t>
            </a:r>
          </a:p>
        </p:txBody>
      </p:sp>
      <p:sp>
        <p:nvSpPr>
          <p:cNvPr id="4" name="Slide Number Placeholder 3"/>
          <p:cNvSpPr>
            <a:spLocks noGrp="1"/>
          </p:cNvSpPr>
          <p:nvPr>
            <p:ph type="sldNum" idx="12" sz="quarter"/>
          </p:nvPr>
        </p:nvSpPr>
        <p:spPr/>
        <p:txBody>
          <a:bodyPr/>
          <a:lstStyle/>
          <a:p>
            <a:fld id="{B6F15528-21DE-4FAA-801E-634DDDAF4B2B}" type="slidenum">
              <a:rPr lang="en-GB"/>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adjust?</a:t>
            </a:r>
          </a:p>
        </p:txBody>
      </p:sp>
      <p:sp>
        <p:nvSpPr>
          <p:cNvPr id="3" name="Slide Number Placeholder 2"/>
          <p:cNvSpPr>
            <a:spLocks noGrp="1"/>
          </p:cNvSpPr>
          <p:nvPr>
            <p:ph type="sldNum" idx="12" sz="quarter"/>
          </p:nvPr>
        </p:nvSpPr>
        <p:spPr/>
        <p:txBody>
          <a:bodyPr/>
          <a:lstStyle/>
          <a:p>
            <a:fld id="{B6F15528-21DE-4FAA-801E-634DDDAF4B2B}" type="slidenum">
              <a:rPr lang="en-GB"/>
              <a:t>18</a:t>
            </a:fld>
          </a:p>
        </p:txBody>
      </p:sp>
      <p:sp>
        <p:nvSpPr>
          <p:cNvPr id="4" name="TextBox 3"/>
          <p:cNvSpPr txBox="1"/>
          <p:nvPr/>
        </p:nvSpPr>
        <p:spPr>
          <a:xfrm>
            <a:off x="429768" y="1389888"/>
            <a:ext cx="11332159" cy="379476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Question: is physical activity associated with lower SBP?</a:t>
            </a:r>
          </a:p>
          <a:p>
            <a:pPr>
              <a:spcAft>
                <a:spcPts val="1000"/>
              </a:spcAft>
            </a:pPr>
            <a:r>
              <a:rPr sz="1600" b="0" i="0">
                <a:solidFill>
                  <a:srgbClr val="0D7377"/>
                </a:solidFill>
              </a:rPr>
              <a:t>●  </a:t>
            </a:r>
            <a:r>
              <a:rPr sz="2200" b="0" i="0">
                <a:solidFill>
                  <a:srgbClr val="1F2D33"/>
                </a:solidFill>
              </a:rPr>
              <a:t>Crude: each extra hour of activity per week, SBP 2.1 mmHg lower</a:t>
            </a:r>
          </a:p>
          <a:p>
            <a:pPr>
              <a:spcAft>
                <a:spcPts val="1000"/>
              </a:spcAft>
            </a:pPr>
            <a:r>
              <a:rPr sz="1600" b="0" i="0">
                <a:solidFill>
                  <a:srgbClr val="0D7377"/>
                </a:solidFill>
              </a:rPr>
              <a:t>●  </a:t>
            </a:r>
            <a:r>
              <a:rPr sz="2200" b="0" i="0">
                <a:solidFill>
                  <a:srgbClr val="1F2D33"/>
                </a:solidFill>
              </a:rPr>
              <a:t>But older people are less active (r = -0.19) and have higher SBP</a:t>
            </a:r>
          </a:p>
          <a:p>
            <a:pPr>
              <a:spcAft>
                <a:spcPts val="1000"/>
              </a:spcAft>
            </a:pPr>
            <a:r>
              <a:rPr sz="1600" b="0" i="0">
                <a:solidFill>
                  <a:srgbClr val="0D7377"/>
                </a:solidFill>
              </a:rPr>
              <a:t>●  </a:t>
            </a:r>
            <a:r>
              <a:rPr sz="2200" b="0" i="0">
                <a:solidFill>
                  <a:srgbClr val="1F2D33"/>
                </a:solidFill>
              </a:rPr>
              <a:t>Part of the crude association may reflect age</a:t>
            </a:r>
          </a:p>
          <a:p>
            <a:pPr>
              <a:spcAft>
                <a:spcPts val="1000"/>
              </a:spcAft>
            </a:pPr>
            <a:r>
              <a:rPr sz="1600" b="0" i="0">
                <a:solidFill>
                  <a:srgbClr val="0D7377"/>
                </a:solidFill>
              </a:rPr>
              <a:t>●  </a:t>
            </a:r>
            <a:r>
              <a:rPr sz="2200" b="0" i="0">
                <a:solidFill>
                  <a:srgbClr val="1F2D33"/>
                </a:solidFill>
              </a:rPr>
              <a:t>Multiple regression compares people with the same values of the other variables</a:t>
            </a:r>
          </a:p>
        </p:txBody>
      </p:sp>
      <p:sp>
        <p:nvSpPr>
          <p:cNvPr id="5" name="Rectangle 4"/>
          <p:cNvSpPr/>
          <p:nvPr/>
        </p:nvSpPr>
        <p:spPr>
          <a:xfrm>
            <a:off x="429768" y="5276088"/>
            <a:ext cx="11332159" cy="822960"/>
          </a:xfrm>
          <a:prstGeom prst="rect">
            <a:avLst/>
          </a:prstGeom>
          <a:solidFill>
            <a:srgbClr val="EA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182880"/>
          <a:lstStyle/>
          <a:p>
            <a:pPr algn="ctr"/>
            <a:r>
              <a:rPr sz="1700" b="0" i="0">
                <a:solidFill>
                  <a:srgbClr val="04242F"/>
                </a:solidFill>
              </a:rPr>
              <a:t>Model: SBP = b0 + b1 × activity + b2 × age + b3 × male + error</a:t>
            </a:r>
          </a:p>
        </p:txBody>
      </p:sp>
      <p:sp>
        <p:nvSpPr>
          <p:cNvPr id="6" name="Rectangle 5"/>
          <p:cNvSpPr/>
          <p:nvPr/>
        </p:nvSpPr>
        <p:spPr>
          <a:xfrm>
            <a:off x="429768" y="5276088"/>
            <a:ext cx="82296" cy="822960"/>
          </a:xfrm>
          <a:prstGeom prst="rect">
            <a:avLst/>
          </a:prstGeom>
          <a:solidFill>
            <a:srgbClr val="05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Confounder: a common cause</a:t>
            </a:r>
          </a:p>
        </p:txBody>
      </p:sp>
      <p:sp>
        <p:nvSpPr>
          <p:cNvPr id="3" name="Slide Number Placeholder 2"/>
          <p:cNvSpPr>
            <a:spLocks noGrp="1"/>
          </p:cNvSpPr>
          <p:nvPr>
            <p:ph type="sldNum" idx="12" sz="quarter"/>
          </p:nvPr>
        </p:nvSpPr>
        <p:spPr/>
        <p:txBody>
          <a:bodyPr/>
          <a:lstStyle/>
          <a:p>
            <a:fld id="{B6F15528-21DE-4FAA-801E-634DDDAF4B2B}" type="slidenum">
              <a:rPr lang="en-GB"/>
              <a:t>19</a:t>
            </a:fld>
          </a:p>
        </p:txBody>
      </p:sp>
      <p:sp>
        <p:nvSpPr>
          <p:cNvPr id="4" name="TextBox 3"/>
          <p:cNvSpPr txBox="1"/>
          <p:nvPr/>
        </p:nvSpPr>
        <p:spPr>
          <a:xfrm>
            <a:off x="429768" y="1389888"/>
            <a:ext cx="5099471" cy="475488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Age affects activity and affects SBP</a:t>
            </a:r>
          </a:p>
          <a:p>
            <a:pPr>
              <a:spcAft>
                <a:spcPts val="1000"/>
              </a:spcAft>
            </a:pPr>
            <a:r>
              <a:rPr sz="1300" b="0" i="0">
                <a:solidFill>
                  <a:srgbClr val="0D7377"/>
                </a:solidFill>
              </a:rPr>
              <a:t>●  </a:t>
            </a:r>
            <a:r>
              <a:rPr sz="1900" b="0" i="0">
                <a:solidFill>
                  <a:srgbClr val="1F2D33"/>
                </a:solidFill>
              </a:rPr>
              <a:t>It is not on the path from activity to SBP</a:t>
            </a:r>
          </a:p>
          <a:p>
            <a:pPr>
              <a:spcAft>
                <a:spcPts val="1000"/>
              </a:spcAft>
            </a:pPr>
            <a:r>
              <a:rPr sz="1300" b="0" i="0">
                <a:solidFill>
                  <a:srgbClr val="0D7377"/>
                </a:solidFill>
              </a:rPr>
              <a:t>●  </a:t>
            </a:r>
            <a:r>
              <a:rPr sz="1900" b="0" i="0">
                <a:solidFill>
                  <a:srgbClr val="1F2D33"/>
                </a:solidFill>
              </a:rPr>
              <a:t>Ignoring it mixes the effect of age into the activity estimate</a:t>
            </a:r>
          </a:p>
          <a:p>
            <a:pPr>
              <a:spcAft>
                <a:spcPts val="1000"/>
              </a:spcAft>
            </a:pPr>
            <a:r>
              <a:rPr sz="1300" b="0" i="0">
                <a:solidFill>
                  <a:srgbClr val="0D7377"/>
                </a:solidFill>
              </a:rPr>
              <a:t>●  </a:t>
            </a:r>
            <a:r>
              <a:rPr sz="1900" b="0" i="0">
                <a:solidFill>
                  <a:srgbClr val="1F2D33"/>
                </a:solidFill>
              </a:rPr>
              <a:t>Adjust for confounders to estimate the activity association</a:t>
            </a:r>
          </a:p>
        </p:txBody>
      </p:sp>
      <p:pic>
        <p:nvPicPr>
          <p:cNvPr id="5" name="Picture 4" descr="dag_confounder.png"/>
          <p:cNvPicPr>
            <a:picLocks noChangeAspect="1"/>
          </p:cNvPicPr>
          <p:nvPr/>
        </p:nvPicPr>
        <p:blipFill>
          <a:blip r:embed="rId3"/>
          <a:stretch>
            <a:fillRect/>
          </a:stretch>
        </p:blipFill>
        <p:spPr>
          <a:xfrm>
            <a:off x="5712119" y="1981952"/>
            <a:ext cx="6049808" cy="3570751"/>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Mediator: on the causal path</a:t>
            </a:r>
          </a:p>
        </p:txBody>
      </p:sp>
      <p:sp>
        <p:nvSpPr>
          <p:cNvPr id="3" name="Slide Number Placeholder 2"/>
          <p:cNvSpPr>
            <a:spLocks noGrp="1"/>
          </p:cNvSpPr>
          <p:nvPr>
            <p:ph type="sldNum" idx="12" sz="quarter"/>
          </p:nvPr>
        </p:nvSpPr>
        <p:spPr/>
        <p:txBody>
          <a:bodyPr/>
          <a:lstStyle/>
          <a:p>
            <a:fld id="{B6F15528-21DE-4FAA-801E-634DDDAF4B2B}" type="slidenum">
              <a:rPr lang="en-GB"/>
              <a:t>20</a:t>
            </a:fld>
          </a:p>
        </p:txBody>
      </p:sp>
      <p:sp>
        <p:nvSpPr>
          <p:cNvPr id="4" name="TextBox 3"/>
          <p:cNvSpPr txBox="1"/>
          <p:nvPr/>
        </p:nvSpPr>
        <p:spPr>
          <a:xfrm>
            <a:off x="429768" y="1389888"/>
            <a:ext cx="5099471" cy="475488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Activity may lower BMI, and BMI raises SBP</a:t>
            </a:r>
          </a:p>
          <a:p>
            <a:pPr>
              <a:spcAft>
                <a:spcPts val="1000"/>
              </a:spcAft>
            </a:pPr>
            <a:r>
              <a:rPr sz="1300" b="0" i="0">
                <a:solidFill>
                  <a:srgbClr val="0D7377"/>
                </a:solidFill>
              </a:rPr>
              <a:t>●  </a:t>
            </a:r>
            <a:r>
              <a:rPr sz="1900" b="0" i="0">
                <a:solidFill>
                  <a:srgbClr val="1F2D33"/>
                </a:solidFill>
              </a:rPr>
              <a:t>BMI carries part of the effect of activity</a:t>
            </a:r>
          </a:p>
          <a:p>
            <a:pPr>
              <a:spcAft>
                <a:spcPts val="1000"/>
              </a:spcAft>
            </a:pPr>
            <a:r>
              <a:rPr sz="1300" b="0" i="0">
                <a:solidFill>
                  <a:srgbClr val="0D7377"/>
                </a:solidFill>
              </a:rPr>
              <a:t>●  </a:t>
            </a:r>
            <a:r>
              <a:rPr sz="1900" b="0" i="0">
                <a:solidFill>
                  <a:srgbClr val="1F2D33"/>
                </a:solidFill>
              </a:rPr>
              <a:t>Adjusting for BMI removes that part</a:t>
            </a:r>
          </a:p>
          <a:p>
            <a:pPr>
              <a:spcAft>
                <a:spcPts val="1000"/>
              </a:spcAft>
            </a:pPr>
            <a:r>
              <a:rPr sz="1300" b="0" i="0">
                <a:solidFill>
                  <a:srgbClr val="0D7377"/>
                </a:solidFill>
              </a:rPr>
              <a:t>●  </a:t>
            </a:r>
            <a:r>
              <a:rPr sz="1900" b="0" i="0">
                <a:solidFill>
                  <a:srgbClr val="1F2D33"/>
                </a:solidFill>
              </a:rPr>
              <a:t>The result is a different quantity: the association not through BMI</a:t>
            </a:r>
          </a:p>
        </p:txBody>
      </p:sp>
      <p:pic>
        <p:nvPicPr>
          <p:cNvPr id="5" name="Picture 4" descr="dag_mediator.png"/>
          <p:cNvPicPr>
            <a:picLocks noChangeAspect="1"/>
          </p:cNvPicPr>
          <p:nvPr/>
        </p:nvPicPr>
        <p:blipFill>
          <a:blip r:embed="rId3"/>
          <a:stretch>
            <a:fillRect/>
          </a:stretch>
        </p:blipFill>
        <p:spPr>
          <a:xfrm>
            <a:off x="5712119" y="1981952"/>
            <a:ext cx="6049808" cy="3570751"/>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Crude, adjusted and mediator-adjusted estimates</a:t>
            </a:r>
          </a:p>
        </p:txBody>
      </p:sp>
      <p:sp>
        <p:nvSpPr>
          <p:cNvPr id="3" name="Slide Number Placeholder 2"/>
          <p:cNvSpPr>
            <a:spLocks noGrp="1"/>
          </p:cNvSpPr>
          <p:nvPr>
            <p:ph type="sldNum" idx="12" sz="quarter"/>
          </p:nvPr>
        </p:nvSpPr>
        <p:spPr/>
        <p:txBody>
          <a:bodyPr/>
          <a:lstStyle/>
          <a:p>
            <a:fld id="{B6F15528-21DE-4FAA-801E-634DDDAF4B2B}" type="slidenum">
              <a:rPr lang="en-GB"/>
              <a:t>21</a:t>
            </a:fld>
          </a:p>
        </p:txBody>
      </p:sp>
      <p:pic>
        <p:nvPicPr>
          <p:cNvPr id="4" name="Picture 3" descr="f_crude_adjusted.png"/>
          <p:cNvPicPr>
            <a:picLocks noChangeAspect="1"/>
          </p:cNvPicPr>
          <p:nvPr/>
        </p:nvPicPr>
        <p:blipFill>
          <a:blip r:embed="rId3"/>
          <a:stretch>
            <a:fillRect/>
          </a:stretch>
        </p:blipFill>
        <p:spPr>
          <a:xfrm>
            <a:off x="925133" y="1344168"/>
            <a:ext cx="10341428" cy="4343400"/>
          </a:xfrm>
          <a:prstGeom prst="rect">
            <a:avLst/>
          </a:prstGeom>
        </p:spPr>
      </p:pic>
      <p:sp>
        <p:nvSpPr>
          <p:cNvPr id="5" name="TextBox 4"/>
          <p:cNvSpPr txBox="1"/>
          <p:nvPr/>
        </p:nvSpPr>
        <p:spPr>
          <a:xfrm>
            <a:off x="429768" y="5733288"/>
            <a:ext cx="11332159" cy="411480"/>
          </a:xfrm>
          <a:prstGeom prst="rect">
            <a:avLst/>
          </a:prstGeom>
          <a:noFill/>
        </p:spPr>
        <p:txBody>
          <a:bodyPr wrap="square" anchor="t" lIns="45720" rIns="45720">
            <a:spAutoFit/>
          </a:bodyPr>
          <a:lstStyle/>
          <a:p>
            <a:pPr algn="ctr"/>
            <a:r>
              <a:rPr sz="1500" b="0" i="0">
                <a:solidFill>
                  <a:srgbClr val="0070C0"/>
                </a:solidFill>
              </a:rPr>
              <a:t>Activity coefficient (mmHg per hour/week) with 95% CI. Models 1 and 2 use 473 people, model 3 uses 463.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Choosing what to adjust for</a:t>
            </a:r>
          </a:p>
        </p:txBody>
      </p:sp>
      <p:sp>
        <p:nvSpPr>
          <p:cNvPr id="3" name="Slide Number Placeholder 2"/>
          <p:cNvSpPr>
            <a:spLocks noGrp="1"/>
          </p:cNvSpPr>
          <p:nvPr>
            <p:ph type="sldNum" idx="12" sz="quarter"/>
          </p:nvPr>
        </p:nvSpPr>
        <p:spPr/>
        <p:txBody>
          <a:bodyPr/>
          <a:lstStyle/>
          <a:p>
            <a:fld id="{B6F15528-21DE-4FAA-801E-634DDDAF4B2B}" type="slidenum">
              <a:rPr lang="en-GB"/>
              <a:t>22</a:t>
            </a:fld>
          </a:p>
        </p:txBody>
      </p:sp>
      <p:sp>
        <p:nvSpPr>
          <p:cNvPr id="4" name="TextBox 3"/>
          <p:cNvSpPr txBox="1"/>
          <p:nvPr/>
        </p:nvSpPr>
        <p:spPr>
          <a:xfrm>
            <a:off x="429768" y="1389888"/>
            <a:ext cx="11332159" cy="475488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Use subject knowledge and a causal diagram, not p-values or automatic stepwise selection</a:t>
            </a:r>
          </a:p>
          <a:p>
            <a:pPr>
              <a:spcAft>
                <a:spcPts val="1000"/>
              </a:spcAft>
            </a:pPr>
            <a:r>
              <a:rPr sz="1600" b="0" i="0">
                <a:solidFill>
                  <a:srgbClr val="0D7377"/>
                </a:solidFill>
              </a:rPr>
              <a:t>●  </a:t>
            </a:r>
            <a:r>
              <a:rPr sz="2200" b="0" i="0">
                <a:solidFill>
                  <a:srgbClr val="1F2D33"/>
                </a:solidFill>
              </a:rPr>
              <a:t>Adjust for confounders: common causes of exposure and outcome</a:t>
            </a:r>
          </a:p>
          <a:p>
            <a:pPr>
              <a:spcAft>
                <a:spcPts val="1000"/>
              </a:spcAft>
            </a:pPr>
            <a:r>
              <a:rPr sz="1600" b="0" i="0">
                <a:solidFill>
                  <a:srgbClr val="0D7377"/>
                </a:solidFill>
              </a:rPr>
              <a:t>●  </a:t>
            </a:r>
            <a:r>
              <a:rPr sz="2200" b="0" i="0">
                <a:solidFill>
                  <a:srgbClr val="1F2D33"/>
                </a:solidFill>
              </a:rPr>
              <a:t>Do not adjust for mediators if you want the total effect</a:t>
            </a:r>
          </a:p>
          <a:p>
            <a:pPr>
              <a:spcAft>
                <a:spcPts val="1000"/>
              </a:spcAft>
            </a:pPr>
            <a:r>
              <a:rPr sz="1600" b="0" i="0">
                <a:solidFill>
                  <a:srgbClr val="0D7377"/>
                </a:solidFill>
              </a:rPr>
              <a:t>●  </a:t>
            </a:r>
            <a:r>
              <a:rPr sz="2200" b="0" i="0">
                <a:solidFill>
                  <a:srgbClr val="1F2D33"/>
                </a:solidFill>
              </a:rPr>
              <a:t>Do not adjust for consequences of the outcome, or for colliders (common effects)</a:t>
            </a:r>
          </a:p>
          <a:p>
            <a:pPr>
              <a:spcAft>
                <a:spcPts val="1000"/>
              </a:spcAft>
            </a:pPr>
            <a:r>
              <a:rPr sz="1600" b="0" i="0">
                <a:solidFill>
                  <a:srgbClr val="0D7377"/>
                </a:solidFill>
              </a:rPr>
              <a:t>●  </a:t>
            </a:r>
            <a:r>
              <a:rPr sz="2200" b="0" i="0">
                <a:solidFill>
                  <a:srgbClr val="1F2D33"/>
                </a:solidFill>
              </a:rPr>
              <a:t>Keep enough data: as a rough guide, at least 10 to 20 observations per coefficient</a:t>
            </a:r>
          </a:p>
          <a:p>
            <a:pPr>
              <a:spcAft>
                <a:spcPts val="1000"/>
              </a:spcAft>
            </a:pPr>
            <a:r>
              <a:rPr sz="1600" b="0" i="0">
                <a:solidFill>
                  <a:srgbClr val="0D7377"/>
                </a:solidFill>
              </a:rPr>
              <a:t>●  </a:t>
            </a:r>
            <a:r>
              <a:rPr sz="2200" b="0" i="0">
                <a:solidFill>
                  <a:srgbClr val="1F2D33"/>
                </a:solidFill>
              </a:rPr>
              <a:t>Adjustment cannot fix unmeasured or poorly measured confounders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Interpreting a multiple regression</a:t>
            </a:r>
          </a:p>
        </p:txBody>
      </p:sp>
      <p:sp>
        <p:nvSpPr>
          <p:cNvPr id="3" name="Slide Number Placeholder 2"/>
          <p:cNvSpPr>
            <a:spLocks noGrp="1"/>
          </p:cNvSpPr>
          <p:nvPr>
            <p:ph type="sldNum" idx="12" sz="quarter"/>
          </p:nvPr>
        </p:nvSpPr>
        <p:spPr/>
        <p:txBody>
          <a:bodyPr/>
          <a:lstStyle/>
          <a:p>
            <a:fld id="{B6F15528-21DE-4FAA-801E-634DDDAF4B2B}" type="slidenum">
              <a:rPr lang="en-GB"/>
              <a:t>23</a:t>
            </a:fld>
          </a:p>
        </p:txBody>
      </p:sp>
      <p:graphicFrame>
        <p:nvGraphicFramePr>
          <p:cNvPr id="4" name="Table 3"/>
          <p:cNvGraphicFramePr>
            <a:graphicFrameLocks noGrp="1"/>
          </p:cNvGraphicFramePr>
          <p:nvPr/>
        </p:nvGraphicFramePr>
        <p:xfrm>
          <a:off x="429768" y="1435608"/>
          <a:ext cx="11332156" cy="1828800"/>
        </p:xfrm>
        <a:graphic>
          <a:graphicData uri="http://schemas.openxmlformats.org/drawingml/2006/table">
            <a:tbl>
              <a:tblPr firstRow="1" bandRow="1">
                <a:tableStyleId>{5C22544A-7EE6-4342-B048-85BDC9FD1C3A}</a:tableStyleId>
              </a:tblPr>
              <a:tblGrid>
                <a:gridCol w="2119021"/>
                <a:gridCol w="1474101"/>
                <a:gridCol w="2211152"/>
                <a:gridCol w="5527882"/>
              </a:tblGrid>
              <a:tr h="457200">
                <a:tc>
                  <a:txBody>
                    <a:bodyPr/>
                    <a:lstStyle/>
                    <a:p>
                      <a:r>
                        <a:rPr sz="1900" b="1" i="0">
                          <a:solidFill>
                            <a:srgbClr val="FFFFFF"/>
                          </a:solidFill>
                        </a:rPr>
                        <a:t>Term</a:t>
                      </a:r>
                    </a:p>
                  </a:txBody>
                  <a:tcPr marL="73152" marR="73152" marT="36576" marB="36576">
                    <a:solidFill>
                      <a:srgbClr val="04242F"/>
                    </a:solidFill>
                  </a:tcPr>
                </a:tc>
                <a:tc>
                  <a:txBody>
                    <a:bodyPr/>
                    <a:lstStyle/>
                    <a:p>
                      <a:r>
                        <a:rPr sz="1900" b="1" i="0">
                          <a:solidFill>
                            <a:srgbClr val="FFFFFF"/>
                          </a:solidFill>
                        </a:rPr>
                        <a:t>Estimate</a:t>
                      </a:r>
                    </a:p>
                  </a:txBody>
                  <a:tcPr marL="73152" marR="73152" marT="36576" marB="36576">
                    <a:solidFill>
                      <a:srgbClr val="04242F"/>
                    </a:solidFill>
                  </a:tcPr>
                </a:tc>
                <a:tc>
                  <a:txBody>
                    <a:bodyPr/>
                    <a:lstStyle/>
                    <a:p>
                      <a:r>
                        <a:rPr sz="1900" b="1" i="0">
                          <a:solidFill>
                            <a:srgbClr val="FFFFFF"/>
                          </a:solidFill>
                        </a:rPr>
                        <a:t>95% CI</a:t>
                      </a:r>
                    </a:p>
                  </a:txBody>
                  <a:tcPr marL="73152" marR="73152" marT="36576" marB="36576">
                    <a:solidFill>
                      <a:srgbClr val="04242F"/>
                    </a:solidFill>
                  </a:tcPr>
                </a:tc>
                <a:tc>
                  <a:txBody>
                    <a:bodyPr/>
                    <a:lstStyle/>
                    <a:p>
                      <a:r>
                        <a:rPr sz="1900" b="1" i="0">
                          <a:solidFill>
                            <a:srgbClr val="FFFFFF"/>
                          </a:solidFill>
                        </a:rPr>
                        <a:t>Interpretation</a:t>
                      </a:r>
                    </a:p>
                  </a:txBody>
                  <a:tcPr marL="73152" marR="73152" marT="36576" marB="36576">
                    <a:solidFill>
                      <a:srgbClr val="04242F"/>
                    </a:solidFill>
                  </a:tcPr>
                </a:tc>
              </a:tr>
              <a:tr h="457200">
                <a:tc>
                  <a:txBody>
                    <a:bodyPr/>
                    <a:lstStyle/>
                    <a:p>
                      <a:r>
                        <a:rPr sz="1900" b="0" i="0">
                          <a:solidFill>
                            <a:srgbClr val="1F2D33"/>
                          </a:solidFill>
                        </a:rPr>
                        <a:t>activity_hr</a:t>
                      </a:r>
                    </a:p>
                  </a:txBody>
                  <a:tcPr marL="73152" marR="73152" marT="36576" marB="36576">
                    <a:solidFill>
                      <a:srgbClr val="FFFFFF"/>
                    </a:solidFill>
                  </a:tcPr>
                </a:tc>
                <a:tc>
                  <a:txBody>
                    <a:bodyPr/>
                    <a:lstStyle/>
                    <a:p>
                      <a:r>
                        <a:rPr sz="1900" b="0" i="0">
                          <a:solidFill>
                            <a:srgbClr val="1F2D33"/>
                          </a:solidFill>
                        </a:rPr>
                        <a:t>-1.60</a:t>
                      </a:r>
                    </a:p>
                  </a:txBody>
                  <a:tcPr marL="73152" marR="73152" marT="36576" marB="36576">
                    <a:solidFill>
                      <a:srgbClr val="FFFFFF"/>
                    </a:solidFill>
                  </a:tcPr>
                </a:tc>
                <a:tc>
                  <a:txBody>
                    <a:bodyPr/>
                    <a:lstStyle/>
                    <a:p>
                      <a:r>
                        <a:rPr sz="1900" b="0" i="0">
                          <a:solidFill>
                            <a:srgbClr val="1F2D33"/>
                          </a:solidFill>
                        </a:rPr>
                        <a:t>-2.08 to -1.12</a:t>
                      </a:r>
                    </a:p>
                  </a:txBody>
                  <a:tcPr marL="73152" marR="73152" marT="36576" marB="36576">
                    <a:solidFill>
                      <a:srgbClr val="FFFFFF"/>
                    </a:solidFill>
                  </a:tcPr>
                </a:tc>
                <a:tc>
                  <a:txBody>
                    <a:bodyPr/>
                    <a:lstStyle/>
                    <a:p>
                      <a:r>
                        <a:rPr sz="1900" b="0" i="0">
                          <a:solidFill>
                            <a:srgbClr val="1F2D33"/>
                          </a:solidFill>
                        </a:rPr>
                        <a:t>Per extra hour/week, same age and sex</a:t>
                      </a:r>
                    </a:p>
                  </a:txBody>
                  <a:tcPr marL="73152" marR="73152" marT="36576" marB="36576">
                    <a:solidFill>
                      <a:srgbClr val="FFFFFF"/>
                    </a:solidFill>
                  </a:tcPr>
                </a:tc>
              </a:tr>
              <a:tr h="457200">
                <a:tc>
                  <a:txBody>
                    <a:bodyPr/>
                    <a:lstStyle/>
                    <a:p>
                      <a:r>
                        <a:rPr sz="1900" b="0" i="0">
                          <a:solidFill>
                            <a:srgbClr val="1F2D33"/>
                          </a:solidFill>
                        </a:rPr>
                        <a:t>age</a:t>
                      </a:r>
                    </a:p>
                  </a:txBody>
                  <a:tcPr marL="73152" marR="73152" marT="36576" marB="36576">
                    <a:solidFill>
                      <a:srgbClr val="EAF2F5"/>
                    </a:solidFill>
                  </a:tcPr>
                </a:tc>
                <a:tc>
                  <a:txBody>
                    <a:bodyPr/>
                    <a:lstStyle/>
                    <a:p>
                      <a:r>
                        <a:rPr sz="1900" b="0" i="0">
                          <a:solidFill>
                            <a:srgbClr val="1F2D33"/>
                          </a:solidFill>
                        </a:rPr>
                        <a:t>0.59</a:t>
                      </a:r>
                    </a:p>
                  </a:txBody>
                  <a:tcPr marL="73152" marR="73152" marT="36576" marB="36576">
                    <a:solidFill>
                      <a:srgbClr val="EAF2F5"/>
                    </a:solidFill>
                  </a:tcPr>
                </a:tc>
                <a:tc>
                  <a:txBody>
                    <a:bodyPr/>
                    <a:lstStyle/>
                    <a:p>
                      <a:r>
                        <a:rPr sz="1900" b="0" i="0">
                          <a:solidFill>
                            <a:srgbClr val="1F2D33"/>
                          </a:solidFill>
                        </a:rPr>
                        <a:t>0.49 to 0.69</a:t>
                      </a:r>
                    </a:p>
                  </a:txBody>
                  <a:tcPr marL="73152" marR="73152" marT="36576" marB="36576">
                    <a:solidFill>
                      <a:srgbClr val="EAF2F5"/>
                    </a:solidFill>
                  </a:tcPr>
                </a:tc>
                <a:tc>
                  <a:txBody>
                    <a:bodyPr/>
                    <a:lstStyle/>
                    <a:p>
                      <a:r>
                        <a:rPr sz="1900" b="0" i="0">
                          <a:solidFill>
                            <a:srgbClr val="1F2D33"/>
                          </a:solidFill>
                        </a:rPr>
                        <a:t>Per year of age, same activity and sex</a:t>
                      </a:r>
                    </a:p>
                  </a:txBody>
                  <a:tcPr marL="73152" marR="73152" marT="36576" marB="36576">
                    <a:solidFill>
                      <a:srgbClr val="EAF2F5"/>
                    </a:solidFill>
                  </a:tcPr>
                </a:tc>
              </a:tr>
              <a:tr h="457200">
                <a:tc>
                  <a:txBody>
                    <a:bodyPr/>
                    <a:lstStyle/>
                    <a:p>
                      <a:r>
                        <a:rPr sz="1900" b="0" i="0">
                          <a:solidFill>
                            <a:srgbClr val="1F2D33"/>
                          </a:solidFill>
                        </a:rPr>
                        <a:t>sexMale</a:t>
                      </a:r>
                    </a:p>
                  </a:txBody>
                  <a:tcPr marL="73152" marR="73152" marT="36576" marB="36576">
                    <a:solidFill>
                      <a:srgbClr val="FFFFFF"/>
                    </a:solidFill>
                  </a:tcPr>
                </a:tc>
                <a:tc>
                  <a:txBody>
                    <a:bodyPr/>
                    <a:lstStyle/>
                    <a:p>
                      <a:r>
                        <a:rPr sz="1900" b="0" i="0">
                          <a:solidFill>
                            <a:srgbClr val="1F2D33"/>
                          </a:solidFill>
                        </a:rPr>
                        <a:t>6.0</a:t>
                      </a:r>
                    </a:p>
                  </a:txBody>
                  <a:tcPr marL="73152" marR="73152" marT="36576" marB="36576">
                    <a:solidFill>
                      <a:srgbClr val="FFFFFF"/>
                    </a:solidFill>
                  </a:tcPr>
                </a:tc>
                <a:tc>
                  <a:txBody>
                    <a:bodyPr/>
                    <a:lstStyle/>
                    <a:p>
                      <a:r>
                        <a:rPr sz="1900" b="0" i="0">
                          <a:solidFill>
                            <a:srgbClr val="1F2D33"/>
                          </a:solidFill>
                        </a:rPr>
                        <a:t>3.7 to 8.3</a:t>
                      </a:r>
                    </a:p>
                  </a:txBody>
                  <a:tcPr marL="73152" marR="73152" marT="36576" marB="36576">
                    <a:solidFill>
                      <a:srgbClr val="FFFFFF"/>
                    </a:solidFill>
                  </a:tcPr>
                </a:tc>
                <a:tc>
                  <a:txBody>
                    <a:bodyPr/>
                    <a:lstStyle/>
                    <a:p>
                      <a:r>
                        <a:rPr sz="1900" b="0" i="0">
                          <a:solidFill>
                            <a:srgbClr val="1F2D33"/>
                          </a:solidFill>
                        </a:rPr>
                        <a:t>Men vs women, same age and activity</a:t>
                      </a:r>
                    </a:p>
                  </a:txBody>
                  <a:tcPr marL="73152" marR="73152" marT="36576" marB="36576">
                    <a:solidFill>
                      <a:srgbClr val="FFFFFF"/>
                    </a:solidFill>
                  </a:tcPr>
                </a:tc>
              </a:tr>
            </a:tbl>
          </a:graphicData>
        </a:graphic>
      </p:graphicFrame>
      <p:sp>
        <p:nvSpPr>
          <p:cNvPr id="5" name="TextBox 4"/>
          <p:cNvSpPr txBox="1"/>
          <p:nvPr/>
        </p:nvSpPr>
        <p:spPr>
          <a:xfrm>
            <a:off x="429768" y="3538728"/>
            <a:ext cx="11332159" cy="260604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Each coefficient is adjusted for the others in the model</a:t>
            </a:r>
          </a:p>
          <a:p>
            <a:pPr>
              <a:spcAft>
                <a:spcPts val="1000"/>
              </a:spcAft>
            </a:pPr>
            <a:r>
              <a:rPr sz="1300" b="0" i="0">
                <a:solidFill>
                  <a:srgbClr val="0D7377"/>
                </a:solidFill>
              </a:rPr>
              <a:t>●  </a:t>
            </a:r>
            <a:r>
              <a:rPr sz="1900" b="0" i="0">
                <a:solidFill>
                  <a:srgbClr val="1F2D33"/>
                </a:solidFill>
              </a:rPr>
              <a:t>Adjusted R² = 0.34; 7 people excluded because activity was missing</a:t>
            </a:r>
          </a:p>
          <a:p>
            <a:pPr>
              <a:spcAft>
                <a:spcPts val="1000"/>
              </a:spcAft>
            </a:pPr>
            <a:r>
              <a:rPr sz="1300" b="0" i="0">
                <a:solidFill>
                  <a:srgbClr val="0D7377"/>
                </a:solidFill>
              </a:rPr>
              <a:t>●  </a:t>
            </a:r>
            <a:r>
              <a:rPr sz="1900" b="0" i="0">
                <a:solidFill>
                  <a:srgbClr val="1F2D33"/>
                </a:solidFill>
              </a:rPr>
              <a:t>These are associations: causal interpretation depends on design and assumptions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Plotting a fitted relationship</a:t>
            </a:r>
          </a:p>
        </p:txBody>
      </p:sp>
      <p:sp>
        <p:nvSpPr>
          <p:cNvPr id="3" name="Slide Number Placeholder 2"/>
          <p:cNvSpPr>
            <a:spLocks noGrp="1"/>
          </p:cNvSpPr>
          <p:nvPr>
            <p:ph type="sldNum" idx="12" sz="quarter"/>
          </p:nvPr>
        </p:nvSpPr>
        <p:spPr/>
        <p:txBody>
          <a:bodyPr/>
          <a:lstStyle/>
          <a:p>
            <a:fld id="{B6F15528-21DE-4FAA-801E-634DDDAF4B2B}" type="slidenum">
              <a:rPr lang="en-GB"/>
              <a:t>24</a:t>
            </a:fld>
          </a:p>
        </p:txBody>
      </p:sp>
      <p:sp>
        <p:nvSpPr>
          <p:cNvPr id="4" name="TextBox 3"/>
          <p:cNvSpPr txBox="1"/>
          <p:nvPr/>
        </p:nvSpPr>
        <p:spPr>
          <a:xfrm>
            <a:off x="429768" y="1389888"/>
            <a:ext cx="4306220" cy="475488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Choose values for the other variables (here age 50)</a:t>
            </a:r>
          </a:p>
          <a:p>
            <a:pPr>
              <a:spcAft>
                <a:spcPts val="1000"/>
              </a:spcAft>
            </a:pPr>
            <a:r>
              <a:rPr sz="1300" b="0" i="0">
                <a:solidFill>
                  <a:srgbClr val="0D7377"/>
                </a:solidFill>
              </a:rPr>
              <a:t>●  </a:t>
            </a:r>
            <a:r>
              <a:rPr sz="1900" b="0" i="0">
                <a:solidFill>
                  <a:srgbClr val="1F2D33"/>
                </a:solidFill>
              </a:rPr>
              <a:t>Predict the mean outcome over a range of the exposure</a:t>
            </a:r>
          </a:p>
          <a:p>
            <a:pPr>
              <a:spcAft>
                <a:spcPts val="1000"/>
              </a:spcAft>
            </a:pPr>
            <a:r>
              <a:rPr sz="1300" b="0" i="0">
                <a:solidFill>
                  <a:srgbClr val="0D7377"/>
                </a:solidFill>
              </a:rPr>
              <a:t>●  </a:t>
            </a:r>
            <a:r>
              <a:rPr sz="1900" b="0" i="0">
                <a:solidFill>
                  <a:srgbClr val="1F2D33"/>
                </a:solidFill>
              </a:rPr>
              <a:t>Show the 95% confidence band</a:t>
            </a:r>
          </a:p>
          <a:p>
            <a:pPr>
              <a:spcAft>
                <a:spcPts val="1000"/>
              </a:spcAft>
            </a:pPr>
            <a:r>
              <a:rPr sz="1300" b="0" i="0">
                <a:solidFill>
                  <a:srgbClr val="0D7377"/>
                </a:solidFill>
              </a:rPr>
              <a:t>●  </a:t>
            </a:r>
            <a:r>
              <a:rPr sz="1900" b="0" i="0">
                <a:solidFill>
                  <a:srgbClr val="1F2D33"/>
                </a:solidFill>
              </a:rPr>
              <a:t>Parallel lines: the model assumes the same activity slope for both sexes</a:t>
            </a:r>
          </a:p>
        </p:txBody>
      </p:sp>
      <p:pic>
        <p:nvPicPr>
          <p:cNvPr id="5" name="Picture 4" descr="f_fitted_activity.png"/>
          <p:cNvPicPr>
            <a:picLocks noChangeAspect="1"/>
          </p:cNvPicPr>
          <p:nvPr/>
        </p:nvPicPr>
        <p:blipFill>
          <a:blip r:embed="rId3"/>
          <a:stretch>
            <a:fillRect/>
          </a:stretch>
        </p:blipFill>
        <p:spPr>
          <a:xfrm>
            <a:off x="4918868" y="1754664"/>
            <a:ext cx="6843059" cy="4025328"/>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Effect modification (interaction): different from confounding</a:t>
            </a:r>
          </a:p>
        </p:txBody>
      </p:sp>
      <p:sp>
        <p:nvSpPr>
          <p:cNvPr id="3" name="Slide Number Placeholder 2"/>
          <p:cNvSpPr>
            <a:spLocks noGrp="1"/>
          </p:cNvSpPr>
          <p:nvPr>
            <p:ph type="sldNum" idx="12" sz="quarter"/>
          </p:nvPr>
        </p:nvSpPr>
        <p:spPr/>
        <p:txBody>
          <a:bodyPr/>
          <a:lstStyle/>
          <a:p>
            <a:fld id="{B6F15528-21DE-4FAA-801E-634DDDAF4B2B}" type="slidenum">
              <a:rPr lang="en-GB"/>
              <a:t>25</a:t>
            </a:fld>
          </a:p>
        </p:txBody>
      </p:sp>
      <p:sp>
        <p:nvSpPr>
          <p:cNvPr id="4" name="TextBox 3"/>
          <p:cNvSpPr txBox="1"/>
          <p:nvPr/>
        </p:nvSpPr>
        <p:spPr>
          <a:xfrm>
            <a:off x="429768" y="1389888"/>
            <a:ext cx="11332159" cy="475488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Confounding: a third variable distorts the overall association. Remedy: adjust</a:t>
            </a:r>
          </a:p>
          <a:p>
            <a:pPr>
              <a:spcAft>
                <a:spcPts val="1000"/>
              </a:spcAft>
            </a:pPr>
            <a:r>
              <a:rPr sz="1600" b="0" i="0">
                <a:solidFill>
                  <a:srgbClr val="0D7377"/>
                </a:solidFill>
              </a:rPr>
              <a:t>●  </a:t>
            </a:r>
            <a:r>
              <a:rPr sz="2200" b="0" i="0">
                <a:solidFill>
                  <a:srgbClr val="1F2D33"/>
                </a:solidFill>
              </a:rPr>
              <a:t>Effect modification: the association genuinely differs between subgroups</a:t>
            </a:r>
          </a:p>
          <a:p>
            <a:pPr>
              <a:spcAft>
                <a:spcPts val="500"/>
              </a:spcAft>
            </a:pPr>
            <a:r>
              <a:rPr sz="1900" b="0" i="0">
                <a:solidFill>
                  <a:srgbClr val="8A99A3"/>
                </a:solidFill>
              </a:rPr>
              <a:t>        –  </a:t>
            </a:r>
            <a:r>
              <a:rPr sz="1900" b="0" i="0">
                <a:solidFill>
                  <a:srgbClr val="8A99A3"/>
                </a:solidFill>
              </a:rPr>
              <a:t>Example question: is the smoking-BP association stronger in men?</a:t>
            </a:r>
          </a:p>
          <a:p>
            <a:pPr>
              <a:spcAft>
                <a:spcPts val="1000"/>
              </a:spcAft>
            </a:pPr>
            <a:r>
              <a:rPr sz="1600" b="0" i="0">
                <a:solidFill>
                  <a:srgbClr val="0D7377"/>
                </a:solidFill>
              </a:rPr>
              <a:t>●  </a:t>
            </a:r>
            <a:r>
              <a:rPr sz="2200" b="0" i="0">
                <a:solidFill>
                  <a:srgbClr val="1F2D33"/>
                </a:solidFill>
              </a:rPr>
              <a:t>Fit an interaction term, e.g. lm(sbp_0 ~ smoker * sex + age, data = hearts)</a:t>
            </a:r>
          </a:p>
          <a:p>
            <a:pPr>
              <a:spcAft>
                <a:spcPts val="1000"/>
              </a:spcAft>
            </a:pPr>
            <a:r>
              <a:rPr sz="1600" b="0" i="0">
                <a:solidFill>
                  <a:srgbClr val="0D7377"/>
                </a:solidFill>
              </a:rPr>
              <a:t>●  </a:t>
            </a:r>
            <a:r>
              <a:rPr sz="2200" b="0" i="0">
                <a:solidFill>
                  <a:srgbClr val="1F2D33"/>
                </a:solidFill>
              </a:rPr>
              <a:t>Interactions need much larger samples to estimate well; pre-specify them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Beyond continuous outcomes</a:t>
            </a:r>
          </a:p>
        </p:txBody>
      </p:sp>
      <p:sp>
        <p:nvSpPr>
          <p:cNvPr id="3" name="Text Placeholder 2"/>
          <p:cNvSpPr>
            <a:spLocks noGrp="1"/>
          </p:cNvSpPr>
          <p:nvPr>
            <p:ph type="body" idx="1"/>
          </p:nvPr>
        </p:nvSpPr>
        <p:spPr/>
        <p:txBody>
          <a:bodyPr/>
          <a:lstStyle/>
          <a:p>
            <a:r>
              <a:t>Part 4. An introduction to logistic and Poisson regression</a:t>
            </a:r>
          </a:p>
        </p:txBody>
      </p:sp>
      <p:sp>
        <p:nvSpPr>
          <p:cNvPr id="4" name="Slide Number Placeholder 3"/>
          <p:cNvSpPr>
            <a:spLocks noGrp="1"/>
          </p:cNvSpPr>
          <p:nvPr>
            <p:ph type="sldNum" idx="12" sz="quarter"/>
          </p:nvPr>
        </p:nvSpPr>
        <p:spPr/>
        <p:txBody>
          <a:bodyPr/>
          <a:lstStyle/>
          <a:p>
            <a:fld id="{B6F15528-21DE-4FAA-801E-634DDDAF4B2B}" type="slidenum">
              <a:rPr lang="en-GB"/>
              <a:t>26</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Matching the model to the outcome</a:t>
            </a:r>
          </a:p>
        </p:txBody>
      </p:sp>
      <p:sp>
        <p:nvSpPr>
          <p:cNvPr id="3" name="Slide Number Placeholder 2"/>
          <p:cNvSpPr>
            <a:spLocks noGrp="1"/>
          </p:cNvSpPr>
          <p:nvPr>
            <p:ph type="sldNum" idx="12" sz="quarter"/>
          </p:nvPr>
        </p:nvSpPr>
        <p:spPr/>
        <p:txBody>
          <a:bodyPr/>
          <a:lstStyle/>
          <a:p>
            <a:fld id="{B6F15528-21DE-4FAA-801E-634DDDAF4B2B}" type="slidenum">
              <a:rPr lang="en-GB"/>
              <a:t>27</a:t>
            </a:fld>
          </a:p>
        </p:txBody>
      </p:sp>
      <p:graphicFrame>
        <p:nvGraphicFramePr>
          <p:cNvPr id="4" name="Table 3"/>
          <p:cNvGraphicFramePr>
            <a:graphicFrameLocks noGrp="1"/>
          </p:cNvGraphicFramePr>
          <p:nvPr/>
        </p:nvGraphicFramePr>
        <p:xfrm>
          <a:off x="429768" y="1435608"/>
          <a:ext cx="11332157" cy="3657600"/>
        </p:xfrm>
        <a:graphic>
          <a:graphicData uri="http://schemas.openxmlformats.org/drawingml/2006/table">
            <a:tbl>
              <a:tblPr firstRow="1" bandRow="1">
                <a:tableStyleId>{5C22544A-7EE6-4342-B048-85BDC9FD1C3A}</a:tableStyleId>
              </a:tblPr>
              <a:tblGrid>
                <a:gridCol w="2644170"/>
                <a:gridCol w="3399647"/>
                <a:gridCol w="2833039"/>
                <a:gridCol w="2455301"/>
              </a:tblGrid>
              <a:tr h="457200">
                <a:tc>
                  <a:txBody>
                    <a:bodyPr/>
                    <a:lstStyle/>
                    <a:p>
                      <a:r>
                        <a:rPr sz="1700" b="1" i="0">
                          <a:solidFill>
                            <a:srgbClr val="FFFFFF"/>
                          </a:solidFill>
                        </a:rPr>
                        <a:t>Outcome</a:t>
                      </a:r>
                    </a:p>
                  </a:txBody>
                  <a:tcPr marL="73152" marR="73152" marT="36576" marB="36576">
                    <a:solidFill>
                      <a:srgbClr val="04242F"/>
                    </a:solidFill>
                  </a:tcPr>
                </a:tc>
                <a:tc>
                  <a:txBody>
                    <a:bodyPr/>
                    <a:lstStyle/>
                    <a:p>
                      <a:r>
                        <a:rPr sz="1700" b="1" i="0">
                          <a:solidFill>
                            <a:srgbClr val="FFFFFF"/>
                          </a:solidFill>
                        </a:rPr>
                        <a:t>Model</a:t>
                      </a:r>
                    </a:p>
                  </a:txBody>
                  <a:tcPr marL="73152" marR="73152" marT="36576" marB="36576">
                    <a:solidFill>
                      <a:srgbClr val="04242F"/>
                    </a:solidFill>
                  </a:tcPr>
                </a:tc>
                <a:tc>
                  <a:txBody>
                    <a:bodyPr/>
                    <a:lstStyle/>
                    <a:p>
                      <a:r>
                        <a:rPr sz="1700" b="1" i="0">
                          <a:solidFill>
                            <a:srgbClr val="FFFFFF"/>
                          </a:solidFill>
                        </a:rPr>
                        <a:t>Effect measure</a:t>
                      </a:r>
                    </a:p>
                  </a:txBody>
                  <a:tcPr marL="73152" marR="73152" marT="36576" marB="36576">
                    <a:solidFill>
                      <a:srgbClr val="04242F"/>
                    </a:solidFill>
                  </a:tcPr>
                </a:tc>
                <a:tc>
                  <a:txBody>
                    <a:bodyPr/>
                    <a:lstStyle/>
                    <a:p>
                      <a:r>
                        <a:rPr sz="1700" b="1" i="0">
                          <a:solidFill>
                            <a:srgbClr val="FFFFFF"/>
                          </a:solidFill>
                        </a:rPr>
                        <a:t>In this course</a:t>
                      </a:r>
                    </a:p>
                  </a:txBody>
                  <a:tcPr marL="73152" marR="73152" marT="36576" marB="36576">
                    <a:solidFill>
                      <a:srgbClr val="04242F"/>
                    </a:solidFill>
                  </a:tcPr>
                </a:tc>
              </a:tr>
              <a:tr h="457200">
                <a:tc>
                  <a:txBody>
                    <a:bodyPr/>
                    <a:lstStyle/>
                    <a:p>
                      <a:r>
                        <a:rPr sz="1700" b="0" i="0">
                          <a:solidFill>
                            <a:srgbClr val="1F2D33"/>
                          </a:solidFill>
                        </a:rPr>
                        <a:t>Continuous</a:t>
                      </a:r>
                    </a:p>
                  </a:txBody>
                  <a:tcPr marL="73152" marR="73152" marT="36576" marB="36576">
                    <a:solidFill>
                      <a:srgbClr val="FFFFFF"/>
                    </a:solidFill>
                  </a:tcPr>
                </a:tc>
                <a:tc>
                  <a:txBody>
                    <a:bodyPr/>
                    <a:lstStyle/>
                    <a:p>
                      <a:r>
                        <a:rPr sz="1700" b="0" i="0">
                          <a:solidFill>
                            <a:srgbClr val="1F2D33"/>
                          </a:solidFill>
                        </a:rPr>
                        <a:t>Linear regression</a:t>
                      </a:r>
                    </a:p>
                  </a:txBody>
                  <a:tcPr marL="73152" marR="73152" marT="36576" marB="36576">
                    <a:solidFill>
                      <a:srgbClr val="FFFFFF"/>
                    </a:solidFill>
                  </a:tcPr>
                </a:tc>
                <a:tc>
                  <a:txBody>
                    <a:bodyPr/>
                    <a:lstStyle/>
                    <a:p>
                      <a:r>
                        <a:rPr sz="1700" b="0" i="0">
                          <a:solidFill>
                            <a:srgbClr val="1F2D33"/>
                          </a:solidFill>
                        </a:rPr>
                        <a:t>Difference in means</a:t>
                      </a:r>
                    </a:p>
                  </a:txBody>
                  <a:tcPr marL="73152" marR="73152" marT="36576" marB="36576">
                    <a:solidFill>
                      <a:srgbClr val="FFFFFF"/>
                    </a:solidFill>
                  </a:tcPr>
                </a:tc>
                <a:tc>
                  <a:txBody>
                    <a:bodyPr/>
                    <a:lstStyle/>
                    <a:p>
                      <a:r>
                        <a:rPr sz="1700" b="0" i="0">
                          <a:solidFill>
                            <a:srgbClr val="1F2D33"/>
                          </a:solidFill>
                        </a:rPr>
                        <a:t>Practised</a:t>
                      </a:r>
                    </a:p>
                  </a:txBody>
                  <a:tcPr marL="73152" marR="73152" marT="36576" marB="36576">
                    <a:solidFill>
                      <a:srgbClr val="FFFFFF"/>
                    </a:solidFill>
                  </a:tcPr>
                </a:tc>
              </a:tr>
              <a:tr h="457200">
                <a:tc>
                  <a:txBody>
                    <a:bodyPr/>
                    <a:lstStyle/>
                    <a:p>
                      <a:r>
                        <a:rPr sz="1700" b="0" i="0">
                          <a:solidFill>
                            <a:srgbClr val="1F2D33"/>
                          </a:solidFill>
                        </a:rPr>
                        <a:t>Binary</a:t>
                      </a:r>
                    </a:p>
                  </a:txBody>
                  <a:tcPr marL="73152" marR="73152" marT="36576" marB="36576">
                    <a:solidFill>
                      <a:srgbClr val="EAF2F5"/>
                    </a:solidFill>
                  </a:tcPr>
                </a:tc>
                <a:tc>
                  <a:txBody>
                    <a:bodyPr/>
                    <a:lstStyle/>
                    <a:p>
                      <a:r>
                        <a:rPr sz="1700" b="0" i="0">
                          <a:solidFill>
                            <a:srgbClr val="1F2D33"/>
                          </a:solidFill>
                        </a:rPr>
                        <a:t>Logistic regression</a:t>
                      </a:r>
                    </a:p>
                  </a:txBody>
                  <a:tcPr marL="73152" marR="73152" marT="36576" marB="36576">
                    <a:solidFill>
                      <a:srgbClr val="EAF2F5"/>
                    </a:solidFill>
                  </a:tcPr>
                </a:tc>
                <a:tc>
                  <a:txBody>
                    <a:bodyPr/>
                    <a:lstStyle/>
                    <a:p>
                      <a:r>
                        <a:rPr sz="1700" b="0" i="0">
                          <a:solidFill>
                            <a:srgbClr val="1F2D33"/>
                          </a:solidFill>
                        </a:rPr>
                        <a:t>Odds ratio (OR, aOR)</a:t>
                      </a:r>
                    </a:p>
                  </a:txBody>
                  <a:tcPr marL="73152" marR="73152" marT="36576" marB="36576">
                    <a:solidFill>
                      <a:srgbClr val="EAF2F5"/>
                    </a:solidFill>
                  </a:tcPr>
                </a:tc>
                <a:tc>
                  <a:txBody>
                    <a:bodyPr/>
                    <a:lstStyle/>
                    <a:p>
                      <a:r>
                        <a:rPr sz="1700" b="0" i="0">
                          <a:solidFill>
                            <a:srgbClr val="1F2D33"/>
                          </a:solidFill>
                        </a:rPr>
                        <a:t>Introduced, guided demo</a:t>
                      </a:r>
                    </a:p>
                  </a:txBody>
                  <a:tcPr marL="73152" marR="73152" marT="36576" marB="36576">
                    <a:solidFill>
                      <a:srgbClr val="EAF2F5"/>
                    </a:solidFill>
                  </a:tcPr>
                </a:tc>
              </a:tr>
              <a:tr h="457200">
                <a:tc>
                  <a:txBody>
                    <a:bodyPr/>
                    <a:lstStyle/>
                    <a:p>
                      <a:r>
                        <a:rPr sz="1700" b="0" i="0">
                          <a:solidFill>
                            <a:srgbClr val="1F2D33"/>
                          </a:solidFill>
                        </a:rPr>
                        <a:t>Count, with exposure time</a:t>
                      </a:r>
                    </a:p>
                  </a:txBody>
                  <a:tcPr marL="73152" marR="73152" marT="36576" marB="36576">
                    <a:solidFill>
                      <a:srgbClr val="FFFFFF"/>
                    </a:solidFill>
                  </a:tcPr>
                </a:tc>
                <a:tc>
                  <a:txBody>
                    <a:bodyPr/>
                    <a:lstStyle/>
                    <a:p>
                      <a:r>
                        <a:rPr sz="1700" b="0" i="0">
                          <a:solidFill>
                            <a:srgbClr val="1F2D33"/>
                          </a:solidFill>
                        </a:rPr>
                        <a:t>Poisson regression (offset)</a:t>
                      </a:r>
                    </a:p>
                  </a:txBody>
                  <a:tcPr marL="73152" marR="73152" marT="36576" marB="36576">
                    <a:solidFill>
                      <a:srgbClr val="FFFFFF"/>
                    </a:solidFill>
                  </a:tcPr>
                </a:tc>
                <a:tc>
                  <a:txBody>
                    <a:bodyPr/>
                    <a:lstStyle/>
                    <a:p>
                      <a:r>
                        <a:rPr sz="1700" b="0" i="0">
                          <a:solidFill>
                            <a:srgbClr val="1F2D33"/>
                          </a:solidFill>
                        </a:rPr>
                        <a:t>Incidence rate ratio (IRR)</a:t>
                      </a:r>
                    </a:p>
                  </a:txBody>
                  <a:tcPr marL="73152" marR="73152" marT="36576" marB="36576">
                    <a:solidFill>
                      <a:srgbClr val="FFFFFF"/>
                    </a:solidFill>
                  </a:tcPr>
                </a:tc>
                <a:tc>
                  <a:txBody>
                    <a:bodyPr/>
                    <a:lstStyle/>
                    <a:p>
                      <a:r>
                        <a:rPr sz="1700" b="0" i="0">
                          <a:solidFill>
                            <a:srgbClr val="1F2D33"/>
                          </a:solidFill>
                        </a:rPr>
                        <a:t>Introduced, guided demo</a:t>
                      </a:r>
                    </a:p>
                  </a:txBody>
                  <a:tcPr marL="73152" marR="73152" marT="36576" marB="36576">
                    <a:solidFill>
                      <a:srgbClr val="FFFFFF"/>
                    </a:solidFill>
                  </a:tcPr>
                </a:tc>
              </a:tr>
              <a:tr h="457200">
                <a:tc>
                  <a:txBody>
                    <a:bodyPr/>
                    <a:lstStyle/>
                    <a:p>
                      <a:r>
                        <a:rPr sz="1700" b="0" i="0">
                          <a:solidFill>
                            <a:srgbClr val="1F2D33"/>
                          </a:solidFill>
                        </a:rPr>
                        <a:t>Ordinal</a:t>
                      </a:r>
                    </a:p>
                  </a:txBody>
                  <a:tcPr marL="73152" marR="73152" marT="36576" marB="36576">
                    <a:solidFill>
                      <a:srgbClr val="EAF2F5"/>
                    </a:solidFill>
                  </a:tcPr>
                </a:tc>
                <a:tc>
                  <a:txBody>
                    <a:bodyPr/>
                    <a:lstStyle/>
                    <a:p>
                      <a:r>
                        <a:rPr sz="1700" b="0" i="0">
                          <a:solidFill>
                            <a:srgbClr val="1F2D33"/>
                          </a:solidFill>
                        </a:rPr>
                        <a:t>Ordinal (proportional odds) regression</a:t>
                      </a:r>
                    </a:p>
                  </a:txBody>
                  <a:tcPr marL="73152" marR="73152" marT="36576" marB="36576">
                    <a:solidFill>
                      <a:srgbClr val="EAF2F5"/>
                    </a:solidFill>
                  </a:tcPr>
                </a:tc>
                <a:tc>
                  <a:txBody>
                    <a:bodyPr/>
                    <a:lstStyle/>
                    <a:p>
                      <a:r>
                        <a:rPr sz="1700" b="0" i="0">
                          <a:solidFill>
                            <a:srgbClr val="1F2D33"/>
                          </a:solidFill>
                        </a:rPr>
                        <a:t>Cumulative OR</a:t>
                      </a:r>
                    </a:p>
                  </a:txBody>
                  <a:tcPr marL="73152" marR="73152" marT="36576" marB="36576">
                    <a:solidFill>
                      <a:srgbClr val="EAF2F5"/>
                    </a:solidFill>
                  </a:tcPr>
                </a:tc>
                <a:tc>
                  <a:txBody>
                    <a:bodyPr/>
                    <a:lstStyle/>
                    <a:p>
                      <a:r>
                        <a:rPr sz="1700" b="0" i="0">
                          <a:solidFill>
                            <a:srgbClr val="1F2D33"/>
                          </a:solidFill>
                        </a:rPr>
                        <a:t>Further learning</a:t>
                      </a:r>
                    </a:p>
                  </a:txBody>
                  <a:tcPr marL="73152" marR="73152" marT="36576" marB="36576">
                    <a:solidFill>
                      <a:srgbClr val="EAF2F5"/>
                    </a:solidFill>
                  </a:tcPr>
                </a:tc>
              </a:tr>
              <a:tr h="457200">
                <a:tc>
                  <a:txBody>
                    <a:bodyPr/>
                    <a:lstStyle/>
                    <a:p>
                      <a:r>
                        <a:rPr sz="1700" b="0" i="0">
                          <a:solidFill>
                            <a:srgbClr val="1F2D33"/>
                          </a:solidFill>
                        </a:rPr>
                        <a:t>Nominal, &gt; 2 categories</a:t>
                      </a:r>
                    </a:p>
                  </a:txBody>
                  <a:tcPr marL="73152" marR="73152" marT="36576" marB="36576">
                    <a:solidFill>
                      <a:srgbClr val="FFFFFF"/>
                    </a:solidFill>
                  </a:tcPr>
                </a:tc>
                <a:tc>
                  <a:txBody>
                    <a:bodyPr/>
                    <a:lstStyle/>
                    <a:p>
                      <a:r>
                        <a:rPr sz="1700" b="0" i="0">
                          <a:solidFill>
                            <a:srgbClr val="1F2D33"/>
                          </a:solidFill>
                        </a:rPr>
                        <a:t>Multinomial regression</a:t>
                      </a:r>
                    </a:p>
                  </a:txBody>
                  <a:tcPr marL="73152" marR="73152" marT="36576" marB="36576">
                    <a:solidFill>
                      <a:srgbClr val="FFFFFF"/>
                    </a:solidFill>
                  </a:tcPr>
                </a:tc>
                <a:tc>
                  <a:txBody>
                    <a:bodyPr/>
                    <a:lstStyle/>
                    <a:p>
                      <a:r>
                        <a:rPr sz="1700" b="0" i="0">
                          <a:solidFill>
                            <a:srgbClr val="1F2D33"/>
                          </a:solidFill>
                        </a:rPr>
                        <a:t>Relative risk ratios</a:t>
                      </a:r>
                    </a:p>
                  </a:txBody>
                  <a:tcPr marL="73152" marR="73152" marT="36576" marB="36576">
                    <a:solidFill>
                      <a:srgbClr val="FFFFFF"/>
                    </a:solidFill>
                  </a:tcPr>
                </a:tc>
                <a:tc>
                  <a:txBody>
                    <a:bodyPr/>
                    <a:lstStyle/>
                    <a:p>
                      <a:r>
                        <a:rPr sz="1700" b="0" i="0">
                          <a:solidFill>
                            <a:srgbClr val="1F2D33"/>
                          </a:solidFill>
                        </a:rPr>
                        <a:t>Further learning</a:t>
                      </a:r>
                    </a:p>
                  </a:txBody>
                  <a:tcPr marL="73152" marR="73152" marT="36576" marB="36576">
                    <a:solidFill>
                      <a:srgbClr val="FFFFFF"/>
                    </a:solidFill>
                  </a:tcPr>
                </a:tc>
              </a:tr>
              <a:tr h="457200">
                <a:tc>
                  <a:txBody>
                    <a:bodyPr/>
                    <a:lstStyle/>
                    <a:p>
                      <a:r>
                        <a:rPr sz="1700" b="0" i="0">
                          <a:solidFill>
                            <a:srgbClr val="1F2D33"/>
                          </a:solidFill>
                        </a:rPr>
                        <a:t>Time-to-event</a:t>
                      </a:r>
                    </a:p>
                  </a:txBody>
                  <a:tcPr marL="73152" marR="73152" marT="36576" marB="36576">
                    <a:solidFill>
                      <a:srgbClr val="EAF2F5"/>
                    </a:solidFill>
                  </a:tcPr>
                </a:tc>
                <a:tc>
                  <a:txBody>
                    <a:bodyPr/>
                    <a:lstStyle/>
                    <a:p>
                      <a:r>
                        <a:rPr sz="1700" b="0" i="0">
                          <a:solidFill>
                            <a:srgbClr val="1F2D33"/>
                          </a:solidFill>
                        </a:rPr>
                        <a:t>Cox regression, Kaplan-Meier</a:t>
                      </a:r>
                    </a:p>
                  </a:txBody>
                  <a:tcPr marL="73152" marR="73152" marT="36576" marB="36576">
                    <a:solidFill>
                      <a:srgbClr val="EAF2F5"/>
                    </a:solidFill>
                  </a:tcPr>
                </a:tc>
                <a:tc>
                  <a:txBody>
                    <a:bodyPr/>
                    <a:lstStyle/>
                    <a:p>
                      <a:r>
                        <a:rPr sz="1700" b="0" i="0">
                          <a:solidFill>
                            <a:srgbClr val="1F2D33"/>
                          </a:solidFill>
                        </a:rPr>
                        <a:t>Hazard ratio</a:t>
                      </a:r>
                    </a:p>
                  </a:txBody>
                  <a:tcPr marL="73152" marR="73152" marT="36576" marB="36576">
                    <a:solidFill>
                      <a:srgbClr val="EAF2F5"/>
                    </a:solidFill>
                  </a:tcPr>
                </a:tc>
                <a:tc>
                  <a:txBody>
                    <a:bodyPr/>
                    <a:lstStyle/>
                    <a:p>
                      <a:r>
                        <a:rPr sz="1700" b="0" i="0">
                          <a:solidFill>
                            <a:srgbClr val="1F2D33"/>
                          </a:solidFill>
                        </a:rPr>
                        <a:t>Further learning</a:t>
                      </a:r>
                    </a:p>
                  </a:txBody>
                  <a:tcPr marL="73152" marR="73152" marT="36576" marB="36576">
                    <a:solidFill>
                      <a:srgbClr val="EAF2F5"/>
                    </a:solidFill>
                  </a:tcPr>
                </a:tc>
              </a:tr>
              <a:tr h="457200">
                <a:tc>
                  <a:txBody>
                    <a:bodyPr/>
                    <a:lstStyle/>
                    <a:p>
                      <a:r>
                        <a:rPr sz="1700" b="0" i="0">
                          <a:solidFill>
                            <a:srgbClr val="1F2D33"/>
                          </a:solidFill>
                        </a:rPr>
                        <a:t>Repeated / clustered</a:t>
                      </a:r>
                    </a:p>
                  </a:txBody>
                  <a:tcPr marL="73152" marR="73152" marT="36576" marB="36576">
                    <a:solidFill>
                      <a:srgbClr val="FFFFFF"/>
                    </a:solidFill>
                  </a:tcPr>
                </a:tc>
                <a:tc>
                  <a:txBody>
                    <a:bodyPr/>
                    <a:lstStyle/>
                    <a:p>
                      <a:r>
                        <a:rPr sz="1700" b="0" i="0">
                          <a:solidFill>
                            <a:srgbClr val="1F2D33"/>
                          </a:solidFill>
                        </a:rPr>
                        <a:t>Mixed models, GEE</a:t>
                      </a:r>
                    </a:p>
                  </a:txBody>
                  <a:tcPr marL="73152" marR="73152" marT="36576" marB="36576">
                    <a:solidFill>
                      <a:srgbClr val="FFFFFF"/>
                    </a:solidFill>
                  </a:tcPr>
                </a:tc>
                <a:tc>
                  <a:txBody>
                    <a:bodyPr/>
                    <a:lstStyle/>
                    <a:p>
                      <a:r>
                        <a:rPr sz="1700" b="0" i="0">
                          <a:solidFill>
                            <a:srgbClr val="1F2D33"/>
                          </a:solidFill>
                        </a:rPr>
                        <a:t>Depends on outcome</a:t>
                      </a:r>
                    </a:p>
                  </a:txBody>
                  <a:tcPr marL="73152" marR="73152" marT="36576" marB="36576">
                    <a:solidFill>
                      <a:srgbClr val="FFFFFF"/>
                    </a:solidFill>
                  </a:tcPr>
                </a:tc>
                <a:tc>
                  <a:txBody>
                    <a:bodyPr/>
                    <a:lstStyle/>
                    <a:p>
                      <a:r>
                        <a:rPr sz="1700" b="0" i="0">
                          <a:solidFill>
                            <a:srgbClr val="1F2D33"/>
                          </a:solidFill>
                        </a:rPr>
                        <a:t>Further learning</a:t>
                      </a:r>
                    </a:p>
                  </a:txBody>
                  <a:tcPr marL="73152" marR="73152" marT="36576" marB="36576">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Logistic regression for a binary outcome</a:t>
            </a:r>
          </a:p>
        </p:txBody>
      </p:sp>
      <p:sp>
        <p:nvSpPr>
          <p:cNvPr id="3" name="Slide Number Placeholder 2"/>
          <p:cNvSpPr>
            <a:spLocks noGrp="1"/>
          </p:cNvSpPr>
          <p:nvPr>
            <p:ph type="sldNum" idx="12" sz="quarter"/>
          </p:nvPr>
        </p:nvSpPr>
        <p:spPr/>
        <p:txBody>
          <a:bodyPr/>
          <a:lstStyle/>
          <a:p>
            <a:fld id="{B6F15528-21DE-4FAA-801E-634DDDAF4B2B}" type="slidenum">
              <a:rPr lang="en-GB"/>
              <a:t>28</a:t>
            </a:fld>
          </a:p>
        </p:txBody>
      </p:sp>
      <p:sp>
        <p:nvSpPr>
          <p:cNvPr id="4" name="TextBox 3"/>
          <p:cNvSpPr txBox="1"/>
          <p:nvPr/>
        </p:nvSpPr>
        <p:spPr>
          <a:xfrm>
            <a:off x="429768" y="1389888"/>
            <a:ext cx="11332159" cy="379476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Models the log-odds of the outcome as a linear function of the predictors</a:t>
            </a:r>
          </a:p>
          <a:p>
            <a:pPr>
              <a:spcAft>
                <a:spcPts val="1000"/>
              </a:spcAft>
            </a:pPr>
            <a:r>
              <a:rPr sz="1600" b="0" i="0">
                <a:solidFill>
                  <a:srgbClr val="0D7377"/>
                </a:solidFill>
              </a:rPr>
              <a:t>●  </a:t>
            </a:r>
            <a:r>
              <a:rPr sz="2200" b="0" i="0">
                <a:solidFill>
                  <a:srgbClr val="1F2D33"/>
                </a:solidFill>
              </a:rPr>
              <a:t>exp(coefficient) = odds ratio; with other variables in the model, an adjusted OR (aOR)</a:t>
            </a:r>
          </a:p>
          <a:p>
            <a:pPr>
              <a:spcAft>
                <a:spcPts val="1000"/>
              </a:spcAft>
            </a:pPr>
            <a:r>
              <a:rPr sz="1600" b="0" i="0">
                <a:solidFill>
                  <a:srgbClr val="0D7377"/>
                </a:solidFill>
              </a:rPr>
              <a:t>●  </a:t>
            </a:r>
            <a:r>
              <a:rPr sz="2200" b="0" i="0">
                <a:solidFill>
                  <a:srgbClr val="1F2D33"/>
                </a:solidFill>
              </a:rPr>
              <a:t>High BP and smoking: crude OR 3.39 (2.05 to 5.61)</a:t>
            </a:r>
          </a:p>
          <a:p>
            <a:pPr>
              <a:spcAft>
                <a:spcPts val="1000"/>
              </a:spcAft>
            </a:pPr>
            <a:r>
              <a:rPr sz="1600" b="0" i="0">
                <a:solidFill>
                  <a:srgbClr val="0D7377"/>
                </a:solidFill>
              </a:rPr>
              <a:t>●  </a:t>
            </a:r>
            <a:r>
              <a:rPr sz="2200" b="0" i="0">
                <a:solidFill>
                  <a:srgbClr val="1F2D33"/>
                </a:solidFill>
              </a:rPr>
              <a:t>Adjusted for age and sex: aOR 2.04 (95% CI 1.17 to 3.54)</a:t>
            </a:r>
          </a:p>
          <a:p>
            <a:pPr>
              <a:spcAft>
                <a:spcPts val="1000"/>
              </a:spcAft>
            </a:pPr>
            <a:r>
              <a:rPr sz="1600" b="0" i="0">
                <a:solidFill>
                  <a:srgbClr val="0D7377"/>
                </a:solidFill>
              </a:rPr>
              <a:t>●  </a:t>
            </a:r>
            <a:r>
              <a:rPr sz="2200" b="0" i="0">
                <a:solidFill>
                  <a:srgbClr val="1F2D33"/>
                </a:solidFill>
              </a:rPr>
              <a:t>Age: aOR 2.29 per 10 years (1.84 to 2.87); men vs women: aOR 2.06 (1.30 to 3.30)</a:t>
            </a:r>
          </a:p>
        </p:txBody>
      </p:sp>
      <p:sp>
        <p:nvSpPr>
          <p:cNvPr id="5" name="Rectangle 4"/>
          <p:cNvSpPr/>
          <p:nvPr/>
        </p:nvSpPr>
        <p:spPr>
          <a:xfrm>
            <a:off x="429768" y="5276088"/>
            <a:ext cx="11332159" cy="822960"/>
          </a:xfrm>
          <a:prstGeom prst="rect">
            <a:avLst/>
          </a:prstGeom>
          <a:solidFill>
            <a:srgbClr val="EA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182880"/>
          <a:lstStyle/>
          <a:p>
            <a:pPr algn="ctr"/>
            <a:r>
              <a:rPr sz="1700" b="0" i="0">
                <a:solidFill>
                  <a:srgbClr val="04242F"/>
                </a:solidFill>
              </a:rPr>
              <a:t>glm(high_bp_0 ~ smoker + age10 + sex, family = binomial, data = hearts)  then  tidy(fit, conf.int = TRUE, exponentiate = TRUE)</a:t>
            </a:r>
          </a:p>
        </p:txBody>
      </p:sp>
      <p:sp>
        <p:nvSpPr>
          <p:cNvPr id="6" name="Rectangle 5"/>
          <p:cNvSpPr/>
          <p:nvPr/>
        </p:nvSpPr>
        <p:spPr>
          <a:xfrm>
            <a:off x="429768" y="5276088"/>
            <a:ext cx="82296" cy="822960"/>
          </a:xfrm>
          <a:prstGeom prst="rect">
            <a:avLst/>
          </a:prstGeom>
          <a:solidFill>
            <a:srgbClr val="05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odds ratios to probabilities</a:t>
            </a:r>
          </a:p>
        </p:txBody>
      </p:sp>
      <p:sp>
        <p:nvSpPr>
          <p:cNvPr id="3" name="Slide Number Placeholder 2"/>
          <p:cNvSpPr>
            <a:spLocks noGrp="1"/>
          </p:cNvSpPr>
          <p:nvPr>
            <p:ph type="sldNum" idx="12" sz="quarter"/>
          </p:nvPr>
        </p:nvSpPr>
        <p:spPr/>
        <p:txBody>
          <a:bodyPr/>
          <a:lstStyle/>
          <a:p>
            <a:fld id="{B6F15528-21DE-4FAA-801E-634DDDAF4B2B}" type="slidenum">
              <a:rPr lang="en-GB"/>
              <a:t>29</a:t>
            </a:fld>
          </a:p>
        </p:txBody>
      </p:sp>
      <p:sp>
        <p:nvSpPr>
          <p:cNvPr id="4" name="TextBox 3"/>
          <p:cNvSpPr txBox="1"/>
          <p:nvPr/>
        </p:nvSpPr>
        <p:spPr>
          <a:xfrm>
            <a:off x="429768" y="1389888"/>
            <a:ext cx="4306220" cy="475488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Predicted probabilities are easier to communicate</a:t>
            </a:r>
          </a:p>
          <a:p>
            <a:pPr>
              <a:spcAft>
                <a:spcPts val="1000"/>
              </a:spcAft>
            </a:pPr>
            <a:r>
              <a:rPr sz="1300" b="0" i="0">
                <a:solidFill>
                  <a:srgbClr val="0D7377"/>
                </a:solidFill>
              </a:rPr>
              <a:t>●  </a:t>
            </a:r>
            <a:r>
              <a:rPr sz="1900" b="0" i="0">
                <a:solidFill>
                  <a:srgbClr val="1F2D33"/>
                </a:solidFill>
              </a:rPr>
              <a:t>At 60 years, a woman who smokes has a higher predicted probability than a non-smoker</a:t>
            </a:r>
          </a:p>
          <a:p>
            <a:pPr>
              <a:spcAft>
                <a:spcPts val="1000"/>
              </a:spcAft>
            </a:pPr>
            <a:r>
              <a:rPr sz="1300" b="0" i="0">
                <a:solidFill>
                  <a:srgbClr val="0D7377"/>
                </a:solidFill>
              </a:rPr>
              <a:t>●  </a:t>
            </a:r>
            <a:r>
              <a:rPr sz="1900" b="0" i="0">
                <a:solidFill>
                  <a:srgbClr val="1F2D33"/>
                </a:solidFill>
              </a:rPr>
              <a:t>The OR is constant; the difference in probability is not</a:t>
            </a:r>
          </a:p>
          <a:p>
            <a:pPr>
              <a:spcAft>
                <a:spcPts val="1000"/>
              </a:spcAft>
            </a:pPr>
            <a:r>
              <a:rPr sz="1300" b="0" i="0">
                <a:solidFill>
                  <a:srgbClr val="0D7377"/>
                </a:solidFill>
              </a:rPr>
              <a:t>●  </a:t>
            </a:r>
            <a:r>
              <a:rPr sz="1900" b="0" i="0">
                <a:solidFill>
                  <a:srgbClr val="1F2D33"/>
                </a:solidFill>
              </a:rPr>
              <a:t>With a common outcome, OR overstates the risk ratio</a:t>
            </a:r>
          </a:p>
        </p:txBody>
      </p:sp>
      <p:pic>
        <p:nvPicPr>
          <p:cNvPr id="5" name="Picture 4" descr="f_logistic_curve.png"/>
          <p:cNvPicPr>
            <a:picLocks noChangeAspect="1"/>
          </p:cNvPicPr>
          <p:nvPr/>
        </p:nvPicPr>
        <p:blipFill>
          <a:blip r:embed="rId3"/>
          <a:stretch>
            <a:fillRect/>
          </a:stretch>
        </p:blipFill>
        <p:spPr>
          <a:xfrm>
            <a:off x="4918868" y="1754664"/>
            <a:ext cx="6843059" cy="4025328"/>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Poisson regression for counts and rates</a:t>
            </a:r>
          </a:p>
        </p:txBody>
      </p:sp>
      <p:sp>
        <p:nvSpPr>
          <p:cNvPr id="3" name="Slide Number Placeholder 2"/>
          <p:cNvSpPr>
            <a:spLocks noGrp="1"/>
          </p:cNvSpPr>
          <p:nvPr>
            <p:ph type="sldNum" idx="12" sz="quarter"/>
          </p:nvPr>
        </p:nvSpPr>
        <p:spPr/>
        <p:txBody>
          <a:bodyPr/>
          <a:lstStyle/>
          <a:p>
            <a:fld id="{B6F15528-21DE-4FAA-801E-634DDDAF4B2B}" type="slidenum">
              <a:rPr lang="en-GB"/>
              <a:t>30</a:t>
            </a:fld>
          </a:p>
        </p:txBody>
      </p:sp>
      <p:sp>
        <p:nvSpPr>
          <p:cNvPr id="4" name="TextBox 3"/>
          <p:cNvSpPr txBox="1"/>
          <p:nvPr/>
        </p:nvSpPr>
        <p:spPr>
          <a:xfrm>
            <a:off x="429768" y="1389888"/>
            <a:ext cx="4532863" cy="475488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Outcome: number of unplanned clinic visits</a:t>
            </a:r>
          </a:p>
          <a:p>
            <a:pPr>
              <a:spcAft>
                <a:spcPts val="1000"/>
              </a:spcAft>
            </a:pPr>
            <a:r>
              <a:rPr sz="1300" b="0" i="0">
                <a:solidFill>
                  <a:srgbClr val="0D7377"/>
                </a:solidFill>
              </a:rPr>
              <a:t>●  </a:t>
            </a:r>
            <a:r>
              <a:rPr sz="1900" b="0" i="0">
                <a:solidFill>
                  <a:srgbClr val="1F2D33"/>
                </a:solidFill>
              </a:rPr>
              <a:t>People were followed for 2 to 12 months</a:t>
            </a:r>
          </a:p>
          <a:p>
            <a:pPr>
              <a:spcAft>
                <a:spcPts val="1000"/>
              </a:spcAft>
            </a:pPr>
            <a:r>
              <a:rPr sz="1300" b="0" i="0">
                <a:solidFill>
                  <a:srgbClr val="0D7377"/>
                </a:solidFill>
              </a:rPr>
              <a:t>●  </a:t>
            </a:r>
            <a:r>
              <a:rPr sz="1900" b="0" i="0">
                <a:solidFill>
                  <a:srgbClr val="1F2D33"/>
                </a:solidFill>
              </a:rPr>
              <a:t>Compare rates: visits per person-month</a:t>
            </a:r>
          </a:p>
          <a:p>
            <a:pPr>
              <a:spcAft>
                <a:spcPts val="1000"/>
              </a:spcAft>
            </a:pPr>
            <a:r>
              <a:rPr sz="1300" b="0" i="0">
                <a:solidFill>
                  <a:srgbClr val="0D7377"/>
                </a:solidFill>
              </a:rPr>
              <a:t>●  </a:t>
            </a:r>
            <a:r>
              <a:rPr sz="1900" b="0" i="0">
                <a:solidFill>
                  <a:srgbClr val="1F2D33"/>
                </a:solidFill>
              </a:rPr>
              <a:t>Offset log(follow-up months) puts exposure time in the model</a:t>
            </a:r>
          </a:p>
          <a:p>
            <a:pPr>
              <a:spcAft>
                <a:spcPts val="1000"/>
              </a:spcAft>
            </a:pPr>
            <a:r>
              <a:rPr sz="1300" b="0" i="0">
                <a:solidFill>
                  <a:srgbClr val="0D7377"/>
                </a:solidFill>
              </a:rPr>
              <a:t>●  </a:t>
            </a:r>
            <a:r>
              <a:rPr sz="1900" b="0" i="0">
                <a:solidFill>
                  <a:srgbClr val="1F2D33"/>
                </a:solidFill>
              </a:rPr>
              <a:t>exp(coefficient) = incidence rate ratio (IRR)</a:t>
            </a:r>
          </a:p>
        </p:txBody>
      </p:sp>
      <p:pic>
        <p:nvPicPr>
          <p:cNvPr id="5" name="Picture 4" descr="f_poisson_rates.png"/>
          <p:cNvPicPr>
            <a:picLocks noChangeAspect="1"/>
          </p:cNvPicPr>
          <p:nvPr/>
        </p:nvPicPr>
        <p:blipFill>
          <a:blip r:embed="rId3"/>
          <a:stretch>
            <a:fillRect/>
          </a:stretch>
        </p:blipFill>
        <p:spPr>
          <a:xfrm>
            <a:off x="5145511" y="1821323"/>
            <a:ext cx="6616416" cy="3892009"/>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Rate ratios and overdispersion</a:t>
            </a:r>
          </a:p>
        </p:txBody>
      </p:sp>
      <p:sp>
        <p:nvSpPr>
          <p:cNvPr id="3" name="Slide Number Placeholder 2"/>
          <p:cNvSpPr>
            <a:spLocks noGrp="1"/>
          </p:cNvSpPr>
          <p:nvPr>
            <p:ph type="sldNum" idx="12" sz="quarter"/>
          </p:nvPr>
        </p:nvSpPr>
        <p:spPr/>
        <p:txBody>
          <a:bodyPr/>
          <a:lstStyle/>
          <a:p>
            <a:fld id="{B6F15528-21DE-4FAA-801E-634DDDAF4B2B}" type="slidenum">
              <a:rPr lang="en-GB"/>
              <a:t>31</a:t>
            </a:fld>
          </a:p>
        </p:txBody>
      </p:sp>
      <p:graphicFrame>
        <p:nvGraphicFramePr>
          <p:cNvPr id="4" name="Table 3"/>
          <p:cNvGraphicFramePr>
            <a:graphicFrameLocks noGrp="1"/>
          </p:cNvGraphicFramePr>
          <p:nvPr/>
        </p:nvGraphicFramePr>
        <p:xfrm>
          <a:off x="429768" y="1435608"/>
          <a:ext cx="11332158" cy="1828800"/>
        </p:xfrm>
        <a:graphic>
          <a:graphicData uri="http://schemas.openxmlformats.org/drawingml/2006/table">
            <a:tbl>
              <a:tblPr firstRow="1" bandRow="1">
                <a:tableStyleId>{5C22544A-7EE6-4342-B048-85BDC9FD1C3A}</a:tableStyleId>
              </a:tblPr>
              <a:tblGrid>
                <a:gridCol w="4120785"/>
                <a:gridCol w="4120785"/>
                <a:gridCol w="3090588"/>
              </a:tblGrid>
              <a:tr h="457200">
                <a:tc>
                  <a:txBody>
                    <a:bodyPr/>
                    <a:lstStyle/>
                    <a:p>
                      <a:r>
                        <a:rPr sz="1900" b="1" i="0">
                          <a:solidFill>
                            <a:srgbClr val="FFFFFF"/>
                          </a:solidFill>
                        </a:rPr>
                        <a:t>Model</a:t>
                      </a:r>
                    </a:p>
                  </a:txBody>
                  <a:tcPr marL="73152" marR="73152" marT="36576" marB="36576">
                    <a:solidFill>
                      <a:srgbClr val="04242F"/>
                    </a:solidFill>
                  </a:tcPr>
                </a:tc>
                <a:tc>
                  <a:txBody>
                    <a:bodyPr/>
                    <a:lstStyle/>
                    <a:p>
                      <a:r>
                        <a:rPr sz="1900" b="1" i="0">
                          <a:solidFill>
                            <a:srgbClr val="FFFFFF"/>
                          </a:solidFill>
                        </a:rPr>
                        <a:t>IRR: programme vs standard</a:t>
                      </a:r>
                    </a:p>
                  </a:txBody>
                  <a:tcPr marL="73152" marR="73152" marT="36576" marB="36576">
                    <a:solidFill>
                      <a:srgbClr val="04242F"/>
                    </a:solidFill>
                  </a:tcPr>
                </a:tc>
                <a:tc>
                  <a:txBody>
                    <a:bodyPr/>
                    <a:lstStyle/>
                    <a:p>
                      <a:r>
                        <a:rPr sz="1900" b="1" i="0">
                          <a:solidFill>
                            <a:srgbClr val="FFFFFF"/>
                          </a:solidFill>
                        </a:rPr>
                        <a:t>95% CI</a:t>
                      </a:r>
                    </a:p>
                  </a:txBody>
                  <a:tcPr marL="73152" marR="73152" marT="36576" marB="36576">
                    <a:solidFill>
                      <a:srgbClr val="04242F"/>
                    </a:solidFill>
                  </a:tcPr>
                </a:tc>
              </a:tr>
              <a:tr h="457200">
                <a:tc>
                  <a:txBody>
                    <a:bodyPr/>
                    <a:lstStyle/>
                    <a:p>
                      <a:r>
                        <a:rPr sz="1900" b="0" i="0">
                          <a:solidFill>
                            <a:srgbClr val="1F2D33"/>
                          </a:solidFill>
                        </a:rPr>
                        <a:t>Poisson</a:t>
                      </a:r>
                    </a:p>
                  </a:txBody>
                  <a:tcPr marL="73152" marR="73152" marT="36576" marB="36576">
                    <a:solidFill>
                      <a:srgbClr val="FFFFFF"/>
                    </a:solidFill>
                  </a:tcPr>
                </a:tc>
                <a:tc>
                  <a:txBody>
                    <a:bodyPr/>
                    <a:lstStyle/>
                    <a:p>
                      <a:r>
                        <a:rPr sz="1900" b="0" i="0">
                          <a:solidFill>
                            <a:srgbClr val="1F2D33"/>
                          </a:solidFill>
                        </a:rPr>
                        <a:t>0.91</a:t>
                      </a:r>
                    </a:p>
                  </a:txBody>
                  <a:tcPr marL="73152" marR="73152" marT="36576" marB="36576">
                    <a:solidFill>
                      <a:srgbClr val="FFFFFF"/>
                    </a:solidFill>
                  </a:tcPr>
                </a:tc>
                <a:tc>
                  <a:txBody>
                    <a:bodyPr/>
                    <a:lstStyle/>
                    <a:p>
                      <a:r>
                        <a:rPr sz="1900" b="0" i="0">
                          <a:solidFill>
                            <a:srgbClr val="1F2D33"/>
                          </a:solidFill>
                        </a:rPr>
                        <a:t>0.82 to 1.02</a:t>
                      </a:r>
                    </a:p>
                  </a:txBody>
                  <a:tcPr marL="73152" marR="73152" marT="36576" marB="36576">
                    <a:solidFill>
                      <a:srgbClr val="FFFFFF"/>
                    </a:solidFill>
                  </a:tcPr>
                </a:tc>
              </a:tr>
              <a:tr h="457200">
                <a:tc>
                  <a:txBody>
                    <a:bodyPr/>
                    <a:lstStyle/>
                    <a:p>
                      <a:r>
                        <a:rPr sz="1900" b="0" i="0">
                          <a:solidFill>
                            <a:srgbClr val="1F2D33"/>
                          </a:solidFill>
                        </a:rPr>
                        <a:t>Quasi-Poisson</a:t>
                      </a:r>
                    </a:p>
                  </a:txBody>
                  <a:tcPr marL="73152" marR="73152" marT="36576" marB="36576">
                    <a:solidFill>
                      <a:srgbClr val="EAF2F5"/>
                    </a:solidFill>
                  </a:tcPr>
                </a:tc>
                <a:tc>
                  <a:txBody>
                    <a:bodyPr/>
                    <a:lstStyle/>
                    <a:p>
                      <a:r>
                        <a:rPr sz="1900" b="0" i="0">
                          <a:solidFill>
                            <a:srgbClr val="1F2D33"/>
                          </a:solidFill>
                        </a:rPr>
                        <a:t>0.91</a:t>
                      </a:r>
                    </a:p>
                  </a:txBody>
                  <a:tcPr marL="73152" marR="73152" marT="36576" marB="36576">
                    <a:solidFill>
                      <a:srgbClr val="EAF2F5"/>
                    </a:solidFill>
                  </a:tcPr>
                </a:tc>
                <a:tc>
                  <a:txBody>
                    <a:bodyPr/>
                    <a:lstStyle/>
                    <a:p>
                      <a:r>
                        <a:rPr sz="1900" b="0" i="0">
                          <a:solidFill>
                            <a:srgbClr val="1F2D33"/>
                          </a:solidFill>
                        </a:rPr>
                        <a:t>0.78 to 1.06</a:t>
                      </a:r>
                    </a:p>
                  </a:txBody>
                  <a:tcPr marL="73152" marR="73152" marT="36576" marB="36576">
                    <a:solidFill>
                      <a:srgbClr val="EAF2F5"/>
                    </a:solidFill>
                  </a:tcPr>
                </a:tc>
              </a:tr>
              <a:tr h="457200">
                <a:tc>
                  <a:txBody>
                    <a:bodyPr/>
                    <a:lstStyle/>
                    <a:p>
                      <a:r>
                        <a:rPr sz="1900" b="0" i="0">
                          <a:solidFill>
                            <a:srgbClr val="1F2D33"/>
                          </a:solidFill>
                        </a:rPr>
                        <a:t>Negative binomial (extension)</a:t>
                      </a:r>
                    </a:p>
                  </a:txBody>
                  <a:tcPr marL="73152" marR="73152" marT="36576" marB="36576">
                    <a:solidFill>
                      <a:srgbClr val="FFFFFF"/>
                    </a:solidFill>
                  </a:tcPr>
                </a:tc>
                <a:tc>
                  <a:txBody>
                    <a:bodyPr/>
                    <a:lstStyle/>
                    <a:p>
                      <a:r>
                        <a:rPr sz="1900" b="0" i="0">
                          <a:solidFill>
                            <a:srgbClr val="1F2D33"/>
                          </a:solidFill>
                        </a:rPr>
                        <a:t>0.93</a:t>
                      </a:r>
                    </a:p>
                  </a:txBody>
                  <a:tcPr marL="73152" marR="73152" marT="36576" marB="36576">
                    <a:solidFill>
                      <a:srgbClr val="FFFFFF"/>
                    </a:solidFill>
                  </a:tcPr>
                </a:tc>
                <a:tc>
                  <a:txBody>
                    <a:bodyPr/>
                    <a:lstStyle/>
                    <a:p>
                      <a:r>
                        <a:rPr sz="1900" b="0" i="0">
                          <a:solidFill>
                            <a:srgbClr val="1F2D33"/>
                          </a:solidFill>
                        </a:rPr>
                        <a:t>0.79 to 1.08</a:t>
                      </a:r>
                    </a:p>
                  </a:txBody>
                  <a:tcPr marL="73152" marR="73152" marT="36576" marB="36576">
                    <a:solidFill>
                      <a:srgbClr val="FFFFFF"/>
                    </a:solidFill>
                  </a:tcPr>
                </a:tc>
              </a:tr>
            </a:tbl>
          </a:graphicData>
        </a:graphic>
      </p:graphicFrame>
      <p:sp>
        <p:nvSpPr>
          <p:cNvPr id="5" name="TextBox 4"/>
          <p:cNvSpPr txBox="1"/>
          <p:nvPr/>
        </p:nvSpPr>
        <p:spPr>
          <a:xfrm>
            <a:off x="429768" y="3538728"/>
            <a:ext cx="11332159" cy="260604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Poisson assumes variance = mean. Here the dispersion ratio is 2.0</a:t>
            </a:r>
          </a:p>
          <a:p>
            <a:pPr>
              <a:spcAft>
                <a:spcPts val="1000"/>
              </a:spcAft>
            </a:pPr>
            <a:r>
              <a:rPr sz="1300" b="0" i="0">
                <a:solidFill>
                  <a:srgbClr val="0D7377"/>
                </a:solidFill>
              </a:rPr>
              <a:t>●  </a:t>
            </a:r>
            <a:r>
              <a:rPr sz="1900" b="0" i="0">
                <a:solidFill>
                  <a:srgbClr val="1F2D33"/>
                </a:solidFill>
              </a:rPr>
              <a:t>Overdispersion makes Poisson CIs too narrow; quasi-Poisson or negative binomial widen them</a:t>
            </a:r>
          </a:p>
          <a:p>
            <a:pPr>
              <a:spcAft>
                <a:spcPts val="1000"/>
              </a:spcAft>
            </a:pPr>
            <a:r>
              <a:rPr sz="1300" b="0" i="0">
                <a:solidFill>
                  <a:srgbClr val="0D7377"/>
                </a:solidFill>
              </a:rPr>
              <a:t>●  </a:t>
            </a:r>
            <a:r>
              <a:rPr sz="1900" b="0" i="0">
                <a:solidFill>
                  <a:srgbClr val="1F2D33"/>
                </a:solidFill>
              </a:rPr>
              <a:t>Adjusted for age and baseline high BP. Conclusion: no clear evidence that visit rates differ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Prediction and discovering groups</a:t>
            </a:r>
          </a:p>
        </p:txBody>
      </p:sp>
      <p:sp>
        <p:nvSpPr>
          <p:cNvPr id="3" name="Text Placeholder 2"/>
          <p:cNvSpPr>
            <a:spLocks noGrp="1"/>
          </p:cNvSpPr>
          <p:nvPr>
            <p:ph type="body" idx="1"/>
          </p:nvPr>
        </p:nvSpPr>
        <p:spPr/>
        <p:txBody>
          <a:bodyPr/>
          <a:lstStyle/>
          <a:p>
            <a:r>
              <a:t>Part 5. Train/test separation, leakage and clustering</a:t>
            </a:r>
          </a:p>
        </p:txBody>
      </p:sp>
      <p:sp>
        <p:nvSpPr>
          <p:cNvPr id="4" name="Slide Number Placeholder 3"/>
          <p:cNvSpPr>
            <a:spLocks noGrp="1"/>
          </p:cNvSpPr>
          <p:nvPr>
            <p:ph type="sldNum" idx="12" sz="quarter"/>
          </p:nvPr>
        </p:nvSpPr>
        <p:spPr/>
        <p:txBody>
          <a:bodyPr/>
          <a:lstStyle/>
          <a:p>
            <a:fld id="{B6F15528-21DE-4FAA-801E-634DDDAF4B2B}" type="slidenum">
              <a:rPr lang="en-GB"/>
              <a:t>32</a:t>
            </a:fld>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Explaining versus predicting</a:t>
            </a:r>
          </a:p>
        </p:txBody>
      </p:sp>
      <p:sp>
        <p:nvSpPr>
          <p:cNvPr id="3" name="Slide Number Placeholder 2"/>
          <p:cNvSpPr>
            <a:spLocks noGrp="1"/>
          </p:cNvSpPr>
          <p:nvPr>
            <p:ph type="sldNum" idx="12" sz="quarter"/>
          </p:nvPr>
        </p:nvSpPr>
        <p:spPr/>
        <p:txBody>
          <a:bodyPr/>
          <a:lstStyle/>
          <a:p>
            <a:fld id="{B6F15528-21DE-4FAA-801E-634DDDAF4B2B}" type="slidenum">
              <a:rPr lang="en-GB"/>
              <a:t>33</a:t>
            </a:fld>
          </a:p>
        </p:txBody>
      </p:sp>
      <p:sp>
        <p:nvSpPr>
          <p:cNvPr id="4" name="TextBox 3"/>
          <p:cNvSpPr txBox="1"/>
          <p:nvPr/>
        </p:nvSpPr>
        <p:spPr>
          <a:xfrm>
            <a:off x="429768" y="1389888"/>
            <a:ext cx="5483199" cy="457200"/>
          </a:xfrm>
          <a:prstGeom prst="rect">
            <a:avLst/>
          </a:prstGeom>
          <a:noFill/>
        </p:spPr>
        <p:txBody>
          <a:bodyPr wrap="square" anchor="t" lIns="45720" rIns="45720">
            <a:spAutoFit/>
          </a:bodyPr>
          <a:lstStyle/>
          <a:p>
            <a:pPr algn="l"/>
            <a:r>
              <a:rPr sz="2100" b="1" i="0">
                <a:solidFill>
                  <a:srgbClr val="0B376C"/>
                </a:solidFill>
              </a:rPr>
              <a:t>Explaining (estimation)</a:t>
            </a:r>
          </a:p>
        </p:txBody>
      </p:sp>
      <p:sp>
        <p:nvSpPr>
          <p:cNvPr id="5" name="TextBox 4"/>
          <p:cNvSpPr txBox="1"/>
          <p:nvPr/>
        </p:nvSpPr>
        <p:spPr>
          <a:xfrm>
            <a:off x="429768" y="1892808"/>
            <a:ext cx="5483199" cy="425196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Goal: estimate an association, ideally a causal one</a:t>
            </a:r>
          </a:p>
          <a:p>
            <a:pPr>
              <a:spcAft>
                <a:spcPts val="1000"/>
              </a:spcAft>
            </a:pPr>
            <a:r>
              <a:rPr sz="1300" b="0" i="0">
                <a:solidFill>
                  <a:srgbClr val="0D7377"/>
                </a:solidFill>
              </a:rPr>
              <a:t>●  </a:t>
            </a:r>
            <a:r>
              <a:rPr sz="1900" b="0" i="0">
                <a:solidFill>
                  <a:srgbClr val="1F2D33"/>
                </a:solidFill>
              </a:rPr>
              <a:t>Choose variables from a causal diagram</a:t>
            </a:r>
          </a:p>
          <a:p>
            <a:pPr>
              <a:spcAft>
                <a:spcPts val="1000"/>
              </a:spcAft>
            </a:pPr>
            <a:r>
              <a:rPr sz="1300" b="0" i="0">
                <a:solidFill>
                  <a:srgbClr val="0D7377"/>
                </a:solidFill>
              </a:rPr>
              <a:t>●  </a:t>
            </a:r>
            <a:r>
              <a:rPr sz="1900" b="0" i="0">
                <a:solidFill>
                  <a:srgbClr val="1F2D33"/>
                </a:solidFill>
              </a:rPr>
              <a:t>Report effect sizes with CIs</a:t>
            </a:r>
          </a:p>
          <a:p>
            <a:pPr>
              <a:spcAft>
                <a:spcPts val="1000"/>
              </a:spcAft>
            </a:pPr>
            <a:r>
              <a:rPr sz="1300" b="0" i="0">
                <a:solidFill>
                  <a:srgbClr val="0D7377"/>
                </a:solidFill>
              </a:rPr>
              <a:t>●  </a:t>
            </a:r>
            <a:r>
              <a:rPr sz="1900" b="0" i="0">
                <a:solidFill>
                  <a:srgbClr val="1F2D33"/>
                </a:solidFill>
              </a:rPr>
              <a:t>Bias matters more than accuracy</a:t>
            </a:r>
          </a:p>
        </p:txBody>
      </p:sp>
      <p:sp>
        <p:nvSpPr>
          <p:cNvPr id="6" name="TextBox 5"/>
          <p:cNvSpPr txBox="1"/>
          <p:nvPr/>
        </p:nvSpPr>
        <p:spPr>
          <a:xfrm>
            <a:off x="6278727" y="1389888"/>
            <a:ext cx="5483199" cy="457200"/>
          </a:xfrm>
          <a:prstGeom prst="rect">
            <a:avLst/>
          </a:prstGeom>
          <a:noFill/>
        </p:spPr>
        <p:txBody>
          <a:bodyPr wrap="square" anchor="t" lIns="45720" rIns="45720">
            <a:spAutoFit/>
          </a:bodyPr>
          <a:lstStyle/>
          <a:p>
            <a:pPr algn="l"/>
            <a:r>
              <a:rPr sz="2100" b="1" i="0">
                <a:solidFill>
                  <a:srgbClr val="0B376C"/>
                </a:solidFill>
              </a:rPr>
              <a:t>Predicting</a:t>
            </a:r>
          </a:p>
        </p:txBody>
      </p:sp>
      <p:sp>
        <p:nvSpPr>
          <p:cNvPr id="7" name="TextBox 6"/>
          <p:cNvSpPr txBox="1"/>
          <p:nvPr/>
        </p:nvSpPr>
        <p:spPr>
          <a:xfrm>
            <a:off x="6278727" y="1892808"/>
            <a:ext cx="5483199" cy="425196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Goal: accurate predictions for new people</a:t>
            </a:r>
          </a:p>
          <a:p>
            <a:pPr>
              <a:spcAft>
                <a:spcPts val="1000"/>
              </a:spcAft>
            </a:pPr>
            <a:r>
              <a:rPr sz="1300" b="0" i="0">
                <a:solidFill>
                  <a:srgbClr val="0D7377"/>
                </a:solidFill>
              </a:rPr>
              <a:t>●  </a:t>
            </a:r>
            <a:r>
              <a:rPr sz="1900" b="0" i="0">
                <a:solidFill>
                  <a:srgbClr val="1F2D33"/>
                </a:solidFill>
              </a:rPr>
              <a:t>Variables chosen for predictive value, not causal role</a:t>
            </a:r>
          </a:p>
          <a:p>
            <a:pPr>
              <a:spcAft>
                <a:spcPts val="1000"/>
              </a:spcAft>
            </a:pPr>
            <a:r>
              <a:rPr sz="1300" b="0" i="0">
                <a:solidFill>
                  <a:srgbClr val="0D7377"/>
                </a:solidFill>
              </a:rPr>
              <a:t>●  </a:t>
            </a:r>
            <a:r>
              <a:rPr sz="1900" b="0" i="0">
                <a:solidFill>
                  <a:srgbClr val="1F2D33"/>
                </a:solidFill>
              </a:rPr>
              <a:t>Report prediction error on new data</a:t>
            </a:r>
          </a:p>
          <a:p>
            <a:pPr>
              <a:spcAft>
                <a:spcPts val="1000"/>
              </a:spcAft>
            </a:pPr>
            <a:r>
              <a:rPr sz="1300" b="0" i="0">
                <a:solidFill>
                  <a:srgbClr val="0D7377"/>
                </a:solidFill>
              </a:rPr>
              <a:t>●  </a:t>
            </a:r>
            <a:r>
              <a:rPr sz="1900" b="0" i="0">
                <a:solidFill>
                  <a:srgbClr val="1F2D33"/>
                </a:solidFill>
              </a:rPr>
              <a:t>Coefficients need not have a causal meaning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Train/test separation and data leakage</a:t>
            </a:r>
          </a:p>
        </p:txBody>
      </p:sp>
      <p:sp>
        <p:nvSpPr>
          <p:cNvPr id="3" name="Slide Number Placeholder 2"/>
          <p:cNvSpPr>
            <a:spLocks noGrp="1"/>
          </p:cNvSpPr>
          <p:nvPr>
            <p:ph type="sldNum" idx="12" sz="quarter"/>
          </p:nvPr>
        </p:nvSpPr>
        <p:spPr/>
        <p:txBody>
          <a:bodyPr/>
          <a:lstStyle/>
          <a:p>
            <a:fld id="{B6F15528-21DE-4FAA-801E-634DDDAF4B2B}" type="slidenum">
              <a:rPr lang="en-GB"/>
              <a:t>34</a:t>
            </a:fld>
          </a:p>
        </p:txBody>
      </p:sp>
      <p:sp>
        <p:nvSpPr>
          <p:cNvPr id="4" name="TextBox 3"/>
          <p:cNvSpPr txBox="1"/>
          <p:nvPr/>
        </p:nvSpPr>
        <p:spPr>
          <a:xfrm>
            <a:off x="429768" y="1389888"/>
            <a:ext cx="11332159" cy="475488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A model always fits the data it was built on better than new data</a:t>
            </a:r>
          </a:p>
          <a:p>
            <a:pPr>
              <a:spcAft>
                <a:spcPts val="1000"/>
              </a:spcAft>
            </a:pPr>
            <a:r>
              <a:rPr sz="1600" b="0" i="0">
                <a:solidFill>
                  <a:srgbClr val="0D7377"/>
                </a:solidFill>
              </a:rPr>
              <a:t>●  </a:t>
            </a:r>
            <a:r>
              <a:rPr sz="2200" b="0" i="0">
                <a:solidFill>
                  <a:srgbClr val="1F2D33"/>
                </a:solidFill>
              </a:rPr>
              <a:t>Split the data: fit on a training set (e.g. 70%), evaluate once on a test set (30%)</a:t>
            </a:r>
          </a:p>
          <a:p>
            <a:pPr>
              <a:spcAft>
                <a:spcPts val="1000"/>
              </a:spcAft>
            </a:pPr>
            <a:r>
              <a:rPr sz="1600" b="0" i="0">
                <a:solidFill>
                  <a:srgbClr val="0D7377"/>
                </a:solidFill>
              </a:rPr>
              <a:t>●  </a:t>
            </a:r>
            <a:r>
              <a:rPr sz="2200" b="0" i="0">
                <a:solidFill>
                  <a:srgbClr val="1F2D33"/>
                </a:solidFill>
              </a:rPr>
              <a:t>Example: predicting SBP. Error (RMSE) in mmHg:</a:t>
            </a:r>
          </a:p>
          <a:p>
            <a:pPr>
              <a:spcAft>
                <a:spcPts val="500"/>
              </a:spcAft>
            </a:pPr>
            <a:r>
              <a:rPr sz="1900" b="0" i="0">
                <a:solidFill>
                  <a:srgbClr val="8A99A3"/>
                </a:solidFill>
              </a:rPr>
              <a:t>        –  </a:t>
            </a:r>
            <a:r>
              <a:rPr sz="1900" b="0" i="0">
                <a:solidFill>
                  <a:srgbClr val="8A99A3"/>
                </a:solidFill>
              </a:rPr>
              <a:t>Age only: 13.4 training, 13.7 test</a:t>
            </a:r>
          </a:p>
          <a:p>
            <a:pPr>
              <a:spcAft>
                <a:spcPts val="500"/>
              </a:spcAft>
            </a:pPr>
            <a:r>
              <a:rPr sz="1900" b="0" i="0">
                <a:solidFill>
                  <a:srgbClr val="8A99A3"/>
                </a:solidFill>
              </a:rPr>
              <a:t>        –  </a:t>
            </a:r>
            <a:r>
              <a:rPr sz="1900" b="0" i="0">
                <a:solidFill>
                  <a:srgbClr val="8A99A3"/>
                </a:solidFill>
              </a:rPr>
              <a:t>Age, sex, BMI, activity, smoking, district: 11.4 training, 12.3 test</a:t>
            </a:r>
          </a:p>
          <a:p>
            <a:pPr>
              <a:spcAft>
                <a:spcPts val="1000"/>
              </a:spcAft>
            </a:pPr>
            <a:r>
              <a:rPr sz="1600" b="0" i="0">
                <a:solidFill>
                  <a:srgbClr val="0D7377"/>
                </a:solidFill>
              </a:rPr>
              <a:t>●  </a:t>
            </a:r>
            <a:r>
              <a:rPr sz="2200" b="0" i="0">
                <a:solidFill>
                  <a:srgbClr val="1F2D33"/>
                </a:solidFill>
              </a:rPr>
              <a:t>Leakage: information from the test set or the future enters model building</a:t>
            </a:r>
          </a:p>
          <a:p>
            <a:pPr>
              <a:spcAft>
                <a:spcPts val="500"/>
              </a:spcAft>
            </a:pPr>
            <a:r>
              <a:rPr sz="1900" b="0" i="0">
                <a:solidFill>
                  <a:srgbClr val="8A99A3"/>
                </a:solidFill>
              </a:rPr>
              <a:t>        –  </a:t>
            </a:r>
            <a:r>
              <a:rPr sz="1900" b="0" i="0">
                <a:solidFill>
                  <a:srgbClr val="8A99A3"/>
                </a:solidFill>
              </a:rPr>
              <a:t>Choosing variables using all the data; using 12-month SBP to predict 12-month high BP</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Discovering groups: clustering</a:t>
            </a:r>
          </a:p>
        </p:txBody>
      </p:sp>
      <p:sp>
        <p:nvSpPr>
          <p:cNvPr id="3" name="Slide Number Placeholder 2"/>
          <p:cNvSpPr>
            <a:spLocks noGrp="1"/>
          </p:cNvSpPr>
          <p:nvPr>
            <p:ph type="sldNum" idx="12" sz="quarter"/>
          </p:nvPr>
        </p:nvSpPr>
        <p:spPr/>
        <p:txBody>
          <a:bodyPr/>
          <a:lstStyle/>
          <a:p>
            <a:fld id="{B6F15528-21DE-4FAA-801E-634DDDAF4B2B}" type="slidenum">
              <a:rPr lang="en-GB"/>
              <a:t>35</a:t>
            </a:fld>
          </a:p>
        </p:txBody>
      </p:sp>
      <p:sp>
        <p:nvSpPr>
          <p:cNvPr id="4" name="TextBox 3"/>
          <p:cNvSpPr txBox="1"/>
          <p:nvPr/>
        </p:nvSpPr>
        <p:spPr>
          <a:xfrm>
            <a:off x="429768" y="1389888"/>
            <a:ext cx="11332159" cy="475488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Unsupervised learning: no outcome variable</a:t>
            </a:r>
          </a:p>
          <a:p>
            <a:pPr>
              <a:spcAft>
                <a:spcPts val="1000"/>
              </a:spcAft>
            </a:pPr>
            <a:r>
              <a:rPr sz="1600" b="0" i="0">
                <a:solidFill>
                  <a:srgbClr val="0D7377"/>
                </a:solidFill>
              </a:rPr>
              <a:t>●  </a:t>
            </a:r>
            <a:r>
              <a:rPr sz="2200" b="0" i="0">
                <a:solidFill>
                  <a:srgbClr val="1F2D33"/>
                </a:solidFill>
              </a:rPr>
              <a:t>Groups people who are similar on the variables we choose</a:t>
            </a:r>
          </a:p>
          <a:p>
            <a:pPr>
              <a:spcAft>
                <a:spcPts val="1000"/>
              </a:spcAft>
            </a:pPr>
            <a:r>
              <a:rPr sz="1600" b="0" i="0">
                <a:solidFill>
                  <a:srgbClr val="0D7377"/>
                </a:solidFill>
              </a:rPr>
              <a:t>●  </a:t>
            </a:r>
            <a:r>
              <a:rPr sz="2200" b="0" i="0">
                <a:solidFill>
                  <a:srgbClr val="1F2D33"/>
                </a:solidFill>
              </a:rPr>
              <a:t>Similarity is measured by a distance (usually Euclidean)</a:t>
            </a:r>
          </a:p>
          <a:p>
            <a:pPr>
              <a:spcAft>
                <a:spcPts val="1000"/>
              </a:spcAft>
            </a:pPr>
            <a:r>
              <a:rPr sz="1600" b="0" i="0">
                <a:solidFill>
                  <a:srgbClr val="0D7377"/>
                </a:solidFill>
              </a:rPr>
              <a:t>●  </a:t>
            </a:r>
            <a:r>
              <a:rPr sz="2200" b="0" i="0">
                <a:solidFill>
                  <a:srgbClr val="1F2D33"/>
                </a:solidFill>
              </a:rPr>
              <a:t>k-means: choose k; assign each person to the nearest centre; move centres to the mean; repeat</a:t>
            </a:r>
          </a:p>
          <a:p>
            <a:pPr>
              <a:spcAft>
                <a:spcPts val="1000"/>
              </a:spcAft>
            </a:pPr>
            <a:r>
              <a:rPr sz="1600" b="0" i="0">
                <a:solidFill>
                  <a:srgbClr val="0D7377"/>
                </a:solidFill>
              </a:rPr>
              <a:t>●  </a:t>
            </a:r>
            <a:r>
              <a:rPr sz="2200" b="0" i="0">
                <a:solidFill>
                  <a:srgbClr val="1F2D33"/>
                </a:solidFill>
              </a:rPr>
              <a:t>Hierarchical: merge the closest groups step by step, giving a tree (dendrogram)</a:t>
            </a:r>
          </a:p>
          <a:p>
            <a:pPr>
              <a:spcAft>
                <a:spcPts val="1000"/>
              </a:spcAft>
            </a:pPr>
            <a:r>
              <a:rPr sz="1600" b="0" i="0">
                <a:solidFill>
                  <a:srgbClr val="0D7377"/>
                </a:solidFill>
              </a:rPr>
              <a:t>●  </a:t>
            </a:r>
            <a:r>
              <a:rPr sz="2200" b="0" i="0">
                <a:solidFill>
                  <a:srgbClr val="1F2D33"/>
                </a:solidFill>
              </a:rPr>
              <a:t>Our example: activity, diet score and BMI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Scaling matters</a:t>
            </a:r>
          </a:p>
        </p:txBody>
      </p:sp>
      <p:sp>
        <p:nvSpPr>
          <p:cNvPr id="3" name="Slide Number Placeholder 2"/>
          <p:cNvSpPr>
            <a:spLocks noGrp="1"/>
          </p:cNvSpPr>
          <p:nvPr>
            <p:ph type="sldNum" idx="12" sz="quarter"/>
          </p:nvPr>
        </p:nvSpPr>
        <p:spPr/>
        <p:txBody>
          <a:bodyPr/>
          <a:lstStyle/>
          <a:p>
            <a:fld id="{B6F15528-21DE-4FAA-801E-634DDDAF4B2B}" type="slidenum">
              <a:rPr lang="en-GB"/>
              <a:t>36</a:t>
            </a:fld>
          </a:p>
        </p:txBody>
      </p:sp>
      <p:pic>
        <p:nvPicPr>
          <p:cNvPr id="4" name="Picture 3" descr="f_kmeans_scaling.png"/>
          <p:cNvPicPr>
            <a:picLocks noChangeAspect="1"/>
          </p:cNvPicPr>
          <p:nvPr/>
        </p:nvPicPr>
        <p:blipFill>
          <a:blip r:embed="rId3"/>
          <a:stretch>
            <a:fillRect/>
          </a:stretch>
        </p:blipFill>
        <p:spPr>
          <a:xfrm>
            <a:off x="1119035" y="1344168"/>
            <a:ext cx="9953625" cy="4343400"/>
          </a:xfrm>
          <a:prstGeom prst="rect">
            <a:avLst/>
          </a:prstGeom>
        </p:spPr>
      </p:pic>
      <p:sp>
        <p:nvSpPr>
          <p:cNvPr id="5" name="TextBox 4"/>
          <p:cNvSpPr txBox="1"/>
          <p:nvPr/>
        </p:nvSpPr>
        <p:spPr>
          <a:xfrm>
            <a:off x="429768" y="5733288"/>
            <a:ext cx="11332159" cy="411480"/>
          </a:xfrm>
          <a:prstGeom prst="rect">
            <a:avLst/>
          </a:prstGeom>
          <a:noFill/>
        </p:spPr>
        <p:txBody>
          <a:bodyPr wrap="square" anchor="t" lIns="45720" rIns="45720">
            <a:spAutoFit/>
          </a:bodyPr>
          <a:lstStyle/>
          <a:p>
            <a:pPr algn="ctr"/>
            <a:r>
              <a:rPr sz="1500" b="0" i="0">
                <a:solidFill>
                  <a:srgbClr val="0070C0"/>
                </a:solidFill>
              </a:rPr>
              <a:t>Activity is measured in hundreds of minutes, diet on a 0 to 10 scale. Without scaling, activity dominates the distances.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many clusters?</a:t>
            </a:r>
          </a:p>
        </p:txBody>
      </p:sp>
      <p:sp>
        <p:nvSpPr>
          <p:cNvPr id="3" name="Slide Number Placeholder 2"/>
          <p:cNvSpPr>
            <a:spLocks noGrp="1"/>
          </p:cNvSpPr>
          <p:nvPr>
            <p:ph type="sldNum" idx="12" sz="quarter"/>
          </p:nvPr>
        </p:nvSpPr>
        <p:spPr/>
        <p:txBody>
          <a:bodyPr/>
          <a:lstStyle/>
          <a:p>
            <a:fld id="{B6F15528-21DE-4FAA-801E-634DDDAF4B2B}" type="slidenum">
              <a:rPr lang="en-GB"/>
              <a:t>37</a:t>
            </a:fld>
          </a:p>
        </p:txBody>
      </p:sp>
      <p:pic>
        <p:nvPicPr>
          <p:cNvPr id="4" name="Picture 3" descr="f_choose_k.png"/>
          <p:cNvPicPr>
            <a:picLocks noChangeAspect="1"/>
          </p:cNvPicPr>
          <p:nvPr/>
        </p:nvPicPr>
        <p:blipFill>
          <a:blip r:embed="rId3"/>
          <a:stretch>
            <a:fillRect/>
          </a:stretch>
        </p:blipFill>
        <p:spPr>
          <a:xfrm>
            <a:off x="787247" y="1344168"/>
            <a:ext cx="10617200" cy="4343400"/>
          </a:xfrm>
          <a:prstGeom prst="rect">
            <a:avLst/>
          </a:prstGeom>
        </p:spPr>
      </p:pic>
      <p:sp>
        <p:nvSpPr>
          <p:cNvPr id="5" name="TextBox 4"/>
          <p:cNvSpPr txBox="1"/>
          <p:nvPr/>
        </p:nvSpPr>
        <p:spPr>
          <a:xfrm>
            <a:off x="429768" y="5733288"/>
            <a:ext cx="11332159" cy="411480"/>
          </a:xfrm>
          <a:prstGeom prst="rect">
            <a:avLst/>
          </a:prstGeom>
          <a:noFill/>
        </p:spPr>
        <p:txBody>
          <a:bodyPr wrap="square" anchor="t" lIns="45720" rIns="45720">
            <a:spAutoFit/>
          </a:bodyPr>
          <a:lstStyle/>
          <a:p>
            <a:pPr algn="ctr"/>
            <a:r>
              <a:rPr sz="1500" b="0" i="0">
                <a:solidFill>
                  <a:srgbClr val="0070C0"/>
                </a:solidFill>
              </a:rPr>
              <a:t>No sharp elbow; average silhouette widths are all below 0.35. The data do not clearly favour one k.</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Hierarchical clustering</a:t>
            </a:r>
          </a:p>
        </p:txBody>
      </p:sp>
      <p:sp>
        <p:nvSpPr>
          <p:cNvPr id="3" name="Slide Number Placeholder 2"/>
          <p:cNvSpPr>
            <a:spLocks noGrp="1"/>
          </p:cNvSpPr>
          <p:nvPr>
            <p:ph type="sldNum" idx="12" sz="quarter"/>
          </p:nvPr>
        </p:nvSpPr>
        <p:spPr/>
        <p:txBody>
          <a:bodyPr/>
          <a:lstStyle/>
          <a:p>
            <a:fld id="{B6F15528-21DE-4FAA-801E-634DDDAF4B2B}" type="slidenum">
              <a:rPr lang="en-GB"/>
              <a:t>38</a:t>
            </a:fld>
          </a:p>
        </p:txBody>
      </p:sp>
      <p:pic>
        <p:nvPicPr>
          <p:cNvPr id="4" name="Picture 3" descr="f_dendrogram.png"/>
          <p:cNvPicPr>
            <a:picLocks noChangeAspect="1"/>
          </p:cNvPicPr>
          <p:nvPr/>
        </p:nvPicPr>
        <p:blipFill>
          <a:blip r:embed="rId3"/>
          <a:stretch>
            <a:fillRect/>
          </a:stretch>
        </p:blipFill>
        <p:spPr>
          <a:xfrm>
            <a:off x="2023910" y="1344168"/>
            <a:ext cx="8143875" cy="4343400"/>
          </a:xfrm>
          <a:prstGeom prst="rect">
            <a:avLst/>
          </a:prstGeom>
        </p:spPr>
      </p:pic>
      <p:sp>
        <p:nvSpPr>
          <p:cNvPr id="5" name="TextBox 4"/>
          <p:cNvSpPr txBox="1"/>
          <p:nvPr/>
        </p:nvSpPr>
        <p:spPr>
          <a:xfrm>
            <a:off x="429768" y="5733288"/>
            <a:ext cx="11332159" cy="411480"/>
          </a:xfrm>
          <a:prstGeom prst="rect">
            <a:avLst/>
          </a:prstGeom>
          <a:noFill/>
        </p:spPr>
        <p:txBody>
          <a:bodyPr wrap="square" anchor="t" lIns="45720" rIns="45720">
            <a:spAutoFit/>
          </a:bodyPr>
          <a:lstStyle/>
          <a:p>
            <a:pPr algn="ctr"/>
            <a:r>
              <a:rPr sz="1500" b="0" i="0">
                <a:solidFill>
                  <a:srgbClr val="0070C0"/>
                </a:solidFill>
              </a:rPr>
              <a:t>Ward's method on the same scaled variables. Cutting the tree at three groups gives clusters similar to k-means.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Are the clusters meaningful?</a:t>
            </a:r>
          </a:p>
        </p:txBody>
      </p:sp>
      <p:sp>
        <p:nvSpPr>
          <p:cNvPr id="3" name="Slide Number Placeholder 2"/>
          <p:cNvSpPr>
            <a:spLocks noGrp="1"/>
          </p:cNvSpPr>
          <p:nvPr>
            <p:ph type="sldNum" idx="12" sz="quarter"/>
          </p:nvPr>
        </p:nvSpPr>
        <p:spPr/>
        <p:txBody>
          <a:bodyPr/>
          <a:lstStyle/>
          <a:p>
            <a:fld id="{B6F15528-21DE-4FAA-801E-634DDDAF4B2B}" type="slidenum">
              <a:rPr lang="en-GB"/>
              <a:t>39</a:t>
            </a:fld>
          </a:p>
        </p:txBody>
      </p:sp>
      <p:sp>
        <p:nvSpPr>
          <p:cNvPr id="4" name="TextBox 3"/>
          <p:cNvSpPr txBox="1"/>
          <p:nvPr/>
        </p:nvSpPr>
        <p:spPr>
          <a:xfrm>
            <a:off x="429768" y="1389888"/>
            <a:ext cx="11332159" cy="475488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Clusters depend on the variables, the scaling, k and the algorithm</a:t>
            </a:r>
          </a:p>
          <a:p>
            <a:pPr>
              <a:spcAft>
                <a:spcPts val="1000"/>
              </a:spcAft>
            </a:pPr>
            <a:r>
              <a:rPr sz="1600" b="0" i="0">
                <a:solidFill>
                  <a:srgbClr val="0D7377"/>
                </a:solidFill>
              </a:rPr>
              <a:t>●  </a:t>
            </a:r>
            <a:r>
              <a:rPr sz="2200" b="0" i="0">
                <a:solidFill>
                  <a:srgbClr val="1F2D33"/>
                </a:solidFill>
              </a:rPr>
              <a:t>Describe clusters on the original scale and name them carefully</a:t>
            </a:r>
          </a:p>
          <a:p>
            <a:pPr>
              <a:spcAft>
                <a:spcPts val="500"/>
              </a:spcAft>
            </a:pPr>
            <a:r>
              <a:rPr sz="1900" b="0" i="0">
                <a:solidFill>
                  <a:srgbClr val="8A99A3"/>
                </a:solidFill>
              </a:rPr>
              <a:t>        –  </a:t>
            </a:r>
            <a:r>
              <a:rPr sz="1900" b="0" i="0">
                <a:solidFill>
                  <a:srgbClr val="8A99A3"/>
                </a:solidFill>
              </a:rPr>
              <a:t>Our k = 3: low activity / higher BMI; middle; high activity / good diet / lower BMI</a:t>
            </a:r>
          </a:p>
          <a:p>
            <a:pPr>
              <a:spcAft>
                <a:spcPts val="1000"/>
              </a:spcAft>
            </a:pPr>
            <a:r>
              <a:rPr sz="1600" b="0" i="0">
                <a:solidFill>
                  <a:srgbClr val="0D7377"/>
                </a:solidFill>
              </a:rPr>
              <a:t>●  </a:t>
            </a:r>
            <a:r>
              <a:rPr sz="2200" b="0" i="0">
                <a:solidFill>
                  <a:srgbClr val="1F2D33"/>
                </a:solidFill>
              </a:rPr>
              <a:t>Check stability: different seeds, subsets, methods</a:t>
            </a:r>
          </a:p>
          <a:p>
            <a:pPr>
              <a:spcAft>
                <a:spcPts val="1000"/>
              </a:spcAft>
            </a:pPr>
            <a:r>
              <a:rPr sz="1600" b="0" i="0">
                <a:solidFill>
                  <a:srgbClr val="0D7377"/>
                </a:solidFill>
              </a:rPr>
              <a:t>●  </a:t>
            </a:r>
            <a:r>
              <a:rPr sz="2200" b="0" i="0">
                <a:solidFill>
                  <a:srgbClr val="1F2D33"/>
                </a:solidFill>
              </a:rPr>
              <a:t>Check usefulness: do clusters differ on variables NOT used to build them? (mean SBP 138, 127, 121 mmHg)</a:t>
            </a:r>
          </a:p>
          <a:p>
            <a:pPr>
              <a:spcAft>
                <a:spcPts val="1000"/>
              </a:spcAft>
            </a:pPr>
            <a:r>
              <a:rPr sz="1600" b="0" i="0">
                <a:solidFill>
                  <a:srgbClr val="0D7377"/>
                </a:solidFill>
              </a:rPr>
              <a:t>●  </a:t>
            </a:r>
            <a:r>
              <a:rPr sz="2200" b="0" i="0">
                <a:solidFill>
                  <a:srgbClr val="1F2D33"/>
                </a:solidFill>
              </a:rPr>
              <a:t>Do not test for differences on the clustering variables: clusters were built to differ on them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to go next</a:t>
            </a:r>
          </a:p>
        </p:txBody>
      </p:sp>
      <p:sp>
        <p:nvSpPr>
          <p:cNvPr id="3" name="Slide Number Placeholder 2"/>
          <p:cNvSpPr>
            <a:spLocks noGrp="1"/>
          </p:cNvSpPr>
          <p:nvPr>
            <p:ph type="sldNum" idx="12" sz="quarter"/>
          </p:nvPr>
        </p:nvSpPr>
        <p:spPr/>
        <p:txBody>
          <a:bodyPr/>
          <a:lstStyle/>
          <a:p>
            <a:fld id="{B6F15528-21DE-4FAA-801E-634DDDAF4B2B}" type="slidenum">
              <a:rPr lang="en-GB"/>
              <a:t>40</a:t>
            </a:fld>
          </a:p>
        </p:txBody>
      </p:sp>
      <p:graphicFrame>
        <p:nvGraphicFramePr>
          <p:cNvPr id="4" name="Table 3"/>
          <p:cNvGraphicFramePr>
            <a:graphicFrameLocks noGrp="1"/>
          </p:cNvGraphicFramePr>
          <p:nvPr/>
        </p:nvGraphicFramePr>
        <p:xfrm>
          <a:off x="429768" y="1435608"/>
          <a:ext cx="11332157" cy="2743200"/>
        </p:xfrm>
        <a:graphic>
          <a:graphicData uri="http://schemas.openxmlformats.org/drawingml/2006/table">
            <a:tbl>
              <a:tblPr firstRow="1" bandRow="1">
                <a:tableStyleId>{5C22544A-7EE6-4342-B048-85BDC9FD1C3A}</a:tableStyleId>
              </a:tblPr>
              <a:tblGrid>
                <a:gridCol w="4047199"/>
                <a:gridCol w="4249559"/>
                <a:gridCol w="3035399"/>
              </a:tblGrid>
              <a:tr h="457200">
                <a:tc>
                  <a:txBody>
                    <a:bodyPr/>
                    <a:lstStyle/>
                    <a:p>
                      <a:r>
                        <a:rPr sz="1800" b="1" i="0">
                          <a:solidFill>
                            <a:srgbClr val="FFFFFF"/>
                          </a:solidFill>
                        </a:rPr>
                        <a:t>If your data have...</a:t>
                      </a:r>
                    </a:p>
                  </a:txBody>
                  <a:tcPr marL="73152" marR="73152" marT="36576" marB="36576">
                    <a:solidFill>
                      <a:srgbClr val="04242F"/>
                    </a:solidFill>
                  </a:tcPr>
                </a:tc>
                <a:tc>
                  <a:txBody>
                    <a:bodyPr/>
                    <a:lstStyle/>
                    <a:p>
                      <a:r>
                        <a:rPr sz="1800" b="1" i="0">
                          <a:solidFill>
                            <a:srgbClr val="FFFFFF"/>
                          </a:solidFill>
                        </a:rPr>
                        <a:t>Look into</a:t>
                      </a:r>
                    </a:p>
                  </a:txBody>
                  <a:tcPr marL="73152" marR="73152" marT="36576" marB="36576">
                    <a:solidFill>
                      <a:srgbClr val="04242F"/>
                    </a:solidFill>
                  </a:tcPr>
                </a:tc>
                <a:tc>
                  <a:txBody>
                    <a:bodyPr/>
                    <a:lstStyle/>
                    <a:p>
                      <a:r>
                        <a:rPr sz="1800" b="1" i="0">
                          <a:solidFill>
                            <a:srgbClr val="FFFFFF"/>
                          </a:solidFill>
                        </a:rPr>
                        <a:t>Starting point in R</a:t>
                      </a:r>
                    </a:p>
                  </a:txBody>
                  <a:tcPr marL="73152" marR="73152" marT="36576" marB="36576">
                    <a:solidFill>
                      <a:srgbClr val="04242F"/>
                    </a:solidFill>
                  </a:tcPr>
                </a:tc>
              </a:tr>
              <a:tr h="457200">
                <a:tc>
                  <a:txBody>
                    <a:bodyPr/>
                    <a:lstStyle/>
                    <a:p>
                      <a:r>
                        <a:rPr sz="1800" b="0" i="0">
                          <a:solidFill>
                            <a:srgbClr val="1F2D33"/>
                          </a:solidFill>
                        </a:rPr>
                        <a:t>Ordered categories as outcome</a:t>
                      </a:r>
                    </a:p>
                  </a:txBody>
                  <a:tcPr marL="73152" marR="73152" marT="36576" marB="36576">
                    <a:solidFill>
                      <a:srgbClr val="FFFFFF"/>
                    </a:solidFill>
                  </a:tcPr>
                </a:tc>
                <a:tc>
                  <a:txBody>
                    <a:bodyPr/>
                    <a:lstStyle/>
                    <a:p>
                      <a:r>
                        <a:rPr sz="1800" b="0" i="0">
                          <a:solidFill>
                            <a:srgbClr val="1F2D33"/>
                          </a:solidFill>
                        </a:rPr>
                        <a:t>Ordinal (proportional odds) regression</a:t>
                      </a:r>
                    </a:p>
                  </a:txBody>
                  <a:tcPr marL="73152" marR="73152" marT="36576" marB="36576">
                    <a:solidFill>
                      <a:srgbClr val="FFFFFF"/>
                    </a:solidFill>
                  </a:tcPr>
                </a:tc>
                <a:tc>
                  <a:txBody>
                    <a:bodyPr/>
                    <a:lstStyle/>
                    <a:p>
                      <a:r>
                        <a:rPr sz="1800" b="0" i="0">
                          <a:solidFill>
                            <a:srgbClr val="1F2D33"/>
                          </a:solidFill>
                        </a:rPr>
                        <a:t>MASS::polr()</a:t>
                      </a:r>
                    </a:p>
                  </a:txBody>
                  <a:tcPr marL="73152" marR="73152" marT="36576" marB="36576">
                    <a:solidFill>
                      <a:srgbClr val="FFFFFF"/>
                    </a:solidFill>
                  </a:tcPr>
                </a:tc>
              </a:tr>
              <a:tr h="457200">
                <a:tc>
                  <a:txBody>
                    <a:bodyPr/>
                    <a:lstStyle/>
                    <a:p>
                      <a:r>
                        <a:rPr sz="1800" b="0" i="0">
                          <a:solidFill>
                            <a:srgbClr val="1F2D33"/>
                          </a:solidFill>
                        </a:rPr>
                        <a:t>Unordered categories (&gt; 2)</a:t>
                      </a:r>
                    </a:p>
                  </a:txBody>
                  <a:tcPr marL="73152" marR="73152" marT="36576" marB="36576">
                    <a:solidFill>
                      <a:srgbClr val="EAF2F5"/>
                    </a:solidFill>
                  </a:tcPr>
                </a:tc>
                <a:tc>
                  <a:txBody>
                    <a:bodyPr/>
                    <a:lstStyle/>
                    <a:p>
                      <a:r>
                        <a:rPr sz="1800" b="0" i="0">
                          <a:solidFill>
                            <a:srgbClr val="1F2D33"/>
                          </a:solidFill>
                        </a:rPr>
                        <a:t>Multinomial regression</a:t>
                      </a:r>
                    </a:p>
                  </a:txBody>
                  <a:tcPr marL="73152" marR="73152" marT="36576" marB="36576">
                    <a:solidFill>
                      <a:srgbClr val="EAF2F5"/>
                    </a:solidFill>
                  </a:tcPr>
                </a:tc>
                <a:tc>
                  <a:txBody>
                    <a:bodyPr/>
                    <a:lstStyle/>
                    <a:p>
                      <a:r>
                        <a:rPr sz="1800" b="0" i="0">
                          <a:solidFill>
                            <a:srgbClr val="1F2D33"/>
                          </a:solidFill>
                        </a:rPr>
                        <a:t>nnet::multinom()</a:t>
                      </a:r>
                    </a:p>
                  </a:txBody>
                  <a:tcPr marL="73152" marR="73152" marT="36576" marB="36576">
                    <a:solidFill>
                      <a:srgbClr val="EAF2F5"/>
                    </a:solidFill>
                  </a:tcPr>
                </a:tc>
              </a:tr>
              <a:tr h="457200">
                <a:tc>
                  <a:txBody>
                    <a:bodyPr/>
                    <a:lstStyle/>
                    <a:p>
                      <a:r>
                        <a:rPr sz="1800" b="0" i="0">
                          <a:solidFill>
                            <a:srgbClr val="1F2D33"/>
                          </a:solidFill>
                        </a:rPr>
                        <a:t>Time to an event, with censoring</a:t>
                      </a:r>
                    </a:p>
                  </a:txBody>
                  <a:tcPr marL="73152" marR="73152" marT="36576" marB="36576">
                    <a:solidFill>
                      <a:srgbClr val="FFFFFF"/>
                    </a:solidFill>
                  </a:tcPr>
                </a:tc>
                <a:tc>
                  <a:txBody>
                    <a:bodyPr/>
                    <a:lstStyle/>
                    <a:p>
                      <a:r>
                        <a:rPr sz="1800" b="0" i="0">
                          <a:solidFill>
                            <a:srgbClr val="1F2D33"/>
                          </a:solidFill>
                        </a:rPr>
                        <a:t>Kaplan-Meier, Cox regression</a:t>
                      </a:r>
                    </a:p>
                  </a:txBody>
                  <a:tcPr marL="73152" marR="73152" marT="36576" marB="36576">
                    <a:solidFill>
                      <a:srgbClr val="FFFFFF"/>
                    </a:solidFill>
                  </a:tcPr>
                </a:tc>
                <a:tc>
                  <a:txBody>
                    <a:bodyPr/>
                    <a:lstStyle/>
                    <a:p>
                      <a:r>
                        <a:rPr sz="1800" b="0" i="0">
                          <a:solidFill>
                            <a:srgbClr val="1F2D33"/>
                          </a:solidFill>
                        </a:rPr>
                        <a:t>survival package</a:t>
                      </a:r>
                    </a:p>
                  </a:txBody>
                  <a:tcPr marL="73152" marR="73152" marT="36576" marB="36576">
                    <a:solidFill>
                      <a:srgbClr val="FFFFFF"/>
                    </a:solidFill>
                  </a:tcPr>
                </a:tc>
              </a:tr>
              <a:tr h="457200">
                <a:tc>
                  <a:txBody>
                    <a:bodyPr/>
                    <a:lstStyle/>
                    <a:p>
                      <a:r>
                        <a:rPr sz="1800" b="0" i="0">
                          <a:solidFill>
                            <a:srgbClr val="1F2D33"/>
                          </a:solidFill>
                        </a:rPr>
                        <a:t>Repeated measures or clusters</a:t>
                      </a:r>
                    </a:p>
                  </a:txBody>
                  <a:tcPr marL="73152" marR="73152" marT="36576" marB="36576">
                    <a:solidFill>
                      <a:srgbClr val="EAF2F5"/>
                    </a:solidFill>
                  </a:tcPr>
                </a:tc>
                <a:tc>
                  <a:txBody>
                    <a:bodyPr/>
                    <a:lstStyle/>
                    <a:p>
                      <a:r>
                        <a:rPr sz="1800" b="0" i="0">
                          <a:solidFill>
                            <a:srgbClr val="1F2D33"/>
                          </a:solidFill>
                        </a:rPr>
                        <a:t>Mixed models, GEE</a:t>
                      </a:r>
                    </a:p>
                  </a:txBody>
                  <a:tcPr marL="73152" marR="73152" marT="36576" marB="36576">
                    <a:solidFill>
                      <a:srgbClr val="EAF2F5"/>
                    </a:solidFill>
                  </a:tcPr>
                </a:tc>
                <a:tc>
                  <a:txBody>
                    <a:bodyPr/>
                    <a:lstStyle/>
                    <a:p>
                      <a:r>
                        <a:rPr sz="1800" b="0" i="0">
                          <a:solidFill>
                            <a:srgbClr val="1F2D33"/>
                          </a:solidFill>
                        </a:rPr>
                        <a:t>lme4, geepack</a:t>
                      </a:r>
                    </a:p>
                  </a:txBody>
                  <a:tcPr marL="73152" marR="73152" marT="36576" marB="36576">
                    <a:solidFill>
                      <a:srgbClr val="EAF2F5"/>
                    </a:solidFill>
                  </a:tcPr>
                </a:tc>
              </a:tr>
              <a:tr h="457200">
                <a:tc>
                  <a:txBody>
                    <a:bodyPr/>
                    <a:lstStyle/>
                    <a:p>
                      <a:r>
                        <a:rPr sz="1800" b="0" i="0">
                          <a:solidFill>
                            <a:srgbClr val="1F2D33"/>
                          </a:solidFill>
                        </a:rPr>
                        <a:t>Causal questions from observational data</a:t>
                      </a:r>
                    </a:p>
                  </a:txBody>
                  <a:tcPr marL="73152" marR="73152" marT="36576" marB="36576">
                    <a:solidFill>
                      <a:srgbClr val="FFFFFF"/>
                    </a:solidFill>
                  </a:tcPr>
                </a:tc>
                <a:tc>
                  <a:txBody>
                    <a:bodyPr/>
                    <a:lstStyle/>
                    <a:p>
                      <a:r>
                        <a:rPr sz="1800" b="0" i="0">
                          <a:solidFill>
                            <a:srgbClr val="1F2D33"/>
                          </a:solidFill>
                        </a:rPr>
                        <a:t>Causal diagrams, propensity scores</a:t>
                      </a:r>
                    </a:p>
                  </a:txBody>
                  <a:tcPr marL="73152" marR="73152" marT="36576" marB="36576">
                    <a:solidFill>
                      <a:srgbClr val="FFFFFF"/>
                    </a:solidFill>
                  </a:tcPr>
                </a:tc>
                <a:tc>
                  <a:txBody>
                    <a:bodyPr/>
                    <a:lstStyle/>
                    <a:p>
                      <a:r>
                        <a:rPr sz="1800" b="0" i="0">
                          <a:solidFill>
                            <a:srgbClr val="1F2D33"/>
                          </a:solidFill>
                        </a:rPr>
                        <a:t>dagitty, MatchIt</a:t>
                      </a:r>
                    </a:p>
                  </a:txBody>
                  <a:tcPr marL="73152" marR="73152" marT="36576" marB="36576">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Practical session (2 hours)</a:t>
            </a:r>
          </a:p>
        </p:txBody>
      </p:sp>
      <p:sp>
        <p:nvSpPr>
          <p:cNvPr id="3" name="Slide Number Placeholder 2"/>
          <p:cNvSpPr>
            <a:spLocks noGrp="1"/>
          </p:cNvSpPr>
          <p:nvPr>
            <p:ph type="sldNum" idx="12" sz="quarter"/>
          </p:nvPr>
        </p:nvSpPr>
        <p:spPr/>
        <p:txBody>
          <a:bodyPr/>
          <a:lstStyle/>
          <a:p>
            <a:fld id="{B6F15528-21DE-4FAA-801E-634DDDAF4B2B}" type="slidenum">
              <a:rPr lang="en-GB"/>
              <a:t>41</a:t>
            </a:fld>
          </a:p>
        </p:txBody>
      </p:sp>
      <p:graphicFrame>
        <p:nvGraphicFramePr>
          <p:cNvPr id="4" name="Table 3"/>
          <p:cNvGraphicFramePr>
            <a:graphicFrameLocks noGrp="1"/>
          </p:cNvGraphicFramePr>
          <p:nvPr/>
        </p:nvGraphicFramePr>
        <p:xfrm>
          <a:off x="429768" y="1435608"/>
          <a:ext cx="11332156" cy="2743200"/>
        </p:xfrm>
        <a:graphic>
          <a:graphicData uri="http://schemas.openxmlformats.org/drawingml/2006/table">
            <a:tbl>
              <a:tblPr firstRow="1" bandRow="1">
                <a:tableStyleId>{5C22544A-7EE6-4342-B048-85BDC9FD1C3A}</a:tableStyleId>
              </a:tblPr>
              <a:tblGrid>
                <a:gridCol w="5058999"/>
                <a:gridCol w="3338939"/>
                <a:gridCol w="1821239"/>
                <a:gridCol w="1112979"/>
              </a:tblGrid>
              <a:tr h="457200">
                <a:tc>
                  <a:txBody>
                    <a:bodyPr/>
                    <a:lstStyle/>
                    <a:p>
                      <a:r>
                        <a:rPr sz="1800" b="1" i="0">
                          <a:solidFill>
                            <a:srgbClr val="FFFFFF"/>
                          </a:solidFill>
                        </a:rPr>
                        <a:t>Part</a:t>
                      </a:r>
                    </a:p>
                  </a:txBody>
                  <a:tcPr marL="73152" marR="73152" marT="36576" marB="36576">
                    <a:solidFill>
                      <a:srgbClr val="04242F"/>
                    </a:solidFill>
                  </a:tcPr>
                </a:tc>
                <a:tc>
                  <a:txBody>
                    <a:bodyPr/>
                    <a:lstStyle/>
                    <a:p>
                      <a:r>
                        <a:rPr sz="1800" b="1" i="0">
                          <a:solidFill>
                            <a:srgbClr val="FFFFFF"/>
                          </a:solidFill>
                        </a:rPr>
                        <a:t>Script</a:t>
                      </a:r>
                    </a:p>
                  </a:txBody>
                  <a:tcPr marL="73152" marR="73152" marT="36576" marB="36576">
                    <a:solidFill>
                      <a:srgbClr val="04242F"/>
                    </a:solidFill>
                  </a:tcPr>
                </a:tc>
                <a:tc>
                  <a:txBody>
                    <a:bodyPr/>
                    <a:lstStyle/>
                    <a:p>
                      <a:r>
                        <a:rPr sz="1800" b="1" i="0">
                          <a:solidFill>
                            <a:srgbClr val="FFFFFF"/>
                          </a:solidFill>
                        </a:rPr>
                        <a:t>Workbook</a:t>
                      </a:r>
                    </a:p>
                  </a:txBody>
                  <a:tcPr marL="73152" marR="73152" marT="36576" marB="36576">
                    <a:solidFill>
                      <a:srgbClr val="04242F"/>
                    </a:solidFill>
                  </a:tcPr>
                </a:tc>
                <a:tc>
                  <a:txBody>
                    <a:bodyPr/>
                    <a:lstStyle/>
                    <a:p>
                      <a:r>
                        <a:rPr sz="1800" b="1" i="0">
                          <a:solidFill>
                            <a:srgbClr val="FFFFFF"/>
                          </a:solidFill>
                        </a:rPr>
                        <a:t>Time</a:t>
                      </a:r>
                    </a:p>
                  </a:txBody>
                  <a:tcPr marL="73152" marR="73152" marT="36576" marB="36576">
                    <a:solidFill>
                      <a:srgbClr val="04242F"/>
                    </a:solidFill>
                  </a:tcPr>
                </a:tc>
              </a:tr>
              <a:tr h="457200">
                <a:tc>
                  <a:txBody>
                    <a:bodyPr/>
                    <a:lstStyle/>
                    <a:p>
                      <a:r>
                        <a:rPr sz="1800" b="0" i="0">
                          <a:solidFill>
                            <a:srgbClr val="1F2D33"/>
                          </a:solidFill>
                        </a:rPr>
                        <a:t>A. Correlation, simple and multiple regression, checks</a:t>
                      </a:r>
                    </a:p>
                  </a:txBody>
                  <a:tcPr marL="73152" marR="73152" marT="36576" marB="36576">
                    <a:solidFill>
                      <a:srgbClr val="FFFFFF"/>
                    </a:solidFill>
                  </a:tcPr>
                </a:tc>
                <a:tc>
                  <a:txBody>
                    <a:bodyPr/>
                    <a:lstStyle/>
                    <a:p>
                      <a:r>
                        <a:rPr sz="1800" b="0" i="0">
                          <a:solidFill>
                            <a:srgbClr val="1F2D33"/>
                          </a:solidFill>
                        </a:rPr>
                        <a:t>05_correlation_regression.R</a:t>
                      </a:r>
                    </a:p>
                  </a:txBody>
                  <a:tcPr marL="73152" marR="73152" marT="36576" marB="36576">
                    <a:solidFill>
                      <a:srgbClr val="FFFFFF"/>
                    </a:solidFill>
                  </a:tcPr>
                </a:tc>
                <a:tc>
                  <a:txBody>
                    <a:bodyPr/>
                    <a:lstStyle/>
                    <a:p>
                      <a:r>
                        <a:rPr sz="1800" b="0" i="0">
                          <a:solidFill>
                            <a:srgbClr val="1F2D33"/>
                          </a:solidFill>
                        </a:rPr>
                        <a:t>2.1 to 2.4</a:t>
                      </a:r>
                    </a:p>
                  </a:txBody>
                  <a:tcPr marL="73152" marR="73152" marT="36576" marB="36576">
                    <a:solidFill>
                      <a:srgbClr val="FFFFFF"/>
                    </a:solidFill>
                  </a:tcPr>
                </a:tc>
                <a:tc>
                  <a:txBody>
                    <a:bodyPr/>
                    <a:lstStyle/>
                    <a:p>
                      <a:r>
                        <a:rPr sz="1800" b="0" i="0">
                          <a:solidFill>
                            <a:srgbClr val="1F2D33"/>
                          </a:solidFill>
                        </a:rPr>
                        <a:t>50 min</a:t>
                      </a:r>
                    </a:p>
                  </a:txBody>
                  <a:tcPr marL="73152" marR="73152" marT="36576" marB="36576">
                    <a:solidFill>
                      <a:srgbClr val="FFFFFF"/>
                    </a:solidFill>
                  </a:tcPr>
                </a:tc>
              </a:tr>
              <a:tr h="457200">
                <a:tc>
                  <a:txBody>
                    <a:bodyPr/>
                    <a:lstStyle/>
                    <a:p>
                      <a:r>
                        <a:rPr sz="1800" b="0" i="0">
                          <a:solidFill>
                            <a:srgbClr val="1F2D33"/>
                          </a:solidFill>
                        </a:rPr>
                        <a:t>B. Logistic and Poisson regression (guided)</a:t>
                      </a:r>
                    </a:p>
                  </a:txBody>
                  <a:tcPr marL="73152" marR="73152" marT="36576" marB="36576">
                    <a:solidFill>
                      <a:srgbClr val="EAF2F5"/>
                    </a:solidFill>
                  </a:tcPr>
                </a:tc>
                <a:tc>
                  <a:txBody>
                    <a:bodyPr/>
                    <a:lstStyle/>
                    <a:p>
                      <a:r>
                        <a:rPr sz="1800" b="0" i="0">
                          <a:solidFill>
                            <a:srgbClr val="1F2D33"/>
                          </a:solidFill>
                        </a:rPr>
                        <a:t>06_logistic_poisson.R</a:t>
                      </a:r>
                    </a:p>
                  </a:txBody>
                  <a:tcPr marL="73152" marR="73152" marT="36576" marB="36576">
                    <a:solidFill>
                      <a:srgbClr val="EAF2F5"/>
                    </a:solidFill>
                  </a:tcPr>
                </a:tc>
                <a:tc>
                  <a:txBody>
                    <a:bodyPr/>
                    <a:lstStyle/>
                    <a:p>
                      <a:r>
                        <a:rPr sz="1800" b="0" i="0">
                          <a:solidFill>
                            <a:srgbClr val="1F2D33"/>
                          </a:solidFill>
                        </a:rPr>
                        <a:t>2.5 to 2.6</a:t>
                      </a:r>
                    </a:p>
                  </a:txBody>
                  <a:tcPr marL="73152" marR="73152" marT="36576" marB="36576">
                    <a:solidFill>
                      <a:srgbClr val="EAF2F5"/>
                    </a:solidFill>
                  </a:tcPr>
                </a:tc>
                <a:tc>
                  <a:txBody>
                    <a:bodyPr/>
                    <a:lstStyle/>
                    <a:p>
                      <a:r>
                        <a:rPr sz="1800" b="0" i="0">
                          <a:solidFill>
                            <a:srgbClr val="1F2D33"/>
                          </a:solidFill>
                        </a:rPr>
                        <a:t>20 min</a:t>
                      </a:r>
                    </a:p>
                  </a:txBody>
                  <a:tcPr marL="73152" marR="73152" marT="36576" marB="36576">
                    <a:solidFill>
                      <a:srgbClr val="EAF2F5"/>
                    </a:solidFill>
                  </a:tcPr>
                </a:tc>
              </a:tr>
              <a:tr h="457200">
                <a:tc>
                  <a:txBody>
                    <a:bodyPr/>
                    <a:lstStyle/>
                    <a:p>
                      <a:r>
                        <a:rPr sz="1800" b="0" i="0">
                          <a:solidFill>
                            <a:srgbClr val="1F2D33"/>
                          </a:solidFill>
                        </a:rPr>
                        <a:t>C. Clustering (guided)</a:t>
                      </a:r>
                    </a:p>
                  </a:txBody>
                  <a:tcPr marL="73152" marR="73152" marT="36576" marB="36576">
                    <a:solidFill>
                      <a:srgbClr val="FFFFFF"/>
                    </a:solidFill>
                  </a:tcPr>
                </a:tc>
                <a:tc>
                  <a:txBody>
                    <a:bodyPr/>
                    <a:lstStyle/>
                    <a:p>
                      <a:r>
                        <a:rPr sz="1800" b="0" i="0">
                          <a:solidFill>
                            <a:srgbClr val="1F2D33"/>
                          </a:solidFill>
                        </a:rPr>
                        <a:t>07_clustering.R</a:t>
                      </a:r>
                    </a:p>
                  </a:txBody>
                  <a:tcPr marL="73152" marR="73152" marT="36576" marB="36576">
                    <a:solidFill>
                      <a:srgbClr val="FFFFFF"/>
                    </a:solidFill>
                  </a:tcPr>
                </a:tc>
                <a:tc>
                  <a:txBody>
                    <a:bodyPr/>
                    <a:lstStyle/>
                    <a:p>
                      <a:r>
                        <a:rPr sz="1800" b="0" i="0">
                          <a:solidFill>
                            <a:srgbClr val="1F2D33"/>
                          </a:solidFill>
                        </a:rPr>
                        <a:t>2.7</a:t>
                      </a:r>
                    </a:p>
                  </a:txBody>
                  <a:tcPr marL="73152" marR="73152" marT="36576" marB="36576">
                    <a:solidFill>
                      <a:srgbClr val="FFFFFF"/>
                    </a:solidFill>
                  </a:tcPr>
                </a:tc>
                <a:tc>
                  <a:txBody>
                    <a:bodyPr/>
                    <a:lstStyle/>
                    <a:p>
                      <a:r>
                        <a:rPr sz="1800" b="0" i="0">
                          <a:solidFill>
                            <a:srgbClr val="1F2D33"/>
                          </a:solidFill>
                        </a:rPr>
                        <a:t>20 min</a:t>
                      </a:r>
                    </a:p>
                  </a:txBody>
                  <a:tcPr marL="73152" marR="73152" marT="36576" marB="36576">
                    <a:solidFill>
                      <a:srgbClr val="FFFFFF"/>
                    </a:solidFill>
                  </a:tcPr>
                </a:tc>
              </a:tr>
              <a:tr h="457200">
                <a:tc>
                  <a:txBody>
                    <a:bodyPr/>
                    <a:lstStyle/>
                    <a:p>
                      <a:r>
                        <a:rPr sz="1800" b="0" i="0">
                          <a:solidFill>
                            <a:srgbClr val="1F2D33"/>
                          </a:solidFill>
                        </a:rPr>
                        <a:t>Final exercise</a:t>
                      </a:r>
                    </a:p>
                  </a:txBody>
                  <a:tcPr marL="73152" marR="73152" marT="36576" marB="36576">
                    <a:solidFill>
                      <a:srgbClr val="EAF2F5"/>
                    </a:solidFill>
                  </a:tcPr>
                </a:tc>
                <a:tc>
                  <a:txBody>
                    <a:bodyPr/>
                    <a:lstStyle/>
                    <a:p>
                      <a:r>
                        <a:rPr sz="1800" b="0" i="0">
                          <a:solidFill>
                            <a:srgbClr val="1F2D33"/>
                          </a:solidFill>
                        </a:rPr>
                        <a:t>08_final_exercise.R</a:t>
                      </a:r>
                    </a:p>
                  </a:txBody>
                  <a:tcPr marL="73152" marR="73152" marT="36576" marB="36576">
                    <a:solidFill>
                      <a:srgbClr val="EAF2F5"/>
                    </a:solidFill>
                  </a:tcPr>
                </a:tc>
                <a:tc>
                  <a:txBody>
                    <a:bodyPr/>
                    <a:lstStyle/>
                    <a:p>
                      <a:r>
                        <a:rPr sz="1800" b="0" i="0">
                          <a:solidFill>
                            <a:srgbClr val="1F2D33"/>
                          </a:solidFill>
                        </a:rPr>
                        <a:t>Final exercise</a:t>
                      </a:r>
                    </a:p>
                  </a:txBody>
                  <a:tcPr marL="73152" marR="73152" marT="36576" marB="36576">
                    <a:solidFill>
                      <a:srgbClr val="EAF2F5"/>
                    </a:solidFill>
                  </a:tcPr>
                </a:tc>
                <a:tc>
                  <a:txBody>
                    <a:bodyPr/>
                    <a:lstStyle/>
                    <a:p>
                      <a:r>
                        <a:rPr sz="1800" b="0" i="0">
                          <a:solidFill>
                            <a:srgbClr val="1F2D33"/>
                          </a:solidFill>
                        </a:rPr>
                        <a:t>25 min</a:t>
                      </a:r>
                    </a:p>
                  </a:txBody>
                  <a:tcPr marL="73152" marR="73152" marT="36576" marB="36576">
                    <a:solidFill>
                      <a:srgbClr val="EAF2F5"/>
                    </a:solidFill>
                  </a:tcPr>
                </a:tc>
              </a:tr>
              <a:tr h="457200">
                <a:tc>
                  <a:txBody>
                    <a:bodyPr/>
                    <a:lstStyle/>
                    <a:p>
                      <a:r>
                        <a:rPr sz="1800" b="0" i="0">
                          <a:solidFill>
                            <a:srgbClr val="1F2D33"/>
                          </a:solidFill>
                        </a:rPr>
                        <a:t>Review and close</a:t>
                      </a:r>
                    </a:p>
                  </a:txBody>
                  <a:tcPr marL="73152" marR="73152" marT="36576" marB="36576">
                    <a:solidFill>
                      <a:srgbClr val="FFFFFF"/>
                    </a:solidFill>
                  </a:tcPr>
                </a:tc>
                <a:tc>
                  <a:txBody>
                    <a:bodyPr/>
                    <a:lstStyle/>
                    <a:p>
                      <a:r>
                        <a:rPr sz="1800" b="0" i="0">
                          <a:solidFill>
                            <a:srgbClr val="1F2D33"/>
                          </a:solidFill>
                        </a:rPr>
                        <a:t/>
                      </a:r>
                    </a:p>
                  </a:txBody>
                  <a:tcPr marL="73152" marR="73152" marT="36576" marB="36576">
                    <a:solidFill>
                      <a:srgbClr val="FFFFFF"/>
                    </a:solidFill>
                  </a:tcPr>
                </a:tc>
                <a:tc>
                  <a:txBody>
                    <a:bodyPr/>
                    <a:lstStyle/>
                    <a:p>
                      <a:r>
                        <a:rPr sz="1800" b="0" i="0">
                          <a:solidFill>
                            <a:srgbClr val="1F2D33"/>
                          </a:solidFill>
                        </a:rPr>
                        <a:t/>
                      </a:r>
                    </a:p>
                  </a:txBody>
                  <a:tcPr marL="73152" marR="73152" marT="36576" marB="36576">
                    <a:solidFill>
                      <a:srgbClr val="FFFFFF"/>
                    </a:solidFill>
                  </a:tcPr>
                </a:tc>
                <a:tc>
                  <a:txBody>
                    <a:bodyPr/>
                    <a:lstStyle/>
                    <a:p>
                      <a:r>
                        <a:rPr sz="1800" b="0" i="0">
                          <a:solidFill>
                            <a:srgbClr val="1F2D33"/>
                          </a:solidFill>
                        </a:rPr>
                        <a:t>5 min</a:t>
                      </a:r>
                    </a:p>
                  </a:txBody>
                  <a:tcPr marL="73152" marR="73152" marT="36576" marB="36576">
                    <a:solidFill>
                      <a:srgbClr val="FFFFFF"/>
                    </a:solidFill>
                  </a:tcPr>
                </a:tc>
              </a:tr>
            </a:tbl>
          </a:graphicData>
        </a:graphic>
      </p:graphicFrame>
      <p:sp>
        <p:nvSpPr>
          <p:cNvPr id="5" name="TextBox 4"/>
          <p:cNvSpPr txBox="1"/>
          <p:nvPr/>
        </p:nvSpPr>
        <p:spPr>
          <a:xfrm>
            <a:off x="429768" y="4453128"/>
            <a:ext cx="11332159" cy="169164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Extensions E2.1 to E2.4 are for those who finish early</a:t>
            </a:r>
          </a:p>
          <a:p>
            <a:pPr>
              <a:spcAft>
                <a:spcPts val="1000"/>
              </a:spcAft>
            </a:pPr>
            <a:r>
              <a:rPr sz="1300" b="0" i="0">
                <a:solidFill>
                  <a:srgbClr val="0D7377"/>
                </a:solidFill>
              </a:rPr>
              <a:t>●  </a:t>
            </a:r>
            <a:r>
              <a:rPr sz="1900" b="0" i="0">
                <a:solidFill>
                  <a:srgbClr val="1F2D33"/>
                </a:solidFill>
              </a:rPr>
              <a:t>Keep the cheat sheet and decision diagrams open while you work</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Reporting checklist</a:t>
            </a:r>
          </a:p>
        </p:txBody>
      </p:sp>
      <p:sp>
        <p:nvSpPr>
          <p:cNvPr id="3" name="Slide Number Placeholder 2"/>
          <p:cNvSpPr>
            <a:spLocks noGrp="1"/>
          </p:cNvSpPr>
          <p:nvPr>
            <p:ph type="sldNum" idx="12" sz="quarter"/>
          </p:nvPr>
        </p:nvSpPr>
        <p:spPr/>
        <p:txBody>
          <a:bodyPr/>
          <a:lstStyle/>
          <a:p>
            <a:fld id="{B6F15528-21DE-4FAA-801E-634DDDAF4B2B}" type="slidenum">
              <a:rPr lang="en-GB"/>
              <a:t>42</a:t>
            </a:fld>
          </a:p>
        </p:txBody>
      </p:sp>
      <p:sp>
        <p:nvSpPr>
          <p:cNvPr id="4" name="TextBox 3"/>
          <p:cNvSpPr txBox="1"/>
          <p:nvPr/>
        </p:nvSpPr>
        <p:spPr>
          <a:xfrm>
            <a:off x="429768" y="1389888"/>
            <a:ext cx="11332159" cy="475488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State the question, design and number of observations used (and why any were excluded)</a:t>
            </a:r>
          </a:p>
          <a:p>
            <a:pPr>
              <a:spcAft>
                <a:spcPts val="1000"/>
              </a:spcAft>
            </a:pPr>
            <a:r>
              <a:rPr sz="1600" b="0" i="0">
                <a:solidFill>
                  <a:srgbClr val="0D7377"/>
                </a:solidFill>
              </a:rPr>
              <a:t>●  </a:t>
            </a:r>
            <a:r>
              <a:rPr sz="2200" b="0" i="0">
                <a:solidFill>
                  <a:srgbClr val="1F2D33"/>
                </a:solidFill>
              </a:rPr>
              <a:t>Describe the data before modelling</a:t>
            </a:r>
          </a:p>
          <a:p>
            <a:pPr>
              <a:spcAft>
                <a:spcPts val="1000"/>
              </a:spcAft>
            </a:pPr>
            <a:r>
              <a:rPr sz="1600" b="0" i="0">
                <a:solidFill>
                  <a:srgbClr val="0D7377"/>
                </a:solidFill>
              </a:rPr>
              <a:t>●  </a:t>
            </a:r>
            <a:r>
              <a:rPr sz="2200" b="0" i="0">
                <a:solidFill>
                  <a:srgbClr val="1F2D33"/>
                </a:solidFill>
              </a:rPr>
              <a:t>Report effect sizes with 95% CIs, in meaningful units</a:t>
            </a:r>
          </a:p>
          <a:p>
            <a:pPr>
              <a:spcAft>
                <a:spcPts val="1000"/>
              </a:spcAft>
            </a:pPr>
            <a:r>
              <a:rPr sz="1600" b="0" i="0">
                <a:solidFill>
                  <a:srgbClr val="0D7377"/>
                </a:solidFill>
              </a:rPr>
              <a:t>●  </a:t>
            </a:r>
            <a:r>
              <a:rPr sz="2200" b="0" i="0">
                <a:solidFill>
                  <a:srgbClr val="1F2D33"/>
                </a:solidFill>
              </a:rPr>
              <a:t>Say which variables were adjusted for, and why</a:t>
            </a:r>
          </a:p>
          <a:p>
            <a:pPr>
              <a:spcAft>
                <a:spcPts val="1000"/>
              </a:spcAft>
            </a:pPr>
            <a:r>
              <a:rPr sz="1600" b="0" i="0">
                <a:solidFill>
                  <a:srgbClr val="0D7377"/>
                </a:solidFill>
              </a:rPr>
              <a:t>●  </a:t>
            </a:r>
            <a:r>
              <a:rPr sz="2200" b="0" i="0">
                <a:solidFill>
                  <a:srgbClr val="1F2D33"/>
                </a:solidFill>
              </a:rPr>
              <a:t>Report checks of assumptions</a:t>
            </a:r>
          </a:p>
          <a:p>
            <a:pPr>
              <a:spcAft>
                <a:spcPts val="1000"/>
              </a:spcAft>
            </a:pPr>
            <a:r>
              <a:rPr sz="1600" b="0" i="0">
                <a:solidFill>
                  <a:srgbClr val="0D7377"/>
                </a:solidFill>
              </a:rPr>
              <a:t>●  </a:t>
            </a:r>
            <a:r>
              <a:rPr sz="2200" b="0" i="0">
                <a:solidFill>
                  <a:srgbClr val="1F2D33"/>
                </a:solidFill>
              </a:rPr>
              <a:t>Separate statistical significance from practical importance</a:t>
            </a:r>
          </a:p>
          <a:p>
            <a:pPr>
              <a:spcAft>
                <a:spcPts val="1000"/>
              </a:spcAft>
            </a:pPr>
            <a:r>
              <a:rPr sz="1600" b="0" i="0">
                <a:solidFill>
                  <a:srgbClr val="0D7377"/>
                </a:solidFill>
              </a:rPr>
              <a:t>●  </a:t>
            </a:r>
            <a:r>
              <a:rPr sz="2200" b="0" i="0">
                <a:solidFill>
                  <a:srgbClr val="1F2D33"/>
                </a:solidFill>
              </a:rPr>
              <a:t>Do not claim causation unless the design supports it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2" sz="quarter"/>
          </p:nvPr>
        </p:nvSpPr>
        <p:spPr/>
        <p:txBody>
          <a:bodyPr/>
          <a:lstStyle/>
          <a:p>
            <a:fld id="{B6F15528-21DE-4FAA-801E-634DDDAF4B2B}" type="slidenum">
              <a:rPr lang="en-GB"/>
              <a:t>43</a:t>
            </a:fld>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heme/theme1.xml><?xml version="1.0" encoding="utf-8"?>
<a:theme xmlns:a="http://schemas.openxmlformats.org/drawingml/2006/main" name="Neudata">
  <a:themeElements>
    <a:clrScheme name="Neudata">
      <a:dk1>
        <a:srgbClr val="000000"/>
      </a:dk1>
      <a:lt1>
        <a:srgbClr val="FFFFFF"/>
      </a:lt1>
      <a:dk2>
        <a:srgbClr val="04242F"/>
      </a:dk2>
      <a:lt2>
        <a:srgbClr val="EAF2F5"/>
      </a:lt2>
      <a:accent1>
        <a:srgbClr val="0D7377"/>
      </a:accent1>
      <a:accent2>
        <a:srgbClr val="0070C0"/>
      </a:accent2>
      <a:accent3>
        <a:srgbClr val="055F56"/>
      </a:accent3>
      <a:accent4>
        <a:srgbClr val="0B376C"/>
      </a:accent4>
      <a:accent5>
        <a:srgbClr val="5FA39B"/>
      </a:accent5>
      <a:accent6>
        <a:srgbClr val="8A99A3"/>
      </a:accent6>
      <a:hlink>
        <a:srgbClr val="0070C0"/>
      </a:hlink>
      <a:folHlink>
        <a:srgbClr val="0B376C"/>
      </a:folHlink>
    </a:clrScheme>
    <a:fontScheme name="Neudata">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271</Words>
  <Application>WPS Presentation</Application>
  <PresentationFormat>Widescreen</PresentationFormat>
  <Paragraphs>43</Paragraphs>
  <Slides>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Arial</vt:lpstr>
      <vt:lpstr>SimSun</vt:lpstr>
      <vt:lpstr>Wingdings</vt:lpstr>
      <vt:lpstr>Wingdings</vt:lpstr>
      <vt:lpstr>Century Gothic</vt:lpstr>
      <vt:lpstr>Verdana</vt:lpstr>
      <vt:lpstr>Consolas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hp</dc:creator>
  <cp:lastModifiedBy>hp</cp:lastModifiedBy>
  <cp:revision>1</cp:revision>
  <dcterms:created xsi:type="dcterms:W3CDTF">2026-10-02T20:53:12Z</dcterms:created>
  <dcterms:modified xsi:type="dcterms:W3CDTF">2026-10-02T20:53:12Z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66A473D4EA134C64882DD82A8CF6BC5A_11</vt:lpwstr>
  </property>
</Properties>
</file>