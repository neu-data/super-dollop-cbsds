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8"/>
    <p:sldId id="258" r:id="rId9"/>
    <p:sldId id="259" r:id="rId5"/>
    <p:sldId id="260" r:id="rId4"/>
    <p:sldId id="261" r:id="rId3"/>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participants. Introduce yourself and ask each person for one sentence: their work and one thing they want from the course. Point out that the course has two strands each day: two hours of ideas, then two hours of practice in R. Reassure beginners: the aim is understanding, not memorising commands.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 times are an example; adapt to your venue. Teaching time is exactly 4 hours: 2 hours theory and 2 hours practical. If the group is slow, the categorical section can be shortened because the practical revisits it with the script 04_categorical.R.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measurable outcomes listed in the course overview. Each is practised in the workbook exercises 1.1 to 1.11.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this is not real data. Because we simulated it, we know the truth behind it, which lets us check whether methods recover it (for example, clustering on Day 2). Show the data dictionary briefly.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group to suggest a question of their own that these data could answer. Write two or three on a flip chart and return to them in the practical. Emphasise that the shape of the data alone never decides the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Independence is the assumption most often violated and least visible in the output. Here each row is a different person, and baseline and 12-month blood pressure are two columns in the same row, so they are paired by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type of the OUTCOME is one of the main things that decides the method. Note that satisfaction is stored as numbers but is ordinal: the difference between 1 and 2 need not equal that between 4 and 5. Censoring means we know only that the event had not happened by the end of follow-up.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data are not just a nuisance. If people who left the study differ from those who stayed, complete-case results can be biased. Do not replace missing values with the mean; it makes the data look less variable than they are. Multiple imputation is the usual remedy and is beyond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if 6 people have no education recorded, should they be in the denominator? Either choice can be right; what matters is saying which. Show count() in R during the practical.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roughly symmetric data about two thirds of values lie within one SD of the mean. That rule does not hold for skewed data, which is why the median and IQR are preferred there.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biological measurements (CRP, viral load, income, costs) are right-skewed. Taking logs is often natural because effects act multiplicatively. We will use this on the CRP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Showing the individual points stops a boxplot hiding small groups or odd distributions. Avoid bar charts of means ("dynamite plots"); they hide the data. Avoid pie charts and 3D effects.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large but unrepresentative sample gives a precise estimate of the wrong thing. Random sampling or random allocation is what lets us use these methods to generalise or to compare fairly.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treated our 480 participants as a population and drew 20 random samples of 30. Each sample gives a different mean and interval. Over many samples about 95% of intervals contain the true value. For any single interval we do not know whether it is one of the lucky ones.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saying "there is a 95% probability the true value is in this interval" for one particular interval; in this framework the true value is fixed. In practice, read the CI as a range of plausible values and look at both ends.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Standardised effect sizes (such as Cohen's d) exist but are harder to interpret than differences in the original units. Prefer the original units when they are meaningful, as mmHg is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of a test is to judge whether chance alone is a reasonable explanation. Tests do not measure importance and do not establish cause. With many tests, some will be "significant" by chance.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precise but trivial effect, statistically significant. B: not significant, but the data are compatible with an important benefit; we need more data. C: significant and important. D: not significant and precise, so we can rule out large differences. None of these establishes causation; that depends on design.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Lifestyle group, 224 people with both measurements. The mean change is the same (-6.0 mmHg) in both analyses but the incorrect independent analysis gives a CI of -9.1 to -2.9 instead of -7.2 to -4.8. Repeated measurements over several time points or clustered data need other methods (further learning).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command: t.test(sbp_0 ~ sex, data = hearts). R reports Female minus Male (-6.1, CI -8.9 to -3.4), following the order of the factor levels. Student's t-test (var.equal = TRUE) gives almost the same answer here because the SDs are similar (15.1 and 15.6).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Medians: 2.8 (smokers) and 1.8 (non-smokers). The Wilcoxon test compares medians only under the extra assumption that the two distributions have the same shape and differ only by a shift. Decide which question you want answered before you look at the p-values.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corrects common rules of thumb. The decision is a judgement based on the question, the scale of measurement, the plots and the sample size. Ordinal outcomes such as a 1 to 5 rating are a natural case for rank-based methods.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within-group change is not evidence that the programme works: the standard advice group also fell. Only the randomised comparison between groups estimates the programme effect. Day 2 shows the baseline-adjusted (ANCOVA) estimate as an extension.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Means: North 126, South 134, East 131, West 126 mmHg. Classical ANOVA gives F = 7.3, p &lt; 0.001. Residual plots are in the script. If one district had a much wider spread, Welch's version protects against that.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adjustment, each extra comparison adds another chance of a false positive. A significant overall ANOVA followed by uncorrected t-tests on every pair is a common mistake.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Kruskal-Wallis is also a natural choice for ordinal outcomes with several groups. If you want an effect estimate for skewed data across several groups, analysing log values with ANOVA or regression often gives more useful answers (ratios of geometric means).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choose the direction of percentages to match the question. Rows are the exposure, columns the outcome. Dichotomising a continuous measurement loses information; we use it here because 140 mmHg is a recognised clinical threshold.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 number with the outcome / number at risk. Odds = number with the outcome / number without. When the outcome is rare (under about 10%), odds and risks are similar and so are OR and RR. The figure shows how the OR moves away from the RR as the baseline risk increases.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case-control study the investigator fixes the number of cases and controls, so the proportion with the outcome is meaningless; the OR is still valid. Adjusted ORs (aOR) come on Day 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adverse events table comes from the randomised comparison, so these are genuine risks. The expected count of events per group is 8.5, so chi-square would also be acceptable; in the subgroup aged 65 and over the expected counts fall to 2 to 3 and Fisher's test is the safer choice (see script 04).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confounder is a common cause of the exposure and the outcome. Stratifying compares like with like. Age matters more here than sex. Workbook extension E1.5 reproduces the age-stratified analysis.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Concordant pairs (stayed high, stayed not high) tell us nothing about change. This mirrors the paired t-test: the design is paired, so the analysis must be paired.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 participants to reference/decision_diagrams.pdf and the cheat sheet. Emphasise that the design (independent or paired) is decided before looking at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during the practical. Typical problems: not opening the project (paths fail), forgetting na.rm = TRUE, running lines out of order. If installation failed, pair the participant with a neighbour or use data/hearts.csv with base R read.csv().</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participants. The materials, scripts and reference pack are theirs to keep. All examples used simulated data and are for teaching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0.xml"/><Relationship Id="rId3" Type="http://schemas.openxmlformats.org/officeDocument/2006/relationships/tags" Target="../tags/tag11.xml"/><Relationship Id="rId4" Type="http://schemas.openxmlformats.org/officeDocument/2006/relationships/tags" Target="../tags/tag12.xml"/><Relationship Id="rId5" Type="http://schemas.openxmlformats.org/officeDocument/2006/relationships/tags" Target="../tags/tag13.xml"/><Relationship Id="rId6"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016000" y="1460500"/>
            <a:ext cx="10160000" cy="1333500"/>
          </a:xfrm>
        </p:spPr>
        <p:txBody>
          <a:bodyPr lIns="90000" tIns="46800" rIns="90000" bIns="46800" anchor="b" anchorCtr="0">
            <a:normAutofit/>
          </a:bodyPr>
          <a:lstStyle>
            <a:lvl1pPr algn="ctr">
              <a:defRPr sz="4400" b="1">
                <a:solidFill>
                  <a:srgbClr val="0D7377"/>
                </a:solidFill>
                <a:latin typeface="Century Gothic" panose="020B0502020202020204" charset="0"/>
                <a:cs typeface="Century Gothic" panose="020B0502020202020204" charset="0"/>
              </a:defRPr>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2286000" y="2946400"/>
            <a:ext cx="7620000" cy="1143000"/>
          </a:xfrm>
        </p:spPr>
        <p:txBody>
          <a:bodyPr lIns="90000" tIns="46800" rIns="90000" bIns="46800">
            <a:normAutofit/>
          </a:bodyPr>
          <a:lstStyle>
            <a:lvl1pPr marL="0" indent="0" algn="ctr">
              <a:lnSpc>
                <a:spcPct val="110000"/>
              </a:lnSpc>
              <a:buNone/>
              <a:defRPr sz="2000">
                <a:solidFill>
                  <a:srgbClr val="1A1A1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a:xfrm>
            <a:off x="8128000" y="5562600"/>
            <a:ext cx="3556000" cy="381000"/>
          </a:xfrm>
          <a:prstGeom prst="rect">
            <a:avLst/>
          </a:prstGeom>
        </p:spPr>
        <p:txBody>
          <a:bodyPr/>
          <a:lstStyle>
            <a:lvl1pPr algn="r">
              <a:defRPr sz="1400" b="1">
                <a:solidFill>
                  <a:srgbClr val="1A1A1A"/>
                </a:solidFill>
                <a:latin typeface="Century Gothic" panose="020B0502020202020204" charset="0"/>
                <a:cs typeface="Century Gothic" panose="020B0502020202020204" charset="0"/>
              </a:defRPr>
            </a:lvl1pPr>
          </a:lstStyle>
          <a:p>
            <a:fld id="{760FBDFE-C587-4B4C-A407-44438C67B59E}" type="datetimeFigureOut">
              <a:rPr lang="en-US" smtClean="0"/>
            </a:fld>
            <a:endParaRPr lang="en-US"/>
          </a:p>
        </p:txBody>
      </p:sp>
      <p:pic>
        <p:nvPicPr>
          <p:cNvPr id="4" name="Neudata logo large" descr="neudata-logo"/>
          <p:cNvPicPr>
            <a:picLocks noChangeAspect="1"/>
          </p:cNvPicPr>
          <p:nvPr userDrawn="1"/>
        </p:nvPicPr>
        <p:blipFill>
          <a:blip r:embed="rId5"/>
          <a:stretch>
            <a:fillRect/>
          </a:stretch>
        </p:blipFill>
        <p:spPr>
          <a:xfrm>
            <a:off x="508000" y="4381500"/>
            <a:ext cx="3021965" cy="2095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431800" y="1270000"/>
            <a:ext cx="113284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7"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8" name="Neudata logo" descr="neudata-logo"/>
          <p:cNvPicPr>
            <a:picLocks noChangeAspect="1"/>
          </p:cNvPicPr>
          <p:nvPr userDrawn="1"/>
        </p:nvPicPr>
        <p:blipFill>
          <a:blip r:embed="rId5"/>
          <a:stretch>
            <a:fillRect/>
          </a:stretch>
        </p:blipFill>
        <p:spPr>
          <a:xfrm>
            <a:off x="152400" y="6273800"/>
            <a:ext cx="732155" cy="508000"/>
          </a:xfrm>
          <a:prstGeom prst="rect">
            <a:avLst/>
          </a:prstGeom>
        </p:spPr>
      </p:pic>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Notes">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1430000" cy="736600"/>
          </a:xfrm>
        </p:spPr>
        <p:txBody>
          <a:bodyPr anchor="b"/>
          <a:lstStyle>
            <a:lvl1pPr algn="l">
              <a:defRPr sz="3000" b="1">
                <a:solidFill>
                  <a:srgbClr val="0D7377"/>
                </a:solidFill>
                <a:latin typeface="Century Gothic" panose="020B0502020202020204" charset="0"/>
                <a:cs typeface="Century Gothic" panose="020B0502020202020204" charset="0"/>
              </a:defRPr>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2"/>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
        <p:nvSpPr>
          <p:cNvPr id="9" name="Text Placeholder 8"/>
          <p:cNvSpPr>
            <a:spLocks noGrp="1"/>
          </p:cNvSpPr>
          <p:nvPr>
            <p:ph type="body" idx="13"/>
          </p:nvPr>
        </p:nvSpPr>
        <p:spPr>
          <a:xfrm>
            <a:off x="431800" y="1270000"/>
            <a:ext cx="11328400" cy="4699000"/>
          </a:xfrm>
        </p:spPr>
        <p:txBody>
          <a:bodyPr/>
          <a:lstStyle>
            <a:lvl1pPr marL="0" indent="0">
              <a:buNone/>
              <a:defRPr>
                <a:solidFill>
                  <a:srgbClr val="0070C0"/>
                </a:solidFill>
              </a:defRPr>
            </a:lvl1pPr>
            <a:lvl2pPr marL="457200" indent="0">
              <a:buNone/>
              <a:defRPr>
                <a:solidFill>
                  <a:srgbClr val="0070C0"/>
                </a:solidFill>
              </a:defRPr>
            </a:lvl2pPr>
            <a:lvl3pPr marL="914400" indent="0">
              <a:buNone/>
              <a:defRPr>
                <a:solidFill>
                  <a:srgbClr val="0070C0"/>
                </a:solidFill>
              </a:defRPr>
            </a:lvl3pPr>
            <a:lvl4pPr marL="1371600" indent="0">
              <a:buNone/>
              <a:defRPr>
                <a:solidFill>
                  <a:srgbClr val="0070C0"/>
                </a:solidFill>
              </a:defRPr>
            </a:lvl4pPr>
            <a:lvl5pPr marL="1828800" indent="0">
              <a:buNone/>
              <a:defRPr sz="2800">
                <a:solidFill>
                  <a:srgbClr val="0070C0"/>
                </a:solidFill>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4953000" y="2349500"/>
            <a:ext cx="6858000" cy="1079500"/>
          </a:xfrm>
        </p:spPr>
        <p:txBody>
          <a:bodyPr lIns="90000" tIns="46800" rIns="90000" bIns="46800" anchor="b" anchorCtr="0">
            <a:normAutofit/>
          </a:bodyPr>
          <a:lstStyle>
            <a:lvl1pPr algn="l">
              <a:defRPr sz="4000" b="1">
                <a:solidFill>
                  <a:srgbClr val="0D7377"/>
                </a:solidFill>
                <a:latin typeface="Century Gothic" panose="020B0502020202020204" charset="0"/>
                <a:cs typeface="Century Gothic" panose="020B0502020202020204" charset="0"/>
              </a:defRPr>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4953000" y="3492500"/>
            <a:ext cx="6858000" cy="571500"/>
          </a:xfrm>
        </p:spPr>
        <p:txBody>
          <a:bodyPr lIns="90000" tIns="46800" rIns="90000" bIns="46800">
            <a:normAutofit/>
          </a:bodyPr>
          <a:lstStyle>
            <a:lvl1pPr marL="0" indent="0">
              <a:buNone/>
              <a:defRPr sz="1800">
                <a:solidFill>
                  <a:srgbClr val="8A99A3"/>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7" name="Neudata logo" descr="neudata-logo"/>
          <p:cNvPicPr>
            <a:picLocks noChangeAspect="1"/>
          </p:cNvPicPr>
          <p:nvPr userDrawn="1"/>
        </p:nvPicPr>
        <p:blipFill>
          <a:blip r:embed="rId5"/>
          <a:stretch>
            <a:fillRect/>
          </a:stretch>
        </p:blipFill>
        <p:spPr>
          <a:xfrm>
            <a:off x="762000" y="2413000"/>
            <a:ext cx="2564130" cy="1778000"/>
          </a:xfrm>
          <a:prstGeom prst="rect">
            <a:avLst/>
          </a:prstGeom>
        </p:spPr>
      </p:pic>
      <p:cxnSp>
        <p:nvCxnSpPr>
          <p:cNvPr id="8" name="Section rule"/>
          <p:cNvCxnSpPr/>
          <p:nvPr userDrawn="1"/>
        </p:nvCxnSpPr>
        <p:spPr>
          <a:xfrm>
            <a:off x="4572000" y="2222500"/>
            <a:ext cx="635" cy="2159000"/>
          </a:xfrm>
          <a:prstGeom prst="line">
            <a:avLst/>
          </a:prstGeom>
          <a:ln w="25400">
            <a:solidFill>
              <a:srgbClr val="0D7377"/>
            </a:solidFill>
          </a:ln>
        </p:spPr>
        <p:style>
          <a:lnRef idx="2">
            <a:schemeClr val="accent1"/>
          </a:lnRef>
          <a:fillRef idx="0">
            <a:srgbClr val="FFFFFF"/>
          </a:fillRef>
          <a:effectRef idx="0">
            <a:srgbClr val="FFFFFF"/>
          </a:effectRef>
          <a:fontRef idx="minor">
            <a:schemeClr val="tx1"/>
          </a:fontRef>
        </p:style>
      </p:cxn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431800" y="1270000"/>
            <a:ext cx="55372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223000" y="1270000"/>
            <a:ext cx="5537200" cy="46990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Slide Number Placeholder 6"/>
          <p:cNvSpPr>
            <a:spLocks noGrp="1"/>
          </p:cNvSpPr>
          <p:nvPr>
            <p:ph type="sldNum" sz="quarter" idx="12"/>
            <p:custDataLst>
              <p:tags r:id="rId5"/>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8"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9" name="Neudata logo" descr="neudata-logo"/>
          <p:cNvPicPr>
            <a:picLocks noChangeAspect="1"/>
          </p:cNvPicPr>
          <p:nvPr userDrawn="1"/>
        </p:nvPicPr>
        <p:blipFill>
          <a:blip r:embed="rId6"/>
          <a:stretch>
            <a:fillRect/>
          </a:stretch>
        </p:blipFill>
        <p:spPr>
          <a:xfrm>
            <a:off x="152400" y="6273800"/>
            <a:ext cx="732155" cy="508000"/>
          </a:xfrm>
          <a:prstGeom prst="rect">
            <a:avLst/>
          </a:prstGeom>
        </p:spPr>
      </p:pic>
      <p:sp>
        <p:nvSpPr>
          <p:cNvPr id="10"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5" name="Slide Number Placeholder 4"/>
          <p:cNvSpPr>
            <a:spLocks noGrp="1"/>
          </p:cNvSpPr>
          <p:nvPr>
            <p:ph type="sldNum" sz="quarter" idx="12"/>
            <p:custDataLst>
              <p:tags r:id="rId3"/>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4"/>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custDataLst>
              <p:tags r:id="rId2"/>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5" name="Neudata logo" descr="neudata-logo"/>
          <p:cNvPicPr>
            <a:picLocks noChangeAspect="1"/>
          </p:cNvPicPr>
          <p:nvPr userDrawn="1"/>
        </p:nvPicPr>
        <p:blipFill>
          <a:blip r:embed="rId3"/>
          <a:stretch>
            <a:fillRect/>
          </a:stretch>
        </p:blipFill>
        <p:spPr>
          <a:xfrm>
            <a:off x="152400" y="6273800"/>
            <a:ext cx="732155" cy="508000"/>
          </a:xfrm>
          <a:prstGeom prst="rect">
            <a:avLst/>
          </a:prstGeom>
        </p:spPr>
      </p:pic>
      <p:sp>
        <p:nvSpPr>
          <p:cNvPr id="6"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 Copyrigh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pic>
        <p:nvPicPr>
          <p:cNvPr id="6" name="Neudata logo large" descr="neudata-logo"/>
          <p:cNvPicPr>
            <a:picLocks noChangeAspect="1"/>
          </p:cNvPicPr>
          <p:nvPr userDrawn="1"/>
        </p:nvPicPr>
        <p:blipFill>
          <a:blip r:embed="rId2"/>
          <a:stretch>
            <a:fillRect/>
          </a:stretch>
        </p:blipFill>
        <p:spPr>
          <a:xfrm>
            <a:off x="4355465" y="317500"/>
            <a:ext cx="3479800" cy="2413000"/>
          </a:xfrm>
          <a:prstGeom prst="rect">
            <a:avLst/>
          </a:prstGeom>
        </p:spPr>
      </p:pic>
      <p:sp>
        <p:nvSpPr>
          <p:cNvPr id="7" name="Copyright heading"/>
          <p:cNvSpPr txBox="1"/>
          <p:nvPr/>
        </p:nvSpPr>
        <p:spPr>
          <a:xfrm>
            <a:off x="1905000" y="2946400"/>
            <a:ext cx="8890000" cy="398780"/>
          </a:xfrm>
          <a:prstGeom prst="rect">
            <a:avLst/>
          </a:prstGeom>
          <a:noFill/>
        </p:spPr>
        <p:txBody>
          <a:bodyPr wrap="square" rtlCol="0" anchor="t">
            <a:spAutoFit/>
          </a:bodyPr>
          <a:p>
            <a:r>
              <a:rPr lang="en-US" sz="2000" b="1">
                <a:solidFill>
                  <a:srgbClr val="0070C0"/>
                </a:solidFill>
                <a:latin typeface="Century Gothic" panose="020B0502020202020204" charset="0"/>
                <a:cs typeface="Century Gothic" panose="020B0502020202020204" charset="0"/>
              </a:rPr>
              <a:t>Copyright © Neudata, 2026</a:t>
            </a:r>
            <a:endParaRPr lang="en-US" sz="2000" b="1">
              <a:solidFill>
                <a:srgbClr val="0070C0"/>
              </a:solidFill>
              <a:latin typeface="Century Gothic" panose="020B0502020202020204" charset="0"/>
              <a:cs typeface="Century Gothic" panose="020B0502020202020204" charset="0"/>
            </a:endParaRPr>
          </a:p>
        </p:txBody>
      </p:sp>
      <p:sp>
        <p:nvSpPr>
          <p:cNvPr id="8" name="Copyright notice"/>
          <p:cNvSpPr txBox="1"/>
          <p:nvPr/>
        </p:nvSpPr>
        <p:spPr>
          <a:xfrm>
            <a:off x="1905000" y="3403600"/>
            <a:ext cx="8890000" cy="1783715"/>
          </a:xfrm>
          <a:prstGeom prst="rect">
            <a:avLst/>
          </a:prstGeom>
          <a:noFill/>
        </p:spPr>
        <p:txBody>
          <a:bodyPr wrap="square" rtlCol="0" anchor="t">
            <a:spAutoFit/>
          </a:bodyPr>
          <a:p>
            <a:r>
              <a:rPr lang="en-US" sz="1100">
                <a:solidFill>
                  <a:srgbClr val="1A1A1A"/>
                </a:solidFill>
                <a:latin typeface="Consolas" panose="020B0609020204030204" charset="0"/>
                <a:cs typeface="Consolas" panose="020B0609020204030204" charset="0"/>
              </a:rPr>
              <a:t>All property rights and copyright are reserved.</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This presentation contains proprietary data, information, and materials developed by Neudata for dedicated use only and may not be communicated, copied, reproduced, distributed, published, or cited, in whole or in part, without the prior written consent of Neudata. Where explicit written permission has been granted, appropriate attribution must be included, followed by “by courtesy of Neudata”.</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Any unauthorized use or infringement of these materials may give rise to legal action and claims for damages, without prejudice to any other rights of Neudata, including rights relating to patents, trademarks, or other forms of intellectual property protection.</a:t>
            </a:r>
            <a:endParaRPr lang="en-US" sz="1100">
              <a:solidFill>
                <a:srgbClr val="1A1A1A"/>
              </a:solidFill>
              <a:latin typeface="Consolas" panose="020B0609020204030204" charset="0"/>
              <a:cs typeface="Consolas" panose="020B0609020204030204" charset="0"/>
            </a:endParaRPr>
          </a:p>
        </p:txBody>
      </p: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ags" Target="../tags/tag17.xml"/><Relationship Id="rId10" Type="http://schemas.openxmlformats.org/officeDocument/2006/relationships/tags" Target="../tags/tag18.xml"/><Relationship Id="rId11" Type="http://schemas.openxmlformats.org/officeDocument/2006/relationships/tags" Target="../tags/tag19.xml"/><Relationship Id="rId12" Type="http://schemas.openxmlformats.org/officeDocument/2006/relationships/tags" Target="../tags/tag20.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9"/>
            </p:custDataLst>
          </p:nvPr>
        </p:nvSpPr>
        <p:spPr>
          <a:xfrm>
            <a:off x="381000" y="228600"/>
            <a:ext cx="11430000" cy="736600"/>
          </a:xfrm>
          <a:prstGeom prst="rect">
            <a:avLst/>
          </a:prstGeom>
        </p:spPr>
        <p:txBody>
          <a:bodyPr vert="horz" lIns="90170" tIns="46990" rIns="90170" bIns="46990" rtlCol="0" anchor="b"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0"/>
            </p:custDataLst>
          </p:nvPr>
        </p:nvSpPr>
        <p:spPr>
          <a:xfrm>
            <a:off x="431800" y="1270000"/>
            <a:ext cx="11328400" cy="46990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Slide Number Placeholder 5"/>
          <p:cNvSpPr>
            <a:spLocks noGrp="1"/>
          </p:cNvSpPr>
          <p:nvPr>
            <p:ph type="sldNum" sz="quarter" idx="4"/>
            <p:custDataLst>
              <p:tags r:id="rId11"/>
            </p:custDataLst>
          </p:nvPr>
        </p:nvSpPr>
        <p:spPr>
          <a:xfrm>
            <a:off x="10922000" y="6413500"/>
            <a:ext cx="952500" cy="304800"/>
          </a:xfrm>
          <a:prstGeom prst="rect">
            <a:avLst/>
          </a:prstGeom>
        </p:spPr>
        <p:txBody>
          <a:bodyPr vert="horz" lIns="91440" tIns="45720" rIns="91440" bIns="45720" rtlCol="0" anchor="ctr">
            <a:normAutofit/>
          </a:bodyPr>
          <a:lstStyle>
            <a:lvl1pPr algn="r">
              <a:defRPr sz="1000" baseline="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000" b="1" u="none" strike="noStrike" kern="1200" cap="none" normalizeH="0" baseline="0">
          <a:solidFill>
            <a:srgbClr val="0D7377"/>
          </a:solidFill>
          <a:uFillTx/>
          <a:latin typeface="Century Gothic" panose="020B0502020202020204" charset="0"/>
          <a:ea typeface="+mj-ea"/>
          <a:cs typeface="Century Gothic" panose="020B0502020202020204" charset="0"/>
        </a:defRPr>
      </a:lvl1pPr>
    </p:titleStyle>
    <p:bodyStyle>
      <a:lvl1pPr marL="228600" indent="-228600" algn="l" defTabSz="914400" rtl="0" eaLnBrk="1" fontAlgn="auto" latinLnBrk="0" hangingPunct="1">
        <a:lnSpc>
          <a:spcPct val="130000"/>
        </a:lnSpc>
        <a:spcBef>
          <a:spcPts val="0"/>
        </a:spcBef>
        <a:spcAft>
          <a:spcPts val="10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1pPr>
      <a:lvl2pPr marL="6858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tabLst>
          <a:tab pos="1609725" algn="l"/>
          <a:tab pos="1609725" algn="l"/>
          <a:tab pos="1609725" algn="l"/>
          <a:tab pos="1609725" algn="l"/>
        </a:tabLst>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2pPr>
      <a:lvl3pPr marL="11430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3pPr>
      <a:lvl4pPr marL="1600200" indent="-228600" algn="l" defTabSz="914400" rtl="0" eaLnBrk="1" fontAlgn="auto" latinLnBrk="0" hangingPunct="1">
        <a:lnSpc>
          <a:spcPct val="120000"/>
        </a:lnSpc>
        <a:spcBef>
          <a:spcPts val="0"/>
        </a:spcBef>
        <a:spcAft>
          <a:spcPts val="300"/>
        </a:spcAft>
        <a:buClr>
          <a:srgbClr val="0D7377"/>
        </a:buClr>
        <a:buFont typeface="Wingdings" panose="05000000000000000000"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4pPr>
      <a:lvl5pPr marL="2057400" indent="-228600" algn="l" defTabSz="914400" rtl="0" eaLnBrk="1" fontAlgn="auto" latinLnBrk="0" hangingPunct="1">
        <a:lnSpc>
          <a:spcPct val="120000"/>
        </a:lnSpc>
        <a:spcBef>
          <a:spcPts val="0"/>
        </a:spcBef>
        <a:spcAft>
          <a:spcPts val="300"/>
        </a:spcAft>
        <a:buClr>
          <a:srgbClr val="0D7377"/>
        </a:buClr>
        <a:buFont typeface="Arial" panose="020B0604020202020204" pitchFamily="34" charset="0"/>
        <a:buChar char="•"/>
        <a:defRPr sz="2000" u="none" strike="noStrike" kern="1200" cap="none" normalizeH="0" baseline="0">
          <a:solidFill>
            <a:srgbClr val="1A1A1A"/>
          </a:solidFill>
          <a:uFillTx/>
          <a:latin typeface="Century Gothic" panose="020B0502020202020204" charset="0"/>
          <a:ea typeface="+mn-ea"/>
          <a:cs typeface="Century Gothic" panose="020B05020202020202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Concepts of Biostatistics and Data Science</a:t>
            </a:r>
          </a:p>
        </p:txBody>
      </p:sp>
      <p:sp>
        <p:nvSpPr>
          <p:cNvPr id="3" name="Subtitle 2"/>
          <p:cNvSpPr>
            <a:spLocks noGrp="1"/>
          </p:cNvSpPr>
          <p:nvPr>
            <p:ph type="subTitle" idx="1"/>
          </p:nvPr>
        </p:nvSpPr>
        <p:spPr/>
        <p:txBody>
          <a:bodyPr/>
          <a:lstStyle/>
          <a:p>
            <a:r>
              <a:t>A two-day crash course with practical analysis in R</a:t>
            </a:r>
          </a:p>
          <a:p>
            <a:r>
              <a:t>Day 1: Understanding data and making comparisons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 for today</a:t>
            </a:r>
          </a:p>
        </p:txBody>
      </p:sp>
      <p:sp>
        <p:nvSpPr>
          <p:cNvPr id="3" name="Slide Number Placeholder 2"/>
          <p:cNvSpPr>
            <a:spLocks noGrp="1"/>
          </p:cNvSpPr>
          <p:nvPr>
            <p:ph type="sldNum" idx="12" sz="quarter"/>
          </p:nvPr>
        </p:nvSpPr>
        <p:spPr/>
        <p:txBody>
          <a:bodyPr/>
          <a:lstStyle/>
          <a:p>
            <a:fld id="{B6F15528-21DE-4FAA-801E-634DDDAF4B2B}" type="slidenum">
              <a:rPr lang="en-GB"/>
              <a:t>2</a:t>
            </a:fld>
          </a:p>
        </p:txBody>
      </p:sp>
      <p:graphicFrame>
        <p:nvGraphicFramePr>
          <p:cNvPr id="4" name="Table 3"/>
          <p:cNvGraphicFramePr>
            <a:graphicFrameLocks noGrp="1"/>
          </p:cNvGraphicFramePr>
          <p:nvPr/>
        </p:nvGraphicFramePr>
        <p:xfrm>
          <a:off x="429768" y="1435608"/>
          <a:ext cx="11332157" cy="4114800"/>
        </p:xfrm>
        <a:graphic>
          <a:graphicData uri="http://schemas.openxmlformats.org/drawingml/2006/table">
            <a:tbl>
              <a:tblPr firstRow="1" bandRow="1">
                <a:tableStyleId>{5C22544A-7EE6-4342-B048-85BDC9FD1C3A}</a:tableStyleId>
              </a:tblPr>
              <a:tblGrid>
                <a:gridCol w="2493074"/>
                <a:gridCol w="2039788"/>
                <a:gridCol w="6799295"/>
              </a:tblGrid>
              <a:tr h="457200">
                <a:tc>
                  <a:txBody>
                    <a:bodyPr/>
                    <a:lstStyle/>
                    <a:p>
                      <a:r>
                        <a:rPr sz="1900" b="1" i="0">
                          <a:solidFill>
                            <a:srgbClr val="FFFFFF"/>
                          </a:solidFill>
                        </a:rPr>
                        <a:t>Time</a:t>
                      </a:r>
                    </a:p>
                  </a:txBody>
                  <a:tcPr marL="73152" marR="73152" marT="36576" marB="36576">
                    <a:solidFill>
                      <a:srgbClr val="04242F"/>
                    </a:solidFill>
                  </a:tcPr>
                </a:tc>
                <a:tc>
                  <a:txBody>
                    <a:bodyPr/>
                    <a:lstStyle/>
                    <a:p>
                      <a:r>
                        <a:rPr sz="1900" b="1" i="0">
                          <a:solidFill>
                            <a:srgbClr val="FFFFFF"/>
                          </a:solidFill>
                        </a:rPr>
                        <a:t>Session</a:t>
                      </a:r>
                    </a:p>
                  </a:txBody>
                  <a:tcPr marL="73152" marR="73152" marT="36576" marB="36576">
                    <a:solidFill>
                      <a:srgbClr val="04242F"/>
                    </a:solidFill>
                  </a:tcPr>
                </a:tc>
                <a:tc>
                  <a:txBody>
                    <a:bodyPr/>
                    <a:lstStyle/>
                    <a:p>
                      <a:r>
                        <a:rPr sz="1900" b="1" i="0">
                          <a:solidFill>
                            <a:srgbClr val="FFFFFF"/>
                          </a:solidFill>
                        </a:rPr>
                        <a:t>Focus</a:t>
                      </a:r>
                    </a:p>
                  </a:txBody>
                  <a:tcPr marL="73152" marR="73152" marT="36576" marB="36576">
                    <a:solidFill>
                      <a:srgbClr val="04242F"/>
                    </a:solidFill>
                  </a:tcPr>
                </a:tc>
              </a:tr>
              <a:tr h="457200">
                <a:tc>
                  <a:txBody>
                    <a:bodyPr/>
                    <a:lstStyle/>
                    <a:p>
                      <a:r>
                        <a:rPr sz="1900" b="0" i="0">
                          <a:solidFill>
                            <a:srgbClr val="1F2D33"/>
                          </a:solidFill>
                        </a:rPr>
                        <a:t>09:00 to 09:10</a:t>
                      </a:r>
                    </a:p>
                  </a:txBody>
                  <a:tcPr marL="73152" marR="73152" marT="36576" marB="36576">
                    <a:solidFill>
                      <a:srgbClr val="FFFFFF"/>
                    </a:solidFill>
                  </a:tcPr>
                </a:tc>
                <a:tc>
                  <a:txBody>
                    <a:bodyPr/>
                    <a:lstStyle/>
                    <a:p>
                      <a:r>
                        <a:rPr sz="1900" b="0" i="0">
                          <a:solidFill>
                            <a:srgbClr val="1F2D33"/>
                          </a:solidFill>
                        </a:rPr>
                        <a:t>Welcome</a:t>
                      </a:r>
                    </a:p>
                  </a:txBody>
                  <a:tcPr marL="73152" marR="73152" marT="36576" marB="36576">
                    <a:solidFill>
                      <a:srgbClr val="FFFFFF"/>
                    </a:solidFill>
                  </a:tcPr>
                </a:tc>
                <a:tc>
                  <a:txBody>
                    <a:bodyPr/>
                    <a:lstStyle/>
                    <a:p>
                      <a:r>
                        <a:rPr sz="1900" b="0" i="0">
                          <a:solidFill>
                            <a:srgbClr val="1F2D33"/>
                          </a:solidFill>
                        </a:rPr>
                        <a:t>Aims, data, how the course works</a:t>
                      </a:r>
                    </a:p>
                  </a:txBody>
                  <a:tcPr marL="73152" marR="73152" marT="36576" marB="36576">
                    <a:solidFill>
                      <a:srgbClr val="FFFFFF"/>
                    </a:solidFill>
                  </a:tcPr>
                </a:tc>
              </a:tr>
              <a:tr h="457200">
                <a:tc>
                  <a:txBody>
                    <a:bodyPr/>
                    <a:lstStyle/>
                    <a:p>
                      <a:r>
                        <a:rPr sz="1900" b="0" i="0">
                          <a:solidFill>
                            <a:srgbClr val="1F2D33"/>
                          </a:solidFill>
                        </a:rPr>
                        <a:t>09:10 to 09:30</a:t>
                      </a:r>
                    </a:p>
                  </a:txBody>
                  <a:tcPr marL="73152" marR="73152" marT="36576" marB="36576">
                    <a:solidFill>
                      <a:srgbClr val="EAF2F5"/>
                    </a:solidFill>
                  </a:tcPr>
                </a:tc>
                <a:tc>
                  <a:txBody>
                    <a:bodyPr/>
                    <a:lstStyle/>
                    <a:p>
                      <a:r>
                        <a:rPr sz="1900" b="0" i="0">
                          <a:solidFill>
                            <a:srgbClr val="1F2D33"/>
                          </a:solidFill>
                        </a:rPr>
                        <a:t>Theory 1</a:t>
                      </a:r>
                    </a:p>
                  </a:txBody>
                  <a:tcPr marL="73152" marR="73152" marT="36576" marB="36576">
                    <a:solidFill>
                      <a:srgbClr val="EAF2F5"/>
                    </a:solidFill>
                  </a:tcPr>
                </a:tc>
                <a:tc>
                  <a:txBody>
                    <a:bodyPr/>
                    <a:lstStyle/>
                    <a:p>
                      <a:r>
                        <a:rPr sz="1900" b="0" i="0">
                          <a:solidFill>
                            <a:srgbClr val="1F2D33"/>
                          </a:solidFill>
                        </a:rPr>
                        <a:t>Questions, observations, variables, data quality</a:t>
                      </a:r>
                    </a:p>
                  </a:txBody>
                  <a:tcPr marL="73152" marR="73152" marT="36576" marB="36576">
                    <a:solidFill>
                      <a:srgbClr val="EAF2F5"/>
                    </a:solidFill>
                  </a:tcPr>
                </a:tc>
              </a:tr>
              <a:tr h="457200">
                <a:tc>
                  <a:txBody>
                    <a:bodyPr/>
                    <a:lstStyle/>
                    <a:p>
                      <a:r>
                        <a:rPr sz="1900" b="0" i="0">
                          <a:solidFill>
                            <a:srgbClr val="1F2D33"/>
                          </a:solidFill>
                        </a:rPr>
                        <a:t>09:30 to 09:55</a:t>
                      </a:r>
                    </a:p>
                  </a:txBody>
                  <a:tcPr marL="73152" marR="73152" marT="36576" marB="36576">
                    <a:solidFill>
                      <a:srgbClr val="FFFFFF"/>
                    </a:solidFill>
                  </a:tcPr>
                </a:tc>
                <a:tc>
                  <a:txBody>
                    <a:bodyPr/>
                    <a:lstStyle/>
                    <a:p>
                      <a:r>
                        <a:rPr sz="1900" b="0" i="0">
                          <a:solidFill>
                            <a:srgbClr val="1F2D33"/>
                          </a:solidFill>
                        </a:rPr>
                        <a:t>Theory 2</a:t>
                      </a:r>
                    </a:p>
                  </a:txBody>
                  <a:tcPr marL="73152" marR="73152" marT="36576" marB="36576">
                    <a:solidFill>
                      <a:srgbClr val="FFFFFF"/>
                    </a:solidFill>
                  </a:tcPr>
                </a:tc>
                <a:tc>
                  <a:txBody>
                    <a:bodyPr/>
                    <a:lstStyle/>
                    <a:p>
                      <a:r>
                        <a:rPr sz="1900" b="0" i="0">
                          <a:solidFill>
                            <a:srgbClr val="1F2D33"/>
                          </a:solidFill>
                        </a:rPr>
                        <a:t>Describing data: summaries and plots</a:t>
                      </a:r>
                    </a:p>
                  </a:txBody>
                  <a:tcPr marL="73152" marR="73152" marT="36576" marB="36576">
                    <a:solidFill>
                      <a:srgbClr val="FFFFFF"/>
                    </a:solidFill>
                  </a:tcPr>
                </a:tc>
              </a:tr>
              <a:tr h="457200">
                <a:tc>
                  <a:txBody>
                    <a:bodyPr/>
                    <a:lstStyle/>
                    <a:p>
                      <a:r>
                        <a:rPr sz="1900" b="0" i="0">
                          <a:solidFill>
                            <a:srgbClr val="1F2D33"/>
                          </a:solidFill>
                        </a:rPr>
                        <a:t>09:55 to 10:20</a:t>
                      </a:r>
                    </a:p>
                  </a:txBody>
                  <a:tcPr marL="73152" marR="73152" marT="36576" marB="36576">
                    <a:solidFill>
                      <a:srgbClr val="EAF2F5"/>
                    </a:solidFill>
                  </a:tcPr>
                </a:tc>
                <a:tc>
                  <a:txBody>
                    <a:bodyPr/>
                    <a:lstStyle/>
                    <a:p>
                      <a:r>
                        <a:rPr sz="1900" b="0" i="0">
                          <a:solidFill>
                            <a:srgbClr val="1F2D33"/>
                          </a:solidFill>
                        </a:rPr>
                        <a:t>Theory 3</a:t>
                      </a:r>
                    </a:p>
                  </a:txBody>
                  <a:tcPr marL="73152" marR="73152" marT="36576" marB="36576">
                    <a:solidFill>
                      <a:srgbClr val="EAF2F5"/>
                    </a:solidFill>
                  </a:tcPr>
                </a:tc>
                <a:tc>
                  <a:txBody>
                    <a:bodyPr/>
                    <a:lstStyle/>
                    <a:p>
                      <a:r>
                        <a:rPr sz="1900" b="0" i="0">
                          <a:solidFill>
                            <a:srgbClr val="1F2D33"/>
                          </a:solidFill>
                        </a:rPr>
                        <a:t>Samples, variability, effect sizes, CIs, tests</a:t>
                      </a:r>
                    </a:p>
                  </a:txBody>
                  <a:tcPr marL="73152" marR="73152" marT="36576" marB="36576">
                    <a:solidFill>
                      <a:srgbClr val="EAF2F5"/>
                    </a:solidFill>
                  </a:tcPr>
                </a:tc>
              </a:tr>
              <a:tr h="457200">
                <a:tc>
                  <a:txBody>
                    <a:bodyPr/>
                    <a:lstStyle/>
                    <a:p>
                      <a:r>
                        <a:rPr sz="1900" b="0" i="0">
                          <a:solidFill>
                            <a:srgbClr val="1F2D33"/>
                          </a:solidFill>
                        </a:rPr>
                        <a:t>10:20 to 10:42</a:t>
                      </a:r>
                    </a:p>
                  </a:txBody>
                  <a:tcPr marL="73152" marR="73152" marT="36576" marB="36576">
                    <a:solidFill>
                      <a:srgbClr val="FFFFFF"/>
                    </a:solidFill>
                  </a:tcPr>
                </a:tc>
                <a:tc>
                  <a:txBody>
                    <a:bodyPr/>
                    <a:lstStyle/>
                    <a:p>
                      <a:r>
                        <a:rPr sz="1900" b="0" i="0">
                          <a:solidFill>
                            <a:srgbClr val="1F2D33"/>
                          </a:solidFill>
                        </a:rPr>
                        <a:t>Theory 4</a:t>
                      </a:r>
                    </a:p>
                  </a:txBody>
                  <a:tcPr marL="73152" marR="73152" marT="36576" marB="36576">
                    <a:solidFill>
                      <a:srgbClr val="FFFFFF"/>
                    </a:solidFill>
                  </a:tcPr>
                </a:tc>
                <a:tc>
                  <a:txBody>
                    <a:bodyPr/>
                    <a:lstStyle/>
                    <a:p>
                      <a:r>
                        <a:rPr sz="1900" b="0" i="0">
                          <a:solidFill>
                            <a:srgbClr val="1F2D33"/>
                          </a:solidFill>
                        </a:rPr>
                        <a:t>Comparing groups: continuous outcomes</a:t>
                      </a:r>
                    </a:p>
                  </a:txBody>
                  <a:tcPr marL="73152" marR="73152" marT="36576" marB="36576">
                    <a:solidFill>
                      <a:srgbClr val="FFFFFF"/>
                    </a:solidFill>
                  </a:tcPr>
                </a:tc>
              </a:tr>
              <a:tr h="457200">
                <a:tc>
                  <a:txBody>
                    <a:bodyPr/>
                    <a:lstStyle/>
                    <a:p>
                      <a:r>
                        <a:rPr sz="1900" b="0" i="0">
                          <a:solidFill>
                            <a:srgbClr val="1F2D33"/>
                          </a:solidFill>
                        </a:rPr>
                        <a:t>10:42 to 11:00</a:t>
                      </a:r>
                    </a:p>
                  </a:txBody>
                  <a:tcPr marL="73152" marR="73152" marT="36576" marB="36576">
                    <a:solidFill>
                      <a:srgbClr val="EAF2F5"/>
                    </a:solidFill>
                  </a:tcPr>
                </a:tc>
                <a:tc>
                  <a:txBody>
                    <a:bodyPr/>
                    <a:lstStyle/>
                    <a:p>
                      <a:r>
                        <a:rPr sz="1900" b="0" i="0">
                          <a:solidFill>
                            <a:srgbClr val="1F2D33"/>
                          </a:solidFill>
                        </a:rPr>
                        <a:t>Theory 5</a:t>
                      </a:r>
                    </a:p>
                  </a:txBody>
                  <a:tcPr marL="73152" marR="73152" marT="36576" marB="36576">
                    <a:solidFill>
                      <a:srgbClr val="EAF2F5"/>
                    </a:solidFill>
                  </a:tcPr>
                </a:tc>
                <a:tc>
                  <a:txBody>
                    <a:bodyPr/>
                    <a:lstStyle/>
                    <a:p>
                      <a:r>
                        <a:rPr sz="1900" b="0" i="0">
                          <a:solidFill>
                            <a:srgbClr val="1F2D33"/>
                          </a:solidFill>
                        </a:rPr>
                        <a:t>Categorical associations; first look at confounding</a:t>
                      </a:r>
                    </a:p>
                  </a:txBody>
                  <a:tcPr marL="73152" marR="73152" marT="36576" marB="36576">
                    <a:solidFill>
                      <a:srgbClr val="EAF2F5"/>
                    </a:solidFill>
                  </a:tcPr>
                </a:tc>
              </a:tr>
              <a:tr h="457200">
                <a:tc>
                  <a:txBody>
                    <a:bodyPr/>
                    <a:lstStyle/>
                    <a:p>
                      <a:r>
                        <a:rPr sz="1900" b="0" i="0">
                          <a:solidFill>
                            <a:srgbClr val="1F2D33"/>
                          </a:solidFill>
                        </a:rPr>
                        <a:t>11:00 to 11:30</a:t>
                      </a:r>
                    </a:p>
                  </a:txBody>
                  <a:tcPr marL="73152" marR="73152" marT="36576" marB="36576">
                    <a:solidFill>
                      <a:srgbClr val="FFFFFF"/>
                    </a:solidFill>
                  </a:tcPr>
                </a:tc>
                <a:tc>
                  <a:txBody>
                    <a:bodyPr/>
                    <a:lstStyle/>
                    <a:p>
                      <a:r>
                        <a:rPr sz="1900" b="0" i="0">
                          <a:solidFill>
                            <a:srgbClr val="1F2D33"/>
                          </a:solidFill>
                        </a:rPr>
                        <a:t>Break</a:t>
                      </a:r>
                    </a:p>
                  </a:txBody>
                  <a:tcPr marL="73152" marR="73152" marT="36576" marB="36576">
                    <a:solidFill>
                      <a:srgbClr val="FFFFFF"/>
                    </a:solidFill>
                  </a:tcPr>
                </a:tc>
                <a:tc>
                  <a:txBody>
                    <a:bodyPr/>
                    <a:lstStyle/>
                    <a:p>
                      <a:r>
                        <a:rPr sz="1900" b="0" i="0">
                          <a:solidFill>
                            <a:srgbClr val="1F2D33"/>
                          </a:solidFill>
                        </a:rPr>
                        <a:t>(not counted in teaching time)</a:t>
                      </a:r>
                    </a:p>
                  </a:txBody>
                  <a:tcPr marL="73152" marR="73152" marT="36576" marB="36576">
                    <a:solidFill>
                      <a:srgbClr val="FFFFFF"/>
                    </a:solidFill>
                  </a:tcPr>
                </a:tc>
              </a:tr>
              <a:tr h="457200">
                <a:tc>
                  <a:txBody>
                    <a:bodyPr/>
                    <a:lstStyle/>
                    <a:p>
                      <a:r>
                        <a:rPr sz="1900" b="0" i="0">
                          <a:solidFill>
                            <a:srgbClr val="1F2D33"/>
                          </a:solidFill>
                        </a:rPr>
                        <a:t>11:30 to 13:30</a:t>
                      </a:r>
                    </a:p>
                  </a:txBody>
                  <a:tcPr marL="73152" marR="73152" marT="36576" marB="36576">
                    <a:solidFill>
                      <a:srgbClr val="EAF2F5"/>
                    </a:solidFill>
                  </a:tcPr>
                </a:tc>
                <a:tc>
                  <a:txBody>
                    <a:bodyPr/>
                    <a:lstStyle/>
                    <a:p>
                      <a:r>
                        <a:rPr sz="1900" b="0" i="0">
                          <a:solidFill>
                            <a:srgbClr val="1F2D33"/>
                          </a:solidFill>
                        </a:rPr>
                        <a:t>Practical</a:t>
                      </a:r>
                    </a:p>
                  </a:txBody>
                  <a:tcPr marL="73152" marR="73152" marT="36576" marB="36576">
                    <a:solidFill>
                      <a:srgbClr val="EAF2F5"/>
                    </a:solidFill>
                  </a:tcPr>
                </a:tc>
                <a:tc>
                  <a:txBody>
                    <a:bodyPr/>
                    <a:lstStyle/>
                    <a:p>
                      <a:r>
                        <a:rPr sz="1900" b="0" i="0">
                          <a:solidFill>
                            <a:srgbClr val="1F2D33"/>
                          </a:solidFill>
                        </a:rPr>
                        <a:t>Import, inspect, describe, compare in R</a:t>
                      </a:r>
                    </a:p>
                  </a:txBody>
                  <a:tcPr marL="73152" marR="73152" marT="36576" marB="36576">
                    <a:solidFill>
                      <a:srgbClr val="EAF2F5"/>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By the end of today you will be able to</a:t>
            </a:r>
          </a:p>
        </p:txBody>
      </p:sp>
      <p:sp>
        <p:nvSpPr>
          <p:cNvPr id="3" name="Slide Number Placeholder 2"/>
          <p:cNvSpPr>
            <a:spLocks noGrp="1"/>
          </p:cNvSpPr>
          <p:nvPr>
            <p:ph type="sldNum" idx="12" sz="quarter"/>
          </p:nvPr>
        </p:nvSpPr>
        <p:spPr/>
        <p:txBody>
          <a:bodyPr/>
          <a:lstStyle/>
          <a:p>
            <a:fld id="{B6F15528-21DE-4FAA-801E-634DDDAF4B2B}" type="slidenum">
              <a:rPr lang="en-GB"/>
              <a:t>3</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Describe a dataset in terms of observations, variables and variable types</a:t>
            </a:r>
          </a:p>
          <a:p>
            <a:pPr>
              <a:spcAft>
                <a:spcPts val="1000"/>
              </a:spcAft>
            </a:pPr>
            <a:r>
              <a:rPr sz="1600" b="0" i="0">
                <a:solidFill>
                  <a:srgbClr val="0D7377"/>
                </a:solidFill>
              </a:rPr>
              <a:t>●  </a:t>
            </a:r>
            <a:r>
              <a:rPr sz="2200" b="0" i="0">
                <a:solidFill>
                  <a:srgbClr val="1F2D33"/>
                </a:solidFill>
              </a:rPr>
              <a:t>Check a dataset for missing values, impossible values and coding problems</a:t>
            </a:r>
          </a:p>
          <a:p>
            <a:pPr>
              <a:spcAft>
                <a:spcPts val="1000"/>
              </a:spcAft>
            </a:pPr>
            <a:r>
              <a:rPr sz="1600" b="0" i="0">
                <a:solidFill>
                  <a:srgbClr val="0D7377"/>
                </a:solidFill>
              </a:rPr>
              <a:t>●  </a:t>
            </a:r>
            <a:r>
              <a:rPr sz="2200" b="0" i="0">
                <a:solidFill>
                  <a:srgbClr val="1F2D33"/>
                </a:solidFill>
              </a:rPr>
              <a:t>Choose and calculate suitable summaries: counts, proportions, mean (SD), median (IQR)</a:t>
            </a:r>
          </a:p>
          <a:p>
            <a:pPr>
              <a:spcAft>
                <a:spcPts val="1000"/>
              </a:spcAft>
            </a:pPr>
            <a:r>
              <a:rPr sz="1600" b="0" i="0">
                <a:solidFill>
                  <a:srgbClr val="0D7377"/>
                </a:solidFill>
              </a:rPr>
              <a:t>●  </a:t>
            </a:r>
            <a:r>
              <a:rPr sz="2200" b="0" i="0">
                <a:solidFill>
                  <a:srgbClr val="1F2D33"/>
                </a:solidFill>
              </a:rPr>
              <a:t>Choose a suitable plot: bar chart, histogram or boxplot</a:t>
            </a:r>
          </a:p>
          <a:p>
            <a:pPr>
              <a:spcAft>
                <a:spcPts val="1000"/>
              </a:spcAft>
            </a:pPr>
            <a:r>
              <a:rPr sz="1600" b="0" i="0">
                <a:solidFill>
                  <a:srgbClr val="0D7377"/>
                </a:solidFill>
              </a:rPr>
              <a:t>●  </a:t>
            </a:r>
            <a:r>
              <a:rPr sz="2200" b="0" i="0">
                <a:solidFill>
                  <a:srgbClr val="1F2D33"/>
                </a:solidFill>
              </a:rPr>
              <a:t>Explain what a confidence interval and a p-value do and do not tell you</a:t>
            </a:r>
          </a:p>
          <a:p>
            <a:pPr>
              <a:spcAft>
                <a:spcPts val="1000"/>
              </a:spcAft>
            </a:pPr>
            <a:r>
              <a:rPr sz="1600" b="0" i="0">
                <a:solidFill>
                  <a:srgbClr val="0D7377"/>
                </a:solidFill>
              </a:rPr>
              <a:t>●  </a:t>
            </a:r>
            <a:r>
              <a:rPr sz="2200" b="0" i="0">
                <a:solidFill>
                  <a:srgbClr val="1F2D33"/>
                </a:solidFill>
              </a:rPr>
              <a:t>Compare two or more groups with a t-test, ANOVA or a rank-based test, and say why</a:t>
            </a:r>
          </a:p>
          <a:p>
            <a:pPr>
              <a:spcAft>
                <a:spcPts val="1000"/>
              </a:spcAft>
            </a:pPr>
            <a:r>
              <a:rPr sz="1600" b="0" i="0">
                <a:solidFill>
                  <a:srgbClr val="0D7377"/>
                </a:solidFill>
              </a:rPr>
              <a:t>●  </a:t>
            </a:r>
            <a:r>
              <a:rPr sz="2200" b="0" i="0">
                <a:solidFill>
                  <a:srgbClr val="1F2D33"/>
                </a:solidFill>
              </a:rPr>
              <a:t>Analyse a contingency table and explain proportions, risks, odds, RR and OR</a:t>
            </a:r>
          </a:p>
          <a:p>
            <a:pPr>
              <a:spcAft>
                <a:spcPts val="1000"/>
              </a:spcAft>
            </a:pPr>
            <a:r>
              <a:rPr sz="1600" b="0" i="0">
                <a:solidFill>
                  <a:srgbClr val="0D7377"/>
                </a:solidFill>
              </a:rPr>
              <a:t>●  </a:t>
            </a:r>
            <a:r>
              <a:rPr sz="2200" b="0" i="0">
                <a:solidFill>
                  <a:srgbClr val="1F2D33"/>
                </a:solidFill>
              </a:rPr>
              <a:t>Recognise paired data and avoid analysing it as independent groups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data: the Healthy Hearts District Study (simulated)</a:t>
            </a:r>
          </a:p>
        </p:txBody>
      </p:sp>
      <p:sp>
        <p:nvSpPr>
          <p:cNvPr id="3" name="Slide Number Placeholder 2"/>
          <p:cNvSpPr>
            <a:spLocks noGrp="1"/>
          </p:cNvSpPr>
          <p:nvPr>
            <p:ph type="sldNum" idx="12" sz="quarter"/>
          </p:nvPr>
        </p:nvSpPr>
        <p:spPr/>
        <p:txBody>
          <a:bodyPr/>
          <a:lstStyle/>
          <a:p>
            <a:fld id="{B6F15528-21DE-4FAA-801E-634DDDAF4B2B}" type="slidenum">
              <a:rPr lang="en-GB"/>
              <a:t>4</a:t>
            </a:fld>
          </a:p>
        </p:txBody>
      </p:sp>
      <p:sp>
        <p:nvSpPr>
          <p:cNvPr id="4" name="TextBox 3"/>
          <p:cNvSpPr txBox="1"/>
          <p:nvPr/>
        </p:nvSpPr>
        <p:spPr>
          <a:xfrm>
            <a:off x="429768" y="1389888"/>
            <a:ext cx="5483199" cy="457200"/>
          </a:xfrm>
          <a:prstGeom prst="rect">
            <a:avLst/>
          </a:prstGeom>
          <a:noFill/>
        </p:spPr>
        <p:txBody>
          <a:bodyPr wrap="square" anchor="t" lIns="45720" rIns="45720">
            <a:spAutoFit/>
          </a:bodyPr>
          <a:lstStyle/>
          <a:p>
            <a:pPr algn="l"/>
            <a:r>
              <a:rPr sz="2100" b="1" i="0">
                <a:solidFill>
                  <a:srgbClr val="0B376C"/>
                </a:solidFill>
              </a:rPr>
              <a:t>What it contains</a:t>
            </a:r>
          </a:p>
        </p:txBody>
      </p:sp>
      <p:sp>
        <p:nvSpPr>
          <p:cNvPr id="5" name="TextBox 4"/>
          <p:cNvSpPr txBox="1"/>
          <p:nvPr/>
        </p:nvSpPr>
        <p:spPr>
          <a:xfrm>
            <a:off x="429768" y="1892808"/>
            <a:ext cx="5483199" cy="425196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480 adults aged 30 to 74 from four districts</a:t>
            </a:r>
          </a:p>
          <a:p>
            <a:pPr>
              <a:spcAft>
                <a:spcPts val="1000"/>
              </a:spcAft>
            </a:pPr>
            <a:r>
              <a:rPr sz="1300" b="0" i="0">
                <a:solidFill>
                  <a:srgbClr val="0D7377"/>
                </a:solidFill>
              </a:rPr>
              <a:t>●  </a:t>
            </a:r>
            <a:r>
              <a:rPr sz="1900" b="0" i="0">
                <a:solidFill>
                  <a:srgbClr val="1F2D33"/>
                </a:solidFill>
              </a:rPr>
              <a:t>Baseline: age, sex, education, smoking, activity, diet score, BMI, blood pressure, CRP</a:t>
            </a:r>
          </a:p>
          <a:p>
            <a:pPr>
              <a:spcAft>
                <a:spcPts val="1000"/>
              </a:spcAft>
            </a:pPr>
            <a:r>
              <a:rPr sz="1300" b="0" i="0">
                <a:solidFill>
                  <a:srgbClr val="0D7377"/>
                </a:solidFill>
              </a:rPr>
              <a:t>●  </a:t>
            </a:r>
            <a:r>
              <a:rPr sz="1900" b="0" i="0">
                <a:solidFill>
                  <a:srgbClr val="1F2D33"/>
                </a:solidFill>
              </a:rPr>
              <a:t>Randomised: standard advice or a lifestyle programme</a:t>
            </a:r>
          </a:p>
          <a:p>
            <a:pPr>
              <a:spcAft>
                <a:spcPts val="1000"/>
              </a:spcAft>
            </a:pPr>
            <a:r>
              <a:rPr sz="1300" b="0" i="0">
                <a:solidFill>
                  <a:srgbClr val="0D7377"/>
                </a:solidFill>
              </a:rPr>
              <a:t>●  </a:t>
            </a:r>
            <a:r>
              <a:rPr sz="1900" b="0" i="0">
                <a:solidFill>
                  <a:srgbClr val="1F2D33"/>
                </a:solidFill>
              </a:rPr>
              <a:t>12-month follow-up: blood pressure, satisfaction, adverse events, clinic visits</a:t>
            </a:r>
          </a:p>
        </p:txBody>
      </p:sp>
      <p:sp>
        <p:nvSpPr>
          <p:cNvPr id="6" name="TextBox 5"/>
          <p:cNvSpPr txBox="1"/>
          <p:nvPr/>
        </p:nvSpPr>
        <p:spPr>
          <a:xfrm>
            <a:off x="6278727" y="1389888"/>
            <a:ext cx="5483199" cy="457200"/>
          </a:xfrm>
          <a:prstGeom prst="rect">
            <a:avLst/>
          </a:prstGeom>
          <a:noFill/>
        </p:spPr>
        <p:txBody>
          <a:bodyPr wrap="square" anchor="t" lIns="45720" rIns="45720">
            <a:spAutoFit/>
          </a:bodyPr>
          <a:lstStyle/>
          <a:p>
            <a:pPr algn="l"/>
            <a:r>
              <a:rPr sz="2100" b="1" i="0">
                <a:solidFill>
                  <a:srgbClr val="0B376C"/>
                </a:solidFill>
              </a:rPr>
              <a:t>Why we use it</a:t>
            </a:r>
          </a:p>
        </p:txBody>
      </p:sp>
      <p:sp>
        <p:nvSpPr>
          <p:cNvPr id="7" name="TextBox 6"/>
          <p:cNvSpPr txBox="1"/>
          <p:nvPr/>
        </p:nvSpPr>
        <p:spPr>
          <a:xfrm>
            <a:off x="6278727" y="1892808"/>
            <a:ext cx="5483199" cy="425196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Simulated with known rules, so results are for teaching only</a:t>
            </a:r>
          </a:p>
          <a:p>
            <a:pPr>
              <a:spcAft>
                <a:spcPts val="1000"/>
              </a:spcAft>
            </a:pPr>
            <a:r>
              <a:rPr sz="1300" b="0" i="0">
                <a:solidFill>
                  <a:srgbClr val="0D7377"/>
                </a:solidFill>
              </a:rPr>
              <a:t>●  </a:t>
            </a:r>
            <a:r>
              <a:rPr sz="1900" b="0" i="0">
                <a:solidFill>
                  <a:srgbClr val="1F2D33"/>
                </a:solidFill>
              </a:rPr>
              <a:t>Realistic problems built in: missing values, a -99 code, skewed variables, people who left early</a:t>
            </a:r>
          </a:p>
          <a:p>
            <a:pPr>
              <a:spcAft>
                <a:spcPts val="1000"/>
              </a:spcAft>
            </a:pPr>
            <a:r>
              <a:rPr sz="1300" b="0" i="0">
                <a:solidFill>
                  <a:srgbClr val="0D7377"/>
                </a:solidFill>
              </a:rPr>
              <a:t>●  </a:t>
            </a:r>
            <a:r>
              <a:rPr sz="1900" b="0" i="0">
                <a:solidFill>
                  <a:srgbClr val="1F2D33"/>
                </a:solidFill>
              </a:rPr>
              <a:t>Data dictionary: data/data_dictionary.csv</a:t>
            </a:r>
          </a:p>
          <a:p>
            <a:pPr>
              <a:spcAft>
                <a:spcPts val="1000"/>
              </a:spcAft>
            </a:pPr>
            <a:r>
              <a:rPr sz="1300" b="0" i="0">
                <a:solidFill>
                  <a:srgbClr val="0D7377"/>
                </a:solidFill>
              </a:rPr>
              <a:t>●  </a:t>
            </a:r>
            <a:r>
              <a:rPr sz="1900" b="0" i="0">
                <a:solidFill>
                  <a:srgbClr val="1F2D33"/>
                </a:solidFill>
              </a:rPr>
              <a:t>One dataset all course: you learn the methods, not new data each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observations and variables</a:t>
            </a:r>
          </a:p>
        </p:txBody>
      </p:sp>
      <p:sp>
        <p:nvSpPr>
          <p:cNvPr id="3" name="Text Placeholder 2"/>
          <p:cNvSpPr>
            <a:spLocks noGrp="1"/>
          </p:cNvSpPr>
          <p:nvPr>
            <p:ph type="body" idx="1"/>
          </p:nvPr>
        </p:nvSpPr>
        <p:spPr/>
        <p:txBody>
          <a:bodyPr/>
          <a:lstStyle/>
          <a:p>
            <a:r>
              <a:t>Part 1. Analysis starts with a question, not with a test</a:t>
            </a:r>
          </a:p>
        </p:txBody>
      </p:sp>
      <p:sp>
        <p:nvSpPr>
          <p:cNvPr id="4" name="Slide Number Placeholder 3"/>
          <p:cNvSpPr>
            <a:spLocks noGrp="1"/>
          </p:cNvSpPr>
          <p:nvPr>
            <p:ph type="sldNum" idx="12" sz="quarter"/>
          </p:nvPr>
        </p:nvSpPr>
        <p:spPr/>
        <p:txBody>
          <a:bodyPr/>
          <a:lstStyle/>
          <a:p>
            <a:fld id="{B6F15528-21DE-4FAA-801E-634DDDAF4B2B}" type="slidenum">
              <a:rPr lang="en-GB"/>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Start with the question</a:t>
            </a:r>
          </a:p>
        </p:txBody>
      </p:sp>
      <p:sp>
        <p:nvSpPr>
          <p:cNvPr id="3" name="Slide Number Placeholder 2"/>
          <p:cNvSpPr>
            <a:spLocks noGrp="1"/>
          </p:cNvSpPr>
          <p:nvPr>
            <p:ph type="sldNum" idx="12" sz="quarter"/>
          </p:nvPr>
        </p:nvSpPr>
        <p:spPr/>
        <p:txBody>
          <a:bodyPr/>
          <a:lstStyle/>
          <a:p>
            <a:fld id="{B6F15528-21DE-4FAA-801E-634DDDAF4B2B}" type="slidenum">
              <a:rPr lang="en-GB"/>
              <a:t>6</a:t>
            </a:fld>
          </a:p>
        </p:txBody>
      </p:sp>
      <p:graphicFrame>
        <p:nvGraphicFramePr>
          <p:cNvPr id="4" name="Table 3"/>
          <p:cNvGraphicFramePr>
            <a:graphicFrameLocks noGrp="1"/>
          </p:cNvGraphicFramePr>
          <p:nvPr/>
        </p:nvGraphicFramePr>
        <p:xfrm>
          <a:off x="429768" y="1435608"/>
          <a:ext cx="11332158" cy="2286000"/>
        </p:xfrm>
        <a:graphic>
          <a:graphicData uri="http://schemas.openxmlformats.org/drawingml/2006/table">
            <a:tbl>
              <a:tblPr firstRow="1" bandRow="1">
                <a:tableStyleId>{5C22544A-7EE6-4342-B048-85BDC9FD1C3A}</a:tableStyleId>
              </a:tblPr>
              <a:tblGrid>
                <a:gridCol w="5150981"/>
                <a:gridCol w="2472471"/>
                <a:gridCol w="3708706"/>
              </a:tblGrid>
              <a:tr h="457200">
                <a:tc>
                  <a:txBody>
                    <a:bodyPr/>
                    <a:lstStyle/>
                    <a:p>
                      <a:r>
                        <a:rPr sz="1900" b="1" i="0">
                          <a:solidFill>
                            <a:srgbClr val="FFFFFF"/>
                          </a:solidFill>
                        </a:rPr>
                        <a:t>Question</a:t>
                      </a:r>
                    </a:p>
                  </a:txBody>
                  <a:tcPr marL="73152" marR="73152" marT="36576" marB="36576">
                    <a:solidFill>
                      <a:srgbClr val="04242F"/>
                    </a:solidFill>
                  </a:tcPr>
                </a:tc>
                <a:tc>
                  <a:txBody>
                    <a:bodyPr/>
                    <a:lstStyle/>
                    <a:p>
                      <a:r>
                        <a:rPr sz="1900" b="1" i="0">
                          <a:solidFill>
                            <a:srgbClr val="FFFFFF"/>
                          </a:solidFill>
                        </a:rPr>
                        <a:t>Purpose</a:t>
                      </a:r>
                    </a:p>
                  </a:txBody>
                  <a:tcPr marL="73152" marR="73152" marT="36576" marB="36576">
                    <a:solidFill>
                      <a:srgbClr val="04242F"/>
                    </a:solidFill>
                  </a:tcPr>
                </a:tc>
                <a:tc>
                  <a:txBody>
                    <a:bodyPr/>
                    <a:lstStyle/>
                    <a:p>
                      <a:r>
                        <a:rPr sz="1900" b="1" i="0">
                          <a:solidFill>
                            <a:srgbClr val="FFFFFF"/>
                          </a:solidFill>
                        </a:rPr>
                        <a:t>What we will need</a:t>
                      </a:r>
                    </a:p>
                  </a:txBody>
                  <a:tcPr marL="73152" marR="73152" marT="36576" marB="36576">
                    <a:solidFill>
                      <a:srgbClr val="04242F"/>
                    </a:solidFill>
                  </a:tcPr>
                </a:tc>
              </a:tr>
              <a:tr h="457200">
                <a:tc>
                  <a:txBody>
                    <a:bodyPr/>
                    <a:lstStyle/>
                    <a:p>
                      <a:r>
                        <a:rPr sz="1900" b="0" i="0">
                          <a:solidFill>
                            <a:srgbClr val="1F2D33"/>
                          </a:solidFill>
                        </a:rPr>
                        <a:t>What proportion of participants smoke?</a:t>
                      </a:r>
                    </a:p>
                  </a:txBody>
                  <a:tcPr marL="73152" marR="73152" marT="36576" marB="36576">
                    <a:solidFill>
                      <a:srgbClr val="FFFFFF"/>
                    </a:solidFill>
                  </a:tcPr>
                </a:tc>
                <a:tc>
                  <a:txBody>
                    <a:bodyPr/>
                    <a:lstStyle/>
                    <a:p>
                      <a:r>
                        <a:rPr sz="1900" b="0" i="0">
                          <a:solidFill>
                            <a:srgbClr val="1F2D33"/>
                          </a:solidFill>
                        </a:rPr>
                        <a:t>Describe</a:t>
                      </a:r>
                    </a:p>
                  </a:txBody>
                  <a:tcPr marL="73152" marR="73152" marT="36576" marB="36576">
                    <a:solidFill>
                      <a:srgbClr val="FFFFFF"/>
                    </a:solidFill>
                  </a:tcPr>
                </a:tc>
                <a:tc>
                  <a:txBody>
                    <a:bodyPr/>
                    <a:lstStyle/>
                    <a:p>
                      <a:r>
                        <a:rPr sz="1900" b="0" i="0">
                          <a:solidFill>
                            <a:srgbClr val="1F2D33"/>
                          </a:solidFill>
                        </a:rPr>
                        <a:t>Count and proportion</a:t>
                      </a:r>
                    </a:p>
                  </a:txBody>
                  <a:tcPr marL="73152" marR="73152" marT="36576" marB="36576">
                    <a:solidFill>
                      <a:srgbClr val="FFFFFF"/>
                    </a:solidFill>
                  </a:tcPr>
                </a:tc>
              </a:tr>
              <a:tr h="457200">
                <a:tc>
                  <a:txBody>
                    <a:bodyPr/>
                    <a:lstStyle/>
                    <a:p>
                      <a:r>
                        <a:rPr sz="1900" b="0" i="0">
                          <a:solidFill>
                            <a:srgbClr val="1F2D33"/>
                          </a:solidFill>
                        </a:rPr>
                        <a:t>Is mean blood pressure higher in men than in women?</a:t>
                      </a:r>
                    </a:p>
                  </a:txBody>
                  <a:tcPr marL="73152" marR="73152" marT="36576" marB="36576">
                    <a:solidFill>
                      <a:srgbClr val="EAF2F5"/>
                    </a:solidFill>
                  </a:tcPr>
                </a:tc>
                <a:tc>
                  <a:txBody>
                    <a:bodyPr/>
                    <a:lstStyle/>
                    <a:p>
                      <a:r>
                        <a:rPr sz="1900" b="0" i="0">
                          <a:solidFill>
                            <a:srgbClr val="1F2D33"/>
                          </a:solidFill>
                        </a:rPr>
                        <a:t>Compare groups</a:t>
                      </a:r>
                    </a:p>
                  </a:txBody>
                  <a:tcPr marL="73152" marR="73152" marT="36576" marB="36576">
                    <a:solidFill>
                      <a:srgbClr val="EAF2F5"/>
                    </a:solidFill>
                  </a:tcPr>
                </a:tc>
                <a:tc>
                  <a:txBody>
                    <a:bodyPr/>
                    <a:lstStyle/>
                    <a:p>
                      <a:r>
                        <a:rPr sz="1900" b="0" i="0">
                          <a:solidFill>
                            <a:srgbClr val="1F2D33"/>
                          </a:solidFill>
                        </a:rPr>
                        <a:t>Difference in means with CI</a:t>
                      </a:r>
                    </a:p>
                  </a:txBody>
                  <a:tcPr marL="73152" marR="73152" marT="36576" marB="36576">
                    <a:solidFill>
                      <a:srgbClr val="EAF2F5"/>
                    </a:solidFill>
                  </a:tcPr>
                </a:tc>
              </a:tr>
              <a:tr h="457200">
                <a:tc>
                  <a:txBody>
                    <a:bodyPr/>
                    <a:lstStyle/>
                    <a:p>
                      <a:r>
                        <a:rPr sz="1900" b="0" i="0">
                          <a:solidFill>
                            <a:srgbClr val="1F2D33"/>
                          </a:solidFill>
                        </a:rPr>
                        <a:t>Is smoking associated with high blood pressure?</a:t>
                      </a:r>
                    </a:p>
                  </a:txBody>
                  <a:tcPr marL="73152" marR="73152" marT="36576" marB="36576">
                    <a:solidFill>
                      <a:srgbClr val="FFFFFF"/>
                    </a:solidFill>
                  </a:tcPr>
                </a:tc>
                <a:tc>
                  <a:txBody>
                    <a:bodyPr/>
                    <a:lstStyle/>
                    <a:p>
                      <a:r>
                        <a:rPr sz="1900" b="0" i="0">
                          <a:solidFill>
                            <a:srgbClr val="1F2D33"/>
                          </a:solidFill>
                        </a:rPr>
                        <a:t>Association</a:t>
                      </a:r>
                    </a:p>
                  </a:txBody>
                  <a:tcPr marL="73152" marR="73152" marT="36576" marB="36576">
                    <a:solidFill>
                      <a:srgbClr val="FFFFFF"/>
                    </a:solidFill>
                  </a:tcPr>
                </a:tc>
                <a:tc>
                  <a:txBody>
                    <a:bodyPr/>
                    <a:lstStyle/>
                    <a:p>
                      <a:r>
                        <a:rPr sz="1900" b="0" i="0">
                          <a:solidFill>
                            <a:srgbClr val="1F2D33"/>
                          </a:solidFill>
                        </a:rPr>
                        <a:t>Table, RR or OR with CI</a:t>
                      </a:r>
                    </a:p>
                  </a:txBody>
                  <a:tcPr marL="73152" marR="73152" marT="36576" marB="36576">
                    <a:solidFill>
                      <a:srgbClr val="FFFFFF"/>
                    </a:solidFill>
                  </a:tcPr>
                </a:tc>
              </a:tr>
              <a:tr h="457200">
                <a:tc>
                  <a:txBody>
                    <a:bodyPr/>
                    <a:lstStyle/>
                    <a:p>
                      <a:r>
                        <a:rPr sz="1900" b="0" i="0">
                          <a:solidFill>
                            <a:srgbClr val="1F2D33"/>
                          </a:solidFill>
                        </a:rPr>
                        <a:t>Did blood pressure change after the programme?</a:t>
                      </a:r>
                    </a:p>
                  </a:txBody>
                  <a:tcPr marL="73152" marR="73152" marT="36576" marB="36576">
                    <a:solidFill>
                      <a:srgbClr val="EAF2F5"/>
                    </a:solidFill>
                  </a:tcPr>
                </a:tc>
                <a:tc>
                  <a:txBody>
                    <a:bodyPr/>
                    <a:lstStyle/>
                    <a:p>
                      <a:r>
                        <a:rPr sz="1900" b="0" i="0">
                          <a:solidFill>
                            <a:srgbClr val="1F2D33"/>
                          </a:solidFill>
                        </a:rPr>
                        <a:t>Compare paired measurements</a:t>
                      </a:r>
                    </a:p>
                  </a:txBody>
                  <a:tcPr marL="73152" marR="73152" marT="36576" marB="36576">
                    <a:solidFill>
                      <a:srgbClr val="EAF2F5"/>
                    </a:solidFill>
                  </a:tcPr>
                </a:tc>
                <a:tc>
                  <a:txBody>
                    <a:bodyPr/>
                    <a:lstStyle/>
                    <a:p>
                      <a:r>
                        <a:rPr sz="1900" b="0" i="0">
                          <a:solidFill>
                            <a:srgbClr val="1F2D33"/>
                          </a:solidFill>
                        </a:rPr>
                        <a:t>Mean change with CI</a:t>
                      </a:r>
                    </a:p>
                  </a:txBody>
                  <a:tcPr marL="73152" marR="73152" marT="36576" marB="36576">
                    <a:solidFill>
                      <a:srgbClr val="EAF2F5"/>
                    </a:solidFill>
                  </a:tcPr>
                </a:tc>
              </a:tr>
            </a:tbl>
          </a:graphicData>
        </a:graphic>
      </p:graphicFrame>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600" b="0" i="0">
                <a:solidFill>
                  <a:srgbClr val="04242F"/>
                </a:solidFill>
              </a:rPr>
              <a:t>The method follows from the question, the type of outcome and the study design.</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Observations and variables</a:t>
            </a:r>
          </a:p>
        </p:txBody>
      </p:sp>
      <p:sp>
        <p:nvSpPr>
          <p:cNvPr id="3" name="Slide Number Placeholder 2"/>
          <p:cNvSpPr>
            <a:spLocks noGrp="1"/>
          </p:cNvSpPr>
          <p:nvPr>
            <p:ph type="sldNum" idx="12" sz="quarter"/>
          </p:nvPr>
        </p:nvSpPr>
        <p:spPr/>
        <p:txBody>
          <a:bodyPr/>
          <a:lstStyle/>
          <a:p>
            <a:fld id="{B6F15528-21DE-4FAA-801E-634DDDAF4B2B}" type="slidenum">
              <a:rPr lang="en-GB"/>
              <a:t>7</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An observation is one unit we measured: here, one participant (one row)</a:t>
            </a:r>
          </a:p>
          <a:p>
            <a:pPr>
              <a:spcAft>
                <a:spcPts val="1000"/>
              </a:spcAft>
            </a:pPr>
            <a:r>
              <a:rPr sz="1600" b="0" i="0">
                <a:solidFill>
                  <a:srgbClr val="0D7377"/>
                </a:solidFill>
              </a:rPr>
              <a:t>●  </a:t>
            </a:r>
            <a:r>
              <a:rPr sz="2200" b="0" i="0">
                <a:solidFill>
                  <a:srgbClr val="1F2D33"/>
                </a:solidFill>
              </a:rPr>
              <a:t>A variable is one characteristic recorded for every observation (one column)</a:t>
            </a:r>
          </a:p>
          <a:p>
            <a:pPr>
              <a:spcAft>
                <a:spcPts val="1000"/>
              </a:spcAft>
            </a:pPr>
            <a:r>
              <a:rPr sz="1600" b="0" i="0">
                <a:solidFill>
                  <a:srgbClr val="0D7377"/>
                </a:solidFill>
              </a:rPr>
              <a:t>●  </a:t>
            </a:r>
            <a:r>
              <a:rPr sz="2200" b="0" i="0">
                <a:solidFill>
                  <a:srgbClr val="1F2D33"/>
                </a:solidFill>
              </a:rPr>
              <a:t>Before analysing, ask: what does one row represent?</a:t>
            </a:r>
          </a:p>
          <a:p>
            <a:pPr>
              <a:spcAft>
                <a:spcPts val="500"/>
              </a:spcAft>
            </a:pPr>
            <a:r>
              <a:rPr sz="1900" b="0" i="0">
                <a:solidFill>
                  <a:srgbClr val="8A99A3"/>
                </a:solidFill>
              </a:rPr>
              <a:t>        –  </a:t>
            </a:r>
            <a:r>
              <a:rPr sz="1900" b="0" i="0">
                <a:solidFill>
                  <a:srgbClr val="8A99A3"/>
                </a:solidFill>
              </a:rPr>
              <a:t>If a person is measured twice, the two values are linked (paired)</a:t>
            </a:r>
          </a:p>
          <a:p>
            <a:pPr>
              <a:spcAft>
                <a:spcPts val="500"/>
              </a:spcAft>
            </a:pPr>
            <a:r>
              <a:rPr sz="1900" b="0" i="0">
                <a:solidFill>
                  <a:srgbClr val="8A99A3"/>
                </a:solidFill>
              </a:rPr>
              <a:t>        –  </a:t>
            </a:r>
            <a:r>
              <a:rPr sz="1900" b="0" i="0">
                <a:solidFill>
                  <a:srgbClr val="8A99A3"/>
                </a:solidFill>
              </a:rPr>
              <a:t>If people come from the same clinic or family, they may be more alike (clustered)</a:t>
            </a:r>
          </a:p>
          <a:p>
            <a:pPr>
              <a:spcAft>
                <a:spcPts val="1000"/>
              </a:spcAft>
            </a:pPr>
            <a:r>
              <a:rPr sz="1600" b="0" i="0">
                <a:solidFill>
                  <a:srgbClr val="0D7377"/>
                </a:solidFill>
              </a:rPr>
              <a:t>●  </a:t>
            </a:r>
            <a:r>
              <a:rPr sz="2200" b="0" i="0">
                <a:solidFill>
                  <a:srgbClr val="1F2D33"/>
                </a:solidFill>
              </a:rPr>
              <a:t>Standard methods assume each observation is independent of the others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of variables</a:t>
            </a:r>
          </a:p>
        </p:txBody>
      </p:sp>
      <p:sp>
        <p:nvSpPr>
          <p:cNvPr id="3" name="Slide Number Placeholder 2"/>
          <p:cNvSpPr>
            <a:spLocks noGrp="1"/>
          </p:cNvSpPr>
          <p:nvPr>
            <p:ph type="sldNum" idx="12" sz="quarter"/>
          </p:nvPr>
        </p:nvSpPr>
        <p:spPr/>
        <p:txBody>
          <a:bodyPr/>
          <a:lstStyle/>
          <a:p>
            <a:fld id="{B6F15528-21DE-4FAA-801E-634DDDAF4B2B}" type="slidenum">
              <a:rPr lang="en-GB"/>
              <a:t>8</a:t>
            </a:fld>
          </a:p>
        </p:txBody>
      </p:sp>
      <p:graphicFrame>
        <p:nvGraphicFramePr>
          <p:cNvPr id="4" name="Table 3"/>
          <p:cNvGraphicFramePr>
            <a:graphicFrameLocks noGrp="1"/>
          </p:cNvGraphicFramePr>
          <p:nvPr/>
        </p:nvGraphicFramePr>
        <p:xfrm>
          <a:off x="429768" y="1435608"/>
          <a:ext cx="11332157" cy="3200400"/>
        </p:xfrm>
        <a:graphic>
          <a:graphicData uri="http://schemas.openxmlformats.org/drawingml/2006/table">
            <a:tbl>
              <a:tblPr firstRow="1" bandRow="1">
                <a:tableStyleId>{5C22544A-7EE6-4342-B048-85BDC9FD1C3A}</a:tableStyleId>
              </a:tblPr>
              <a:tblGrid>
                <a:gridCol w="2266431"/>
                <a:gridCol w="4532863"/>
                <a:gridCol w="4532863"/>
              </a:tblGrid>
              <a:tr h="457200">
                <a:tc>
                  <a:txBody>
                    <a:bodyPr/>
                    <a:lstStyle/>
                    <a:p>
                      <a:r>
                        <a:rPr sz="1900" b="1" i="0">
                          <a:solidFill>
                            <a:srgbClr val="FFFFFF"/>
                          </a:solidFill>
                        </a:rPr>
                        <a:t>Type</a:t>
                      </a:r>
                    </a:p>
                  </a:txBody>
                  <a:tcPr marL="73152" marR="73152" marT="36576" marB="36576">
                    <a:solidFill>
                      <a:srgbClr val="04242F"/>
                    </a:solidFill>
                  </a:tcPr>
                </a:tc>
                <a:tc>
                  <a:txBody>
                    <a:bodyPr/>
                    <a:lstStyle/>
                    <a:p>
                      <a:r>
                        <a:rPr sz="1900" b="1" i="0">
                          <a:solidFill>
                            <a:srgbClr val="FFFFFF"/>
                          </a:solidFill>
                        </a:rPr>
                        <a:t>Meaning</a:t>
                      </a:r>
                    </a:p>
                  </a:txBody>
                  <a:tcPr marL="73152" marR="73152" marT="36576" marB="36576">
                    <a:solidFill>
                      <a:srgbClr val="04242F"/>
                    </a:solidFill>
                  </a:tcPr>
                </a:tc>
                <a:tc>
                  <a:txBody>
                    <a:bodyPr/>
                    <a:lstStyle/>
                    <a:p>
                      <a:r>
                        <a:rPr sz="1900" b="1" i="0">
                          <a:solidFill>
                            <a:srgbClr val="FFFFFF"/>
                          </a:solidFill>
                        </a:rPr>
                        <a:t>Example in our data</a:t>
                      </a:r>
                    </a:p>
                  </a:txBody>
                  <a:tcPr marL="73152" marR="73152" marT="36576" marB="36576">
                    <a:solidFill>
                      <a:srgbClr val="04242F"/>
                    </a:solidFill>
                  </a:tcPr>
                </a:tc>
              </a:tr>
              <a:tr h="457200">
                <a:tc>
                  <a:txBody>
                    <a:bodyPr/>
                    <a:lstStyle/>
                    <a:p>
                      <a:r>
                        <a:rPr sz="1900" b="0" i="0">
                          <a:solidFill>
                            <a:srgbClr val="1F2D33"/>
                          </a:solidFill>
                        </a:rPr>
                        <a:t>Continuous</a:t>
                      </a:r>
                    </a:p>
                  </a:txBody>
                  <a:tcPr marL="73152" marR="73152" marT="36576" marB="36576">
                    <a:solidFill>
                      <a:srgbClr val="FFFFFF"/>
                    </a:solidFill>
                  </a:tcPr>
                </a:tc>
                <a:tc>
                  <a:txBody>
                    <a:bodyPr/>
                    <a:lstStyle/>
                    <a:p>
                      <a:r>
                        <a:rPr sz="1900" b="0" i="0">
                          <a:solidFill>
                            <a:srgbClr val="1F2D33"/>
                          </a:solidFill>
                        </a:rPr>
                        <a:t>Any value on a scale</a:t>
                      </a:r>
                    </a:p>
                  </a:txBody>
                  <a:tcPr marL="73152" marR="73152" marT="36576" marB="36576">
                    <a:solidFill>
                      <a:srgbClr val="FFFFFF"/>
                    </a:solidFill>
                  </a:tcPr>
                </a:tc>
                <a:tc>
                  <a:txBody>
                    <a:bodyPr/>
                    <a:lstStyle/>
                    <a:p>
                      <a:r>
                        <a:rPr sz="1900" b="0" i="0">
                          <a:solidFill>
                            <a:srgbClr val="1F2D33"/>
                          </a:solidFill>
                        </a:rPr>
                        <a:t>sbp_0, bmi, crp, age</a:t>
                      </a:r>
                    </a:p>
                  </a:txBody>
                  <a:tcPr marL="73152" marR="73152" marT="36576" marB="36576">
                    <a:solidFill>
                      <a:srgbClr val="FFFFFF"/>
                    </a:solidFill>
                  </a:tcPr>
                </a:tc>
              </a:tr>
              <a:tr h="457200">
                <a:tc>
                  <a:txBody>
                    <a:bodyPr/>
                    <a:lstStyle/>
                    <a:p>
                      <a:r>
                        <a:rPr sz="1900" b="0" i="0">
                          <a:solidFill>
                            <a:srgbClr val="1F2D33"/>
                          </a:solidFill>
                        </a:rPr>
                        <a:t>Count (discrete)</a:t>
                      </a:r>
                    </a:p>
                  </a:txBody>
                  <a:tcPr marL="73152" marR="73152" marT="36576" marB="36576">
                    <a:solidFill>
                      <a:srgbClr val="EAF2F5"/>
                    </a:solidFill>
                  </a:tcPr>
                </a:tc>
                <a:tc>
                  <a:txBody>
                    <a:bodyPr/>
                    <a:lstStyle/>
                    <a:p>
                      <a:r>
                        <a:rPr sz="1900" b="0" i="0">
                          <a:solidFill>
                            <a:srgbClr val="1F2D33"/>
                          </a:solidFill>
                        </a:rPr>
                        <a:t>Whole numbers 0, 1, 2 ...</a:t>
                      </a:r>
                    </a:p>
                  </a:txBody>
                  <a:tcPr marL="73152" marR="73152" marT="36576" marB="36576">
                    <a:solidFill>
                      <a:srgbClr val="EAF2F5"/>
                    </a:solidFill>
                  </a:tcPr>
                </a:tc>
                <a:tc>
                  <a:txBody>
                    <a:bodyPr/>
                    <a:lstStyle/>
                    <a:p>
                      <a:r>
                        <a:rPr sz="1900" b="0" i="0">
                          <a:solidFill>
                            <a:srgbClr val="1F2D33"/>
                          </a:solidFill>
                        </a:rPr>
                        <a:t>clinic_visits</a:t>
                      </a:r>
                    </a:p>
                  </a:txBody>
                  <a:tcPr marL="73152" marR="73152" marT="36576" marB="36576">
                    <a:solidFill>
                      <a:srgbClr val="EAF2F5"/>
                    </a:solidFill>
                  </a:tcPr>
                </a:tc>
              </a:tr>
              <a:tr h="457200">
                <a:tc>
                  <a:txBody>
                    <a:bodyPr/>
                    <a:lstStyle/>
                    <a:p>
                      <a:r>
                        <a:rPr sz="1900" b="0" i="0">
                          <a:solidFill>
                            <a:srgbClr val="1F2D33"/>
                          </a:solidFill>
                        </a:rPr>
                        <a:t>Binary</a:t>
                      </a:r>
                    </a:p>
                  </a:txBody>
                  <a:tcPr marL="73152" marR="73152" marT="36576" marB="36576">
                    <a:solidFill>
                      <a:srgbClr val="FFFFFF"/>
                    </a:solidFill>
                  </a:tcPr>
                </a:tc>
                <a:tc>
                  <a:txBody>
                    <a:bodyPr/>
                    <a:lstStyle/>
                    <a:p>
                      <a:r>
                        <a:rPr sz="1900" b="0" i="0">
                          <a:solidFill>
                            <a:srgbClr val="1F2D33"/>
                          </a:solidFill>
                        </a:rPr>
                        <a:t>Two categories</a:t>
                      </a:r>
                    </a:p>
                  </a:txBody>
                  <a:tcPr marL="73152" marR="73152" marT="36576" marB="36576">
                    <a:solidFill>
                      <a:srgbClr val="FFFFFF"/>
                    </a:solidFill>
                  </a:tcPr>
                </a:tc>
                <a:tc>
                  <a:txBody>
                    <a:bodyPr/>
                    <a:lstStyle/>
                    <a:p>
                      <a:r>
                        <a:rPr sz="1900" b="0" i="0">
                          <a:solidFill>
                            <a:srgbClr val="1F2D33"/>
                          </a:solidFill>
                        </a:rPr>
                        <a:t>smoker, high_bp_0, adverse_event</a:t>
                      </a:r>
                    </a:p>
                  </a:txBody>
                  <a:tcPr marL="73152" marR="73152" marT="36576" marB="36576">
                    <a:solidFill>
                      <a:srgbClr val="FFFFFF"/>
                    </a:solidFill>
                  </a:tcPr>
                </a:tc>
              </a:tr>
              <a:tr h="457200">
                <a:tc>
                  <a:txBody>
                    <a:bodyPr/>
                    <a:lstStyle/>
                    <a:p>
                      <a:r>
                        <a:rPr sz="1900" b="0" i="0">
                          <a:solidFill>
                            <a:srgbClr val="1F2D33"/>
                          </a:solidFill>
                        </a:rPr>
                        <a:t>Nominal</a:t>
                      </a:r>
                    </a:p>
                  </a:txBody>
                  <a:tcPr marL="73152" marR="73152" marT="36576" marB="36576">
                    <a:solidFill>
                      <a:srgbClr val="EAF2F5"/>
                    </a:solidFill>
                  </a:tcPr>
                </a:tc>
                <a:tc>
                  <a:txBody>
                    <a:bodyPr/>
                    <a:lstStyle/>
                    <a:p>
                      <a:r>
                        <a:rPr sz="1900" b="0" i="0">
                          <a:solidFill>
                            <a:srgbClr val="1F2D33"/>
                          </a:solidFill>
                        </a:rPr>
                        <a:t>Categories without order</a:t>
                      </a:r>
                    </a:p>
                  </a:txBody>
                  <a:tcPr marL="73152" marR="73152" marT="36576" marB="36576">
                    <a:solidFill>
                      <a:srgbClr val="EAF2F5"/>
                    </a:solidFill>
                  </a:tcPr>
                </a:tc>
                <a:tc>
                  <a:txBody>
                    <a:bodyPr/>
                    <a:lstStyle/>
                    <a:p>
                      <a:r>
                        <a:rPr sz="1900" b="0" i="0">
                          <a:solidFill>
                            <a:srgbClr val="1F2D33"/>
                          </a:solidFill>
                        </a:rPr>
                        <a:t>district</a:t>
                      </a:r>
                    </a:p>
                  </a:txBody>
                  <a:tcPr marL="73152" marR="73152" marT="36576" marB="36576">
                    <a:solidFill>
                      <a:srgbClr val="EAF2F5"/>
                    </a:solidFill>
                  </a:tcPr>
                </a:tc>
              </a:tr>
              <a:tr h="457200">
                <a:tc>
                  <a:txBody>
                    <a:bodyPr/>
                    <a:lstStyle/>
                    <a:p>
                      <a:r>
                        <a:rPr sz="1900" b="0" i="0">
                          <a:solidFill>
                            <a:srgbClr val="1F2D33"/>
                          </a:solidFill>
                        </a:rPr>
                        <a:t>Ordinal</a:t>
                      </a:r>
                    </a:p>
                  </a:txBody>
                  <a:tcPr marL="73152" marR="73152" marT="36576" marB="36576">
                    <a:solidFill>
                      <a:srgbClr val="FFFFFF"/>
                    </a:solidFill>
                  </a:tcPr>
                </a:tc>
                <a:tc>
                  <a:txBody>
                    <a:bodyPr/>
                    <a:lstStyle/>
                    <a:p>
                      <a:r>
                        <a:rPr sz="1900" b="0" i="0">
                          <a:solidFill>
                            <a:srgbClr val="1F2D33"/>
                          </a:solidFill>
                        </a:rPr>
                        <a:t>Ordered categories; gaps may not be equal</a:t>
                      </a:r>
                    </a:p>
                  </a:txBody>
                  <a:tcPr marL="73152" marR="73152" marT="36576" marB="36576">
                    <a:solidFill>
                      <a:srgbClr val="FFFFFF"/>
                    </a:solidFill>
                  </a:tcPr>
                </a:tc>
                <a:tc>
                  <a:txBody>
                    <a:bodyPr/>
                    <a:lstStyle/>
                    <a:p>
                      <a:r>
                        <a:rPr sz="1900" b="0" i="0">
                          <a:solidFill>
                            <a:srgbClr val="1F2D33"/>
                          </a:solidFill>
                        </a:rPr>
                        <a:t>education, satisfaction (1 to 5)</a:t>
                      </a:r>
                    </a:p>
                  </a:txBody>
                  <a:tcPr marL="73152" marR="73152" marT="36576" marB="36576">
                    <a:solidFill>
                      <a:srgbClr val="FFFFFF"/>
                    </a:solidFill>
                  </a:tcPr>
                </a:tc>
              </a:tr>
              <a:tr h="457200">
                <a:tc>
                  <a:txBody>
                    <a:bodyPr/>
                    <a:lstStyle/>
                    <a:p>
                      <a:r>
                        <a:rPr sz="1900" b="0" i="0">
                          <a:solidFill>
                            <a:srgbClr val="1F2D33"/>
                          </a:solidFill>
                        </a:rPr>
                        <a:t>Time-to-event</a:t>
                      </a:r>
                    </a:p>
                  </a:txBody>
                  <a:tcPr marL="73152" marR="73152" marT="36576" marB="36576">
                    <a:solidFill>
                      <a:srgbClr val="EAF2F5"/>
                    </a:solidFill>
                  </a:tcPr>
                </a:tc>
                <a:tc>
                  <a:txBody>
                    <a:bodyPr/>
                    <a:lstStyle/>
                    <a:p>
                      <a:r>
                        <a:rPr sz="1900" b="0" i="0">
                          <a:solidFill>
                            <a:srgbClr val="1F2D33"/>
                          </a:solidFill>
                        </a:rPr>
                        <a:t>Time until something happens, often censored</a:t>
                      </a:r>
                    </a:p>
                  </a:txBody>
                  <a:tcPr marL="73152" marR="73152" marT="36576" marB="36576">
                    <a:solidFill>
                      <a:srgbClr val="EAF2F5"/>
                    </a:solidFill>
                  </a:tcPr>
                </a:tc>
                <a:tc>
                  <a:txBody>
                    <a:bodyPr/>
                    <a:lstStyle/>
                    <a:p>
                      <a:r>
                        <a:rPr sz="1900" b="0" i="0">
                          <a:solidFill>
                            <a:srgbClr val="1F2D33"/>
                          </a:solidFill>
                        </a:rPr>
                        <a:t>not in our data (further learning)</a:t>
                      </a:r>
                    </a:p>
                  </a:txBody>
                  <a:tcPr marL="73152" marR="73152" marT="36576" marB="36576">
                    <a:solidFill>
                      <a:srgbClr val="EAF2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data quality before any analysis</a:t>
            </a:r>
          </a:p>
        </p:txBody>
      </p:sp>
      <p:sp>
        <p:nvSpPr>
          <p:cNvPr id="3" name="Slide Number Placeholder 2"/>
          <p:cNvSpPr>
            <a:spLocks noGrp="1"/>
          </p:cNvSpPr>
          <p:nvPr>
            <p:ph type="sldNum" idx="12" sz="quarter"/>
          </p:nvPr>
        </p:nvSpPr>
        <p:spPr/>
        <p:txBody>
          <a:bodyPr/>
          <a:lstStyle/>
          <a:p>
            <a:fld id="{B6F15528-21DE-4FAA-801E-634DDDAF4B2B}" type="slidenum">
              <a:rPr lang="en-GB"/>
              <a:t>9</a:t>
            </a:fld>
          </a:p>
        </p:txBody>
      </p:sp>
      <p:sp>
        <p:nvSpPr>
          <p:cNvPr id="4" name="TextBox 3"/>
          <p:cNvSpPr txBox="1"/>
          <p:nvPr/>
        </p:nvSpPr>
        <p:spPr>
          <a:xfrm>
            <a:off x="429768" y="1389888"/>
            <a:ext cx="11332159" cy="379476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Range: are values possible? (activity of -99 minutes is a code, not a value)</a:t>
            </a:r>
          </a:p>
          <a:p>
            <a:pPr>
              <a:spcAft>
                <a:spcPts val="1000"/>
              </a:spcAft>
            </a:pPr>
            <a:r>
              <a:rPr sz="1600" b="0" i="0">
                <a:solidFill>
                  <a:srgbClr val="0D7377"/>
                </a:solidFill>
              </a:rPr>
              <a:t>●  </a:t>
            </a:r>
            <a:r>
              <a:rPr sz="2200" b="0" i="0">
                <a:solidFill>
                  <a:srgbClr val="1F2D33"/>
                </a:solidFill>
              </a:rPr>
              <a:t>Missing values: how many, in which variables, and why?</a:t>
            </a:r>
          </a:p>
          <a:p>
            <a:pPr>
              <a:spcAft>
                <a:spcPts val="500"/>
              </a:spcAft>
            </a:pPr>
            <a:r>
              <a:rPr sz="1900" b="0" i="0">
                <a:solidFill>
                  <a:srgbClr val="8A99A3"/>
                </a:solidFill>
              </a:rPr>
              <a:t>        –  </a:t>
            </a:r>
            <a:r>
              <a:rPr sz="1900" b="0" i="0">
                <a:solidFill>
                  <a:srgbClr val="8A99A3"/>
                </a:solidFill>
              </a:rPr>
              <a:t>41 people have no 12-month blood pressure because they left the study early</a:t>
            </a:r>
          </a:p>
          <a:p>
            <a:pPr>
              <a:spcAft>
                <a:spcPts val="1000"/>
              </a:spcAft>
            </a:pPr>
            <a:r>
              <a:rPr sz="1600" b="0" i="0">
                <a:solidFill>
                  <a:srgbClr val="0D7377"/>
                </a:solidFill>
              </a:rPr>
              <a:t>●  </a:t>
            </a:r>
            <a:r>
              <a:rPr sz="2200" b="0" i="0">
                <a:solidFill>
                  <a:srgbClr val="1F2D33"/>
                </a:solidFill>
              </a:rPr>
              <a:t>Categories: consistent spelling and labels ("North", "north", "N")</a:t>
            </a:r>
          </a:p>
          <a:p>
            <a:pPr>
              <a:spcAft>
                <a:spcPts val="1000"/>
              </a:spcAft>
            </a:pPr>
            <a:r>
              <a:rPr sz="1600" b="0" i="0">
                <a:solidFill>
                  <a:srgbClr val="0D7377"/>
                </a:solidFill>
              </a:rPr>
              <a:t>●  </a:t>
            </a:r>
            <a:r>
              <a:rPr sz="2200" b="0" i="0">
                <a:solidFill>
                  <a:srgbClr val="1F2D33"/>
                </a:solidFill>
              </a:rPr>
              <a:t>Duplicates and identifiers: one row per person?</a:t>
            </a:r>
          </a:p>
          <a:p>
            <a:pPr>
              <a:spcAft>
                <a:spcPts val="1000"/>
              </a:spcAft>
            </a:pPr>
            <a:r>
              <a:rPr sz="1600" b="0" i="0">
                <a:solidFill>
                  <a:srgbClr val="0D7377"/>
                </a:solidFill>
              </a:rPr>
              <a:t>●  </a:t>
            </a:r>
            <a:r>
              <a:rPr sz="2200" b="0" i="0">
                <a:solidFill>
                  <a:srgbClr val="1F2D33"/>
                </a:solidFill>
              </a:rPr>
              <a:t>Types: is each variable stored as a number or a category, as intended?</a:t>
            </a:r>
          </a:p>
        </p:txBody>
      </p:sp>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700" b="0" i="0">
                <a:solidFill>
                  <a:srgbClr val="04242F"/>
                </a:solidFill>
              </a:rPr>
              <a:t>Most R functions silently drop rows with missing values. Always report how many observations each result uses.</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Describing data</a:t>
            </a:r>
          </a:p>
        </p:txBody>
      </p:sp>
      <p:sp>
        <p:nvSpPr>
          <p:cNvPr id="3" name="Text Placeholder 2"/>
          <p:cNvSpPr>
            <a:spLocks noGrp="1"/>
          </p:cNvSpPr>
          <p:nvPr>
            <p:ph type="body" idx="1"/>
          </p:nvPr>
        </p:nvSpPr>
        <p:spPr/>
        <p:txBody>
          <a:bodyPr/>
          <a:lstStyle/>
          <a:p>
            <a:r>
              <a:t>Part 2. Summaries and plots that suit the variable</a:t>
            </a:r>
          </a:p>
        </p:txBody>
      </p:sp>
      <p:sp>
        <p:nvSpPr>
          <p:cNvPr id="4" name="Slide Number Placeholder 3"/>
          <p:cNvSpPr>
            <a:spLocks noGrp="1"/>
          </p:cNvSpPr>
          <p:nvPr>
            <p:ph type="sldNum" idx="12" sz="quarter"/>
          </p:nvPr>
        </p:nvSpPr>
        <p:spPr/>
        <p:txBody>
          <a:bodyPr/>
          <a:lstStyle/>
          <a:p>
            <a:fld id="{B6F15528-21DE-4FAA-801E-634DDDAF4B2B}" type="slidenum">
              <a:rPr lang="en-GB"/>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Categorical variables: counts and proportions</a:t>
            </a:r>
          </a:p>
        </p:txBody>
      </p:sp>
      <p:sp>
        <p:nvSpPr>
          <p:cNvPr id="3" name="Slide Number Placeholder 2"/>
          <p:cNvSpPr>
            <a:spLocks noGrp="1"/>
          </p:cNvSpPr>
          <p:nvPr>
            <p:ph type="sldNum" idx="12" sz="quarter"/>
          </p:nvPr>
        </p:nvSpPr>
        <p:spPr/>
        <p:txBody>
          <a:bodyPr/>
          <a:lstStyle/>
          <a:p>
            <a:fld id="{B6F15528-21DE-4FAA-801E-634DDDAF4B2B}" type="slidenum">
              <a:rPr lang="en-GB"/>
              <a:t>11</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 proportion is a count divided by a denominator: always say what the denominator is</a:t>
            </a:r>
          </a:p>
          <a:p>
            <a:pPr>
              <a:spcAft>
                <a:spcPts val="500"/>
              </a:spcAft>
            </a:pPr>
            <a:r>
              <a:rPr sz="1900" b="0" i="0">
                <a:solidFill>
                  <a:srgbClr val="8A99A3"/>
                </a:solidFill>
              </a:rPr>
              <a:t>        –  </a:t>
            </a:r>
            <a:r>
              <a:rPr sz="1900" b="0" i="0">
                <a:solidFill>
                  <a:srgbClr val="8A99A3"/>
                </a:solidFill>
              </a:rPr>
              <a:t>Smokers: 79 / 480 = 16.5% of all participants</a:t>
            </a:r>
          </a:p>
          <a:p>
            <a:pPr>
              <a:spcAft>
                <a:spcPts val="500"/>
              </a:spcAft>
            </a:pPr>
            <a:r>
              <a:rPr sz="1900" b="0" i="0">
                <a:solidFill>
                  <a:srgbClr val="8A99A3"/>
                </a:solidFill>
              </a:rPr>
              <a:t>        –  </a:t>
            </a:r>
            <a:r>
              <a:rPr sz="1900" b="0" i="0">
                <a:solidFill>
                  <a:srgbClr val="8A99A3"/>
                </a:solidFill>
              </a:rPr>
              <a:t>Tertiary education: 134 / 474 = 28.3% of those with education recorded (6 missing)</a:t>
            </a:r>
          </a:p>
          <a:p>
            <a:pPr>
              <a:spcAft>
                <a:spcPts val="1000"/>
              </a:spcAft>
            </a:pPr>
            <a:r>
              <a:rPr sz="1600" b="0" i="0">
                <a:solidFill>
                  <a:srgbClr val="0D7377"/>
                </a:solidFill>
              </a:rPr>
              <a:t>●  </a:t>
            </a:r>
            <a:r>
              <a:rPr sz="2200" b="0" i="0">
                <a:solidFill>
                  <a:srgbClr val="1F2D33"/>
                </a:solidFill>
              </a:rPr>
              <a:t>Percentages without counts can mislead when groups are small</a:t>
            </a:r>
          </a:p>
          <a:p>
            <a:pPr>
              <a:spcAft>
                <a:spcPts val="1000"/>
              </a:spcAft>
            </a:pPr>
            <a:r>
              <a:rPr sz="1600" b="0" i="0">
                <a:solidFill>
                  <a:srgbClr val="0D7377"/>
                </a:solidFill>
              </a:rPr>
              <a:t>●  </a:t>
            </a:r>
            <a:r>
              <a:rPr sz="2200" b="0" i="0">
                <a:solidFill>
                  <a:srgbClr val="1F2D33"/>
                </a:solidFill>
              </a:rPr>
              <a:t>Plot with a bar chart: one bar per category, bars separated by gaps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Centre and spread for continuous variables</a:t>
            </a:r>
          </a:p>
        </p:txBody>
      </p:sp>
      <p:sp>
        <p:nvSpPr>
          <p:cNvPr id="3" name="Slide Number Placeholder 2"/>
          <p:cNvSpPr>
            <a:spLocks noGrp="1"/>
          </p:cNvSpPr>
          <p:nvPr>
            <p:ph type="sldNum" idx="12" sz="quarter"/>
          </p:nvPr>
        </p:nvSpPr>
        <p:spPr/>
        <p:txBody>
          <a:bodyPr/>
          <a:lstStyle/>
          <a:p>
            <a:fld id="{B6F15528-21DE-4FAA-801E-634DDDAF4B2B}" type="slidenum">
              <a:rPr lang="en-GB"/>
              <a:t>12</a:t>
            </a:fld>
          </a:p>
        </p:txBody>
      </p:sp>
      <p:graphicFrame>
        <p:nvGraphicFramePr>
          <p:cNvPr id="4" name="Table 3"/>
          <p:cNvGraphicFramePr>
            <a:graphicFrameLocks noGrp="1"/>
          </p:cNvGraphicFramePr>
          <p:nvPr/>
        </p:nvGraphicFramePr>
        <p:xfrm>
          <a:off x="429768" y="1435608"/>
          <a:ext cx="11332157" cy="2286000"/>
        </p:xfrm>
        <a:graphic>
          <a:graphicData uri="http://schemas.openxmlformats.org/drawingml/2006/table">
            <a:tbl>
              <a:tblPr firstRow="1" bandRow="1">
                <a:tableStyleId>{5C22544A-7EE6-4342-B048-85BDC9FD1C3A}</a:tableStyleId>
              </a:tblPr>
              <a:tblGrid>
                <a:gridCol w="3090588"/>
                <a:gridCol w="5150981"/>
                <a:gridCol w="3090588"/>
              </a:tblGrid>
              <a:tr h="457200">
                <a:tc>
                  <a:txBody>
                    <a:bodyPr/>
                    <a:lstStyle/>
                    <a:p>
                      <a:r>
                        <a:rPr sz="1900" b="1" i="0">
                          <a:solidFill>
                            <a:srgbClr val="FFFFFF"/>
                          </a:solidFill>
                        </a:rPr>
                        <a:t>Summary</a:t>
                      </a:r>
                    </a:p>
                  </a:txBody>
                  <a:tcPr marL="73152" marR="73152" marT="36576" marB="36576">
                    <a:solidFill>
                      <a:srgbClr val="04242F"/>
                    </a:solidFill>
                  </a:tcPr>
                </a:tc>
                <a:tc>
                  <a:txBody>
                    <a:bodyPr/>
                    <a:lstStyle/>
                    <a:p>
                      <a:r>
                        <a:rPr sz="1900" b="1" i="0">
                          <a:solidFill>
                            <a:srgbClr val="FFFFFF"/>
                          </a:solidFill>
                        </a:rPr>
                        <a:t>What it describes</a:t>
                      </a:r>
                    </a:p>
                  </a:txBody>
                  <a:tcPr marL="73152" marR="73152" marT="36576" marB="36576">
                    <a:solidFill>
                      <a:srgbClr val="04242F"/>
                    </a:solidFill>
                  </a:tcPr>
                </a:tc>
                <a:tc>
                  <a:txBody>
                    <a:bodyPr/>
                    <a:lstStyle/>
                    <a:p>
                      <a:r>
                        <a:rPr sz="1900" b="1" i="0">
                          <a:solidFill>
                            <a:srgbClr val="FFFFFF"/>
                          </a:solidFill>
                        </a:rPr>
                        <a:t>SBP at baseline (n = 480)</a:t>
                      </a:r>
                    </a:p>
                  </a:txBody>
                  <a:tcPr marL="73152" marR="73152" marT="36576" marB="36576">
                    <a:solidFill>
                      <a:srgbClr val="04242F"/>
                    </a:solidFill>
                  </a:tcPr>
                </a:tc>
              </a:tr>
              <a:tr h="457200">
                <a:tc>
                  <a:txBody>
                    <a:bodyPr/>
                    <a:lstStyle/>
                    <a:p>
                      <a:r>
                        <a:rPr sz="1900" b="0" i="0">
                          <a:solidFill>
                            <a:srgbClr val="1F2D33"/>
                          </a:solidFill>
                        </a:rPr>
                        <a:t>Mean</a:t>
                      </a:r>
                    </a:p>
                  </a:txBody>
                  <a:tcPr marL="73152" marR="73152" marT="36576" marB="36576">
                    <a:solidFill>
                      <a:srgbClr val="FFFFFF"/>
                    </a:solidFill>
                  </a:tcPr>
                </a:tc>
                <a:tc>
                  <a:txBody>
                    <a:bodyPr/>
                    <a:lstStyle/>
                    <a:p>
                      <a:r>
                        <a:rPr sz="1900" b="0" i="0">
                          <a:solidFill>
                            <a:srgbClr val="1F2D33"/>
                          </a:solidFill>
                        </a:rPr>
                        <a:t>Average value; sensitive to extreme values</a:t>
                      </a:r>
                    </a:p>
                  </a:txBody>
                  <a:tcPr marL="73152" marR="73152" marT="36576" marB="36576">
                    <a:solidFill>
                      <a:srgbClr val="FFFFFF"/>
                    </a:solidFill>
                  </a:tcPr>
                </a:tc>
                <a:tc>
                  <a:txBody>
                    <a:bodyPr/>
                    <a:lstStyle/>
                    <a:p>
                      <a:r>
                        <a:rPr sz="1900" b="0" i="0">
                          <a:solidFill>
                            <a:srgbClr val="1F2D33"/>
                          </a:solidFill>
                        </a:rPr>
                        <a:t>129.3 mmHg</a:t>
                      </a:r>
                    </a:p>
                  </a:txBody>
                  <a:tcPr marL="73152" marR="73152" marT="36576" marB="36576">
                    <a:solidFill>
                      <a:srgbClr val="FFFFFF"/>
                    </a:solidFill>
                  </a:tcPr>
                </a:tc>
              </a:tr>
              <a:tr h="457200">
                <a:tc>
                  <a:txBody>
                    <a:bodyPr/>
                    <a:lstStyle/>
                    <a:p>
                      <a:r>
                        <a:rPr sz="1900" b="0" i="0">
                          <a:solidFill>
                            <a:srgbClr val="1F2D33"/>
                          </a:solidFill>
                        </a:rPr>
                        <a:t>Standard deviation (SD)</a:t>
                      </a:r>
                    </a:p>
                  </a:txBody>
                  <a:tcPr marL="73152" marR="73152" marT="36576" marB="36576">
                    <a:solidFill>
                      <a:srgbClr val="EAF2F5"/>
                    </a:solidFill>
                  </a:tcPr>
                </a:tc>
                <a:tc>
                  <a:txBody>
                    <a:bodyPr/>
                    <a:lstStyle/>
                    <a:p>
                      <a:r>
                        <a:rPr sz="1900" b="0" i="0">
                          <a:solidFill>
                            <a:srgbClr val="1F2D33"/>
                          </a:solidFill>
                        </a:rPr>
                        <a:t>Typical distance of values from the mean</a:t>
                      </a:r>
                    </a:p>
                  </a:txBody>
                  <a:tcPr marL="73152" marR="73152" marT="36576" marB="36576">
                    <a:solidFill>
                      <a:srgbClr val="EAF2F5"/>
                    </a:solidFill>
                  </a:tcPr>
                </a:tc>
                <a:tc>
                  <a:txBody>
                    <a:bodyPr/>
                    <a:lstStyle/>
                    <a:p>
                      <a:r>
                        <a:rPr sz="1900" b="0" i="0">
                          <a:solidFill>
                            <a:srgbClr val="1F2D33"/>
                          </a:solidFill>
                        </a:rPr>
                        <a:t>15.6 mmHg</a:t>
                      </a:r>
                    </a:p>
                  </a:txBody>
                  <a:tcPr marL="73152" marR="73152" marT="36576" marB="36576">
                    <a:solidFill>
                      <a:srgbClr val="EAF2F5"/>
                    </a:solidFill>
                  </a:tcPr>
                </a:tc>
              </a:tr>
              <a:tr h="457200">
                <a:tc>
                  <a:txBody>
                    <a:bodyPr/>
                    <a:lstStyle/>
                    <a:p>
                      <a:r>
                        <a:rPr sz="1900" b="0" i="0">
                          <a:solidFill>
                            <a:srgbClr val="1F2D33"/>
                          </a:solidFill>
                        </a:rPr>
                        <a:t>Median</a:t>
                      </a:r>
                    </a:p>
                  </a:txBody>
                  <a:tcPr marL="73152" marR="73152" marT="36576" marB="36576">
                    <a:solidFill>
                      <a:srgbClr val="FFFFFF"/>
                    </a:solidFill>
                  </a:tcPr>
                </a:tc>
                <a:tc>
                  <a:txBody>
                    <a:bodyPr/>
                    <a:lstStyle/>
                    <a:p>
                      <a:r>
                        <a:rPr sz="1900" b="0" i="0">
                          <a:solidFill>
                            <a:srgbClr val="1F2D33"/>
                          </a:solidFill>
                        </a:rPr>
                        <a:t>Middle value when sorted</a:t>
                      </a:r>
                    </a:p>
                  </a:txBody>
                  <a:tcPr marL="73152" marR="73152" marT="36576" marB="36576">
                    <a:solidFill>
                      <a:srgbClr val="FFFFFF"/>
                    </a:solidFill>
                  </a:tcPr>
                </a:tc>
                <a:tc>
                  <a:txBody>
                    <a:bodyPr/>
                    <a:lstStyle/>
                    <a:p>
                      <a:r>
                        <a:rPr sz="1900" b="0" i="0">
                          <a:solidFill>
                            <a:srgbClr val="1F2D33"/>
                          </a:solidFill>
                        </a:rPr>
                        <a:t>129 mmHg</a:t>
                      </a:r>
                    </a:p>
                  </a:txBody>
                  <a:tcPr marL="73152" marR="73152" marT="36576" marB="36576">
                    <a:solidFill>
                      <a:srgbClr val="FFFFFF"/>
                    </a:solidFill>
                  </a:tcPr>
                </a:tc>
              </a:tr>
              <a:tr h="457200">
                <a:tc>
                  <a:txBody>
                    <a:bodyPr/>
                    <a:lstStyle/>
                    <a:p>
                      <a:r>
                        <a:rPr sz="1900" b="0" i="0">
                          <a:solidFill>
                            <a:srgbClr val="1F2D33"/>
                          </a:solidFill>
                        </a:rPr>
                        <a:t>Interquartile range (IQR)</a:t>
                      </a:r>
                    </a:p>
                  </a:txBody>
                  <a:tcPr marL="73152" marR="73152" marT="36576" marB="36576">
                    <a:solidFill>
                      <a:srgbClr val="EAF2F5"/>
                    </a:solidFill>
                  </a:tcPr>
                </a:tc>
                <a:tc>
                  <a:txBody>
                    <a:bodyPr/>
                    <a:lstStyle/>
                    <a:p>
                      <a:r>
                        <a:rPr sz="1900" b="0" i="0">
                          <a:solidFill>
                            <a:srgbClr val="1F2D33"/>
                          </a:solidFill>
                        </a:rPr>
                        <a:t>Range of the middle 50% (25th to 75th percentile)</a:t>
                      </a:r>
                    </a:p>
                  </a:txBody>
                  <a:tcPr marL="73152" marR="73152" marT="36576" marB="36576">
                    <a:solidFill>
                      <a:srgbClr val="EAF2F5"/>
                    </a:solidFill>
                  </a:tcPr>
                </a:tc>
                <a:tc>
                  <a:txBody>
                    <a:bodyPr/>
                    <a:lstStyle/>
                    <a:p>
                      <a:r>
                        <a:rPr sz="1900" b="0" i="0">
                          <a:solidFill>
                            <a:srgbClr val="1F2D33"/>
                          </a:solidFill>
                        </a:rPr>
                        <a:t>118 to 140 mmHg</a:t>
                      </a:r>
                    </a:p>
                  </a:txBody>
                  <a:tcPr marL="73152" marR="73152" marT="36576" marB="36576">
                    <a:solidFill>
                      <a:srgbClr val="EAF2F5"/>
                    </a:solidFill>
                  </a:tcPr>
                </a:tc>
              </a:tr>
            </a:tbl>
          </a:graphicData>
        </a:graphic>
      </p:graphicFrame>
      <p:sp>
        <p:nvSpPr>
          <p:cNvPr id="5" name="TextBox 4"/>
          <p:cNvSpPr txBox="1"/>
          <p:nvPr/>
        </p:nvSpPr>
        <p:spPr>
          <a:xfrm>
            <a:off x="429768" y="3995928"/>
            <a:ext cx="11332159" cy="21488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Symmetric distribution: mean (SD) and median (IQR) tell a similar story</a:t>
            </a:r>
          </a:p>
          <a:p>
            <a:pPr>
              <a:spcAft>
                <a:spcPts val="1000"/>
              </a:spcAft>
            </a:pPr>
            <a:r>
              <a:rPr sz="1300" b="0" i="0">
                <a:solidFill>
                  <a:srgbClr val="0D7377"/>
                </a:solidFill>
              </a:rPr>
              <a:t>●  </a:t>
            </a:r>
            <a:r>
              <a:rPr sz="1900" b="0" i="0">
                <a:solidFill>
                  <a:srgbClr val="1F2D33"/>
                </a:solidFill>
              </a:rPr>
              <a:t>Skewed distribution: report median (IQR), or analyse on a log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Skewed data: C-reactive protein</a:t>
            </a:r>
          </a:p>
        </p:txBody>
      </p:sp>
      <p:sp>
        <p:nvSpPr>
          <p:cNvPr id="3" name="Slide Number Placeholder 2"/>
          <p:cNvSpPr>
            <a:spLocks noGrp="1"/>
          </p:cNvSpPr>
          <p:nvPr>
            <p:ph type="sldNum" idx="12" sz="quarter"/>
          </p:nvPr>
        </p:nvSpPr>
        <p:spPr/>
        <p:txBody>
          <a:bodyPr/>
          <a:lstStyle/>
          <a:p>
            <a:fld id="{B6F15528-21DE-4FAA-801E-634DDDAF4B2B}" type="slidenum">
              <a:rPr lang="en-GB"/>
              <a:t>13</a:t>
            </a:fld>
          </a:p>
        </p:txBody>
      </p:sp>
      <p:sp>
        <p:nvSpPr>
          <p:cNvPr id="4" name="TextBox 3"/>
          <p:cNvSpPr txBox="1"/>
          <p:nvPr/>
        </p:nvSpPr>
        <p:spPr>
          <a:xfrm>
            <a:off x="429768" y="1389888"/>
            <a:ext cx="4079577"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Most values are low; a few are very high</a:t>
            </a:r>
          </a:p>
          <a:p>
            <a:pPr>
              <a:spcAft>
                <a:spcPts val="1000"/>
              </a:spcAft>
            </a:pPr>
            <a:r>
              <a:rPr sz="1300" b="0" i="0">
                <a:solidFill>
                  <a:srgbClr val="0D7377"/>
                </a:solidFill>
              </a:rPr>
              <a:t>●  </a:t>
            </a:r>
            <a:r>
              <a:rPr sz="1900" b="0" i="0">
                <a:solidFill>
                  <a:srgbClr val="1F2D33"/>
                </a:solidFill>
              </a:rPr>
              <a:t>Mean 3.0 mg/L, median 1.9 mg/L</a:t>
            </a:r>
          </a:p>
          <a:p>
            <a:pPr>
              <a:spcAft>
                <a:spcPts val="1000"/>
              </a:spcAft>
            </a:pPr>
            <a:r>
              <a:rPr sz="1300" b="0" i="0">
                <a:solidFill>
                  <a:srgbClr val="0D7377"/>
                </a:solidFill>
              </a:rPr>
              <a:t>●  </a:t>
            </a:r>
            <a:r>
              <a:rPr sz="1900" b="0" i="0">
                <a:solidFill>
                  <a:srgbClr val="1F2D33"/>
                </a:solidFill>
              </a:rPr>
              <a:t>SD (3.4) is larger than the mean: a sign of right skew</a:t>
            </a:r>
          </a:p>
          <a:p>
            <a:pPr>
              <a:spcAft>
                <a:spcPts val="1000"/>
              </a:spcAft>
            </a:pPr>
            <a:r>
              <a:rPr sz="1300" b="0" i="0">
                <a:solidFill>
                  <a:srgbClr val="0D7377"/>
                </a:solidFill>
              </a:rPr>
              <a:t>●  </a:t>
            </a:r>
            <a:r>
              <a:rPr sz="1900" b="0" i="0">
                <a:solidFill>
                  <a:srgbClr val="1F2D33"/>
                </a:solidFill>
              </a:rPr>
              <a:t>Report median (IQR): 1.9 (1.2 to 3.7) mg/L</a:t>
            </a:r>
          </a:p>
          <a:p>
            <a:pPr>
              <a:spcAft>
                <a:spcPts val="1000"/>
              </a:spcAft>
            </a:pPr>
            <a:r>
              <a:rPr sz="1300" b="0" i="0">
                <a:solidFill>
                  <a:srgbClr val="0D7377"/>
                </a:solidFill>
              </a:rPr>
              <a:t>●  </a:t>
            </a:r>
            <a:r>
              <a:rPr sz="1900" b="0" i="0">
                <a:solidFill>
                  <a:srgbClr val="1F2D33"/>
                </a:solidFill>
              </a:rPr>
              <a:t>On a log scale the distribution is roughly symmetric</a:t>
            </a:r>
          </a:p>
        </p:txBody>
      </p:sp>
      <p:pic>
        <p:nvPicPr>
          <p:cNvPr id="5" name="Picture 4" descr="f_hist_crp.png"/>
          <p:cNvPicPr>
            <a:picLocks noChangeAspect="1"/>
          </p:cNvPicPr>
          <p:nvPr/>
        </p:nvPicPr>
        <p:blipFill>
          <a:blip r:embed="rId3"/>
          <a:stretch>
            <a:fillRect/>
          </a:stretch>
        </p:blipFill>
        <p:spPr>
          <a:xfrm>
            <a:off x="4692225" y="2321253"/>
            <a:ext cx="7069702" cy="28921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a plot</a:t>
            </a:r>
          </a:p>
        </p:txBody>
      </p:sp>
      <p:sp>
        <p:nvSpPr>
          <p:cNvPr id="3" name="Slide Number Placeholder 2"/>
          <p:cNvSpPr>
            <a:spLocks noGrp="1"/>
          </p:cNvSpPr>
          <p:nvPr>
            <p:ph type="sldNum" idx="12" sz="quarter"/>
          </p:nvPr>
        </p:nvSpPr>
        <p:spPr/>
        <p:txBody>
          <a:bodyPr/>
          <a:lstStyle/>
          <a:p>
            <a:fld id="{B6F15528-21DE-4FAA-801E-634DDDAF4B2B}" type="slidenum">
              <a:rPr lang="en-GB"/>
              <a:t>14</a:t>
            </a:fld>
          </a:p>
        </p:txBody>
      </p:sp>
      <p:sp>
        <p:nvSpPr>
          <p:cNvPr id="4" name="TextBox 3"/>
          <p:cNvSpPr txBox="1"/>
          <p:nvPr/>
        </p:nvSpPr>
        <p:spPr>
          <a:xfrm>
            <a:off x="429768" y="1389888"/>
            <a:ext cx="4532863"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One categorical variable: bar chart</a:t>
            </a:r>
          </a:p>
          <a:p>
            <a:pPr>
              <a:spcAft>
                <a:spcPts val="1000"/>
              </a:spcAft>
            </a:pPr>
            <a:r>
              <a:rPr sz="1300" b="0" i="0">
                <a:solidFill>
                  <a:srgbClr val="0D7377"/>
                </a:solidFill>
              </a:rPr>
              <a:t>●  </a:t>
            </a:r>
            <a:r>
              <a:rPr sz="1900" b="0" i="0">
                <a:solidFill>
                  <a:srgbClr val="1F2D33"/>
                </a:solidFill>
              </a:rPr>
              <a:t>One continuous variable: histogram (shape) or boxplot (summary)</a:t>
            </a:r>
          </a:p>
          <a:p>
            <a:pPr>
              <a:spcAft>
                <a:spcPts val="1000"/>
              </a:spcAft>
            </a:pPr>
            <a:r>
              <a:rPr sz="1300" b="0" i="0">
                <a:solidFill>
                  <a:srgbClr val="0D7377"/>
                </a:solidFill>
              </a:rPr>
              <a:t>●  </a:t>
            </a:r>
            <a:r>
              <a:rPr sz="1900" b="0" i="0">
                <a:solidFill>
                  <a:srgbClr val="1F2D33"/>
                </a:solidFill>
              </a:rPr>
              <a:t>Continuous by group: boxplots with the points shown</a:t>
            </a:r>
          </a:p>
          <a:p>
            <a:pPr>
              <a:spcAft>
                <a:spcPts val="1000"/>
              </a:spcAft>
            </a:pPr>
            <a:r>
              <a:rPr sz="1300" b="0" i="0">
                <a:solidFill>
                  <a:srgbClr val="0D7377"/>
                </a:solidFill>
              </a:rPr>
              <a:t>●  </a:t>
            </a:r>
            <a:r>
              <a:rPr sz="1900" b="0" i="0">
                <a:solidFill>
                  <a:srgbClr val="1F2D33"/>
                </a:solidFill>
              </a:rPr>
              <a:t>Two continuous variables: scatterplot (Day 2)</a:t>
            </a:r>
          </a:p>
          <a:p>
            <a:pPr>
              <a:spcAft>
                <a:spcPts val="500"/>
              </a:spcAft>
            </a:pPr>
            <a:r>
              <a:rPr sz="1600" b="0" i="0">
                <a:solidFill>
                  <a:srgbClr val="8A99A3"/>
                </a:solidFill>
              </a:rPr>
              <a:t>        –  </a:t>
            </a:r>
            <a:r>
              <a:rPr sz="1600" b="0" i="0">
                <a:solidFill>
                  <a:srgbClr val="8A99A3"/>
                </a:solidFill>
              </a:rPr>
              <a:t>Box: IQR; line: median; whiskers: up to 1.5 IQR</a:t>
            </a:r>
          </a:p>
        </p:txBody>
      </p:sp>
      <p:pic>
        <p:nvPicPr>
          <p:cNvPr id="5" name="Picture 4" descr="f_box_district.png"/>
          <p:cNvPicPr>
            <a:picLocks noChangeAspect="1"/>
          </p:cNvPicPr>
          <p:nvPr/>
        </p:nvPicPr>
        <p:blipFill>
          <a:blip r:embed="rId3"/>
          <a:stretch>
            <a:fillRect/>
          </a:stretch>
        </p:blipFill>
        <p:spPr>
          <a:xfrm>
            <a:off x="5145511" y="1782403"/>
            <a:ext cx="6616416" cy="396984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a sample to a population</a:t>
            </a:r>
          </a:p>
        </p:txBody>
      </p:sp>
      <p:sp>
        <p:nvSpPr>
          <p:cNvPr id="3" name="Text Placeholder 2"/>
          <p:cNvSpPr>
            <a:spLocks noGrp="1"/>
          </p:cNvSpPr>
          <p:nvPr>
            <p:ph type="body" idx="1"/>
          </p:nvPr>
        </p:nvSpPr>
        <p:spPr/>
        <p:txBody>
          <a:bodyPr/>
          <a:lstStyle/>
          <a:p>
            <a:r>
              <a:t>Part 3. Variability, effect sizes, confidence intervals and tests</a:t>
            </a:r>
          </a:p>
        </p:txBody>
      </p:sp>
      <p:sp>
        <p:nvSpPr>
          <p:cNvPr id="4" name="Slide Number Placeholder 3"/>
          <p:cNvSpPr>
            <a:spLocks noGrp="1"/>
          </p:cNvSpPr>
          <p:nvPr>
            <p:ph type="sldNum" idx="12" sz="quarter"/>
          </p:nvPr>
        </p:nvSpPr>
        <p:spPr/>
        <p:txBody>
          <a:bodyPr/>
          <a:lstStyle/>
          <a:p>
            <a:fld id="{B6F15528-21DE-4FAA-801E-634DDDAF4B2B}" type="slidenum">
              <a:rPr lang="en-GB"/>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Samples and populations</a:t>
            </a:r>
          </a:p>
        </p:txBody>
      </p:sp>
      <p:sp>
        <p:nvSpPr>
          <p:cNvPr id="3" name="Slide Number Placeholder 2"/>
          <p:cNvSpPr>
            <a:spLocks noGrp="1"/>
          </p:cNvSpPr>
          <p:nvPr>
            <p:ph type="sldNum" idx="12" sz="quarter"/>
          </p:nvPr>
        </p:nvSpPr>
        <p:spPr/>
        <p:txBody>
          <a:bodyPr/>
          <a:lstStyle/>
          <a:p>
            <a:fld id="{B6F15528-21DE-4FAA-801E-634DDDAF4B2B}" type="slidenum">
              <a:rPr lang="en-GB"/>
              <a:t>16</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Population: everyone we want to draw conclusions about</a:t>
            </a:r>
          </a:p>
          <a:p>
            <a:pPr>
              <a:spcAft>
                <a:spcPts val="1000"/>
              </a:spcAft>
            </a:pPr>
            <a:r>
              <a:rPr sz="1600" b="0" i="0">
                <a:solidFill>
                  <a:srgbClr val="0D7377"/>
                </a:solidFill>
              </a:rPr>
              <a:t>●  </a:t>
            </a:r>
            <a:r>
              <a:rPr sz="2200" b="0" i="0">
                <a:solidFill>
                  <a:srgbClr val="1F2D33"/>
                </a:solidFill>
              </a:rPr>
              <a:t>Sample: the people we actually measured</a:t>
            </a:r>
          </a:p>
          <a:p>
            <a:pPr>
              <a:spcAft>
                <a:spcPts val="1000"/>
              </a:spcAft>
            </a:pPr>
            <a:r>
              <a:rPr sz="1600" b="0" i="0">
                <a:solidFill>
                  <a:srgbClr val="0D7377"/>
                </a:solidFill>
              </a:rPr>
              <a:t>●  </a:t>
            </a:r>
            <a:r>
              <a:rPr sz="2200" b="0" i="0">
                <a:solidFill>
                  <a:srgbClr val="1F2D33"/>
                </a:solidFill>
              </a:rPr>
              <a:t>A statistic (e.g. a sample mean) estimates a population value</a:t>
            </a:r>
          </a:p>
          <a:p>
            <a:pPr>
              <a:spcAft>
                <a:spcPts val="1000"/>
              </a:spcAft>
            </a:pPr>
            <a:r>
              <a:rPr sz="1600" b="0" i="0">
                <a:solidFill>
                  <a:srgbClr val="0D7377"/>
                </a:solidFill>
              </a:rPr>
              <a:t>●  </a:t>
            </a:r>
            <a:r>
              <a:rPr sz="2200" b="0" i="0">
                <a:solidFill>
                  <a:srgbClr val="1F2D33"/>
                </a:solidFill>
              </a:rPr>
              <a:t>A different sample would give a different estimate: this is sampling variability</a:t>
            </a:r>
          </a:p>
          <a:p>
            <a:pPr>
              <a:spcAft>
                <a:spcPts val="1000"/>
              </a:spcAft>
            </a:pPr>
            <a:r>
              <a:rPr sz="1600" b="0" i="0">
                <a:solidFill>
                  <a:srgbClr val="0D7377"/>
                </a:solidFill>
              </a:rPr>
              <a:t>●  </a:t>
            </a:r>
            <a:r>
              <a:rPr sz="2200" b="0" i="0">
                <a:solidFill>
                  <a:srgbClr val="1F2D33"/>
                </a:solidFill>
              </a:rPr>
              <a:t>Statistics quantifies that uncertainty; it cannot remove bias from a poor sample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same study repeated 20 times</a:t>
            </a:r>
          </a:p>
        </p:txBody>
      </p:sp>
      <p:sp>
        <p:nvSpPr>
          <p:cNvPr id="3" name="Slide Number Placeholder 2"/>
          <p:cNvSpPr>
            <a:spLocks noGrp="1"/>
          </p:cNvSpPr>
          <p:nvPr>
            <p:ph type="sldNum" idx="12" sz="quarter"/>
          </p:nvPr>
        </p:nvSpPr>
        <p:spPr/>
        <p:txBody>
          <a:bodyPr/>
          <a:lstStyle/>
          <a:p>
            <a:fld id="{B6F15528-21DE-4FAA-801E-634DDDAF4B2B}" type="slidenum">
              <a:rPr lang="en-GB"/>
              <a:t>17</a:t>
            </a:fld>
          </a:p>
        </p:txBody>
      </p:sp>
      <p:pic>
        <p:nvPicPr>
          <p:cNvPr id="4" name="Picture 3" descr="f_sampling_cis.png"/>
          <p:cNvPicPr>
            <a:picLocks noChangeAspect="1"/>
          </p:cNvPicPr>
          <p:nvPr/>
        </p:nvPicPr>
        <p:blipFill>
          <a:blip r:embed="rId3"/>
          <a:stretch>
            <a:fillRect/>
          </a:stretch>
        </p:blipFill>
        <p:spPr>
          <a:xfrm>
            <a:off x="2542157" y="1344168"/>
            <a:ext cx="7107381"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Each line is one sample of 30 people with its 95% CI. 19 of the 20 intervals include the true mean.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error and confidence interval</a:t>
            </a:r>
          </a:p>
        </p:txBody>
      </p:sp>
      <p:sp>
        <p:nvSpPr>
          <p:cNvPr id="3" name="Slide Number Placeholder 2"/>
          <p:cNvSpPr>
            <a:spLocks noGrp="1"/>
          </p:cNvSpPr>
          <p:nvPr>
            <p:ph type="sldNum" idx="12" sz="quarter"/>
          </p:nvPr>
        </p:nvSpPr>
        <p:spPr/>
        <p:txBody>
          <a:bodyPr/>
          <a:lstStyle/>
          <a:p>
            <a:fld id="{B6F15528-21DE-4FAA-801E-634DDDAF4B2B}" type="slidenum">
              <a:rPr lang="en-GB"/>
              <a:t>18</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SD describes how individuals vary; the standard error (SE) describes how an estimate varies</a:t>
            </a:r>
          </a:p>
          <a:p>
            <a:pPr>
              <a:spcAft>
                <a:spcPts val="1000"/>
              </a:spcAft>
            </a:pPr>
            <a:r>
              <a:rPr sz="1600" b="0" i="0">
                <a:solidFill>
                  <a:srgbClr val="0D7377"/>
                </a:solidFill>
              </a:rPr>
              <a:t>●  </a:t>
            </a:r>
            <a:r>
              <a:rPr sz="2200" b="0" i="0">
                <a:solidFill>
                  <a:srgbClr val="1F2D33"/>
                </a:solidFill>
              </a:rPr>
              <a:t>For a mean:  SE = SD / √n.  Larger samples give smaller SEs</a:t>
            </a:r>
          </a:p>
          <a:p>
            <a:pPr>
              <a:spcAft>
                <a:spcPts val="1000"/>
              </a:spcAft>
            </a:pPr>
            <a:r>
              <a:rPr sz="1600" b="0" i="0">
                <a:solidFill>
                  <a:srgbClr val="0D7377"/>
                </a:solidFill>
              </a:rPr>
              <a:t>●  </a:t>
            </a:r>
            <a:r>
              <a:rPr sz="2200" b="0" i="0">
                <a:solidFill>
                  <a:srgbClr val="1F2D33"/>
                </a:solidFill>
              </a:rPr>
              <a:t>95% confidence interval ≈ estimate ± 2 × SE</a:t>
            </a:r>
          </a:p>
          <a:p>
            <a:pPr>
              <a:spcAft>
                <a:spcPts val="1000"/>
              </a:spcAft>
            </a:pPr>
            <a:r>
              <a:rPr sz="1600" b="0" i="0">
                <a:solidFill>
                  <a:srgbClr val="0D7377"/>
                </a:solidFill>
              </a:rPr>
              <a:t>●  </a:t>
            </a:r>
            <a:r>
              <a:rPr sz="2200" b="0" i="0">
                <a:solidFill>
                  <a:srgbClr val="1F2D33"/>
                </a:solidFill>
              </a:rPr>
              <a:t>Interpretation: the range of population values reasonably compatible with the data</a:t>
            </a:r>
          </a:p>
          <a:p>
            <a:pPr>
              <a:spcAft>
                <a:spcPts val="500"/>
              </a:spcAft>
            </a:pPr>
            <a:r>
              <a:rPr sz="1900" b="0" i="0">
                <a:solidFill>
                  <a:srgbClr val="8A99A3"/>
                </a:solidFill>
              </a:rPr>
              <a:t>        –  </a:t>
            </a:r>
            <a:r>
              <a:rPr sz="1900" b="0" i="0">
                <a:solidFill>
                  <a:srgbClr val="8A99A3"/>
                </a:solidFill>
              </a:rPr>
              <a:t>Strictly: the method captures the true value in 95% of repeated samples</a:t>
            </a:r>
          </a:p>
          <a:p>
            <a:pPr>
              <a:spcAft>
                <a:spcPts val="1000"/>
              </a:spcAft>
            </a:pPr>
            <a:r>
              <a:rPr sz="1600" b="0" i="0">
                <a:solidFill>
                  <a:srgbClr val="0D7377"/>
                </a:solidFill>
              </a:rPr>
              <a:t>●  </a:t>
            </a:r>
            <a:r>
              <a:rPr sz="2200" b="0" i="0">
                <a:solidFill>
                  <a:srgbClr val="1F2D33"/>
                </a:solidFill>
              </a:rPr>
              <a:t>Example: mean SBP 129.3 mmHg, SE = 15.6 / √480 = 0.71, 95% CI about 127.9 to 130.7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Effect sizes: how big is the difference?</a:t>
            </a:r>
          </a:p>
        </p:txBody>
      </p:sp>
      <p:sp>
        <p:nvSpPr>
          <p:cNvPr id="3" name="Slide Number Placeholder 2"/>
          <p:cNvSpPr>
            <a:spLocks noGrp="1"/>
          </p:cNvSpPr>
          <p:nvPr>
            <p:ph type="sldNum" idx="12" sz="quarter"/>
          </p:nvPr>
        </p:nvSpPr>
        <p:spPr/>
        <p:txBody>
          <a:bodyPr/>
          <a:lstStyle/>
          <a:p>
            <a:fld id="{B6F15528-21DE-4FAA-801E-634DDDAF4B2B}" type="slidenum">
              <a:rPr lang="en-GB"/>
              <a:t>19</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An effect size measures the size of a difference or association in meaningful units</a:t>
            </a:r>
          </a:p>
          <a:p>
            <a:pPr>
              <a:spcAft>
                <a:spcPts val="500"/>
              </a:spcAft>
            </a:pPr>
            <a:r>
              <a:rPr sz="1900" b="0" i="0">
                <a:solidFill>
                  <a:srgbClr val="8A99A3"/>
                </a:solidFill>
              </a:rPr>
              <a:t>        –  </a:t>
            </a:r>
            <a:r>
              <a:rPr sz="1900" b="0" i="0">
                <a:solidFill>
                  <a:srgbClr val="8A99A3"/>
                </a:solidFill>
              </a:rPr>
              <a:t>Difference in means: men's SBP is 6.1 mmHg higher than women's</a:t>
            </a:r>
          </a:p>
          <a:p>
            <a:pPr>
              <a:spcAft>
                <a:spcPts val="500"/>
              </a:spcAft>
            </a:pPr>
            <a:r>
              <a:rPr sz="1900" b="0" i="0">
                <a:solidFill>
                  <a:srgbClr val="8A99A3"/>
                </a:solidFill>
              </a:rPr>
              <a:t>        –  </a:t>
            </a:r>
            <a:r>
              <a:rPr sz="1900" b="0" i="0">
                <a:solidFill>
                  <a:srgbClr val="8A99A3"/>
                </a:solidFill>
              </a:rPr>
              <a:t>Ratio of geometric means: smokers' CRP is 1.6 times that of non-smokers</a:t>
            </a:r>
          </a:p>
          <a:p>
            <a:pPr>
              <a:spcAft>
                <a:spcPts val="500"/>
              </a:spcAft>
            </a:pPr>
            <a:r>
              <a:rPr sz="1900" b="0" i="0">
                <a:solidFill>
                  <a:srgbClr val="8A99A3"/>
                </a:solidFill>
              </a:rPr>
              <a:t>        –  </a:t>
            </a:r>
            <a:r>
              <a:rPr sz="1900" b="0" i="0">
                <a:solidFill>
                  <a:srgbClr val="8A99A3"/>
                </a:solidFill>
              </a:rPr>
              <a:t>Difference or ratio of proportions, odds ratio</a:t>
            </a:r>
          </a:p>
          <a:p>
            <a:pPr>
              <a:spcAft>
                <a:spcPts val="1000"/>
              </a:spcAft>
            </a:pPr>
            <a:r>
              <a:rPr sz="1600" b="0" i="0">
                <a:solidFill>
                  <a:srgbClr val="0D7377"/>
                </a:solidFill>
              </a:rPr>
              <a:t>●  </a:t>
            </a:r>
            <a:r>
              <a:rPr sz="2200" b="0" i="0">
                <a:solidFill>
                  <a:srgbClr val="1F2D33"/>
                </a:solidFill>
              </a:rPr>
              <a:t>Always report an effect size with its 95% CI</a:t>
            </a:r>
          </a:p>
          <a:p>
            <a:pPr>
              <a:spcAft>
                <a:spcPts val="1000"/>
              </a:spcAft>
            </a:pPr>
            <a:r>
              <a:rPr sz="1600" b="0" i="0">
                <a:solidFill>
                  <a:srgbClr val="0D7377"/>
                </a:solidFill>
              </a:rPr>
              <a:t>●  </a:t>
            </a:r>
            <a:r>
              <a:rPr sz="2200" b="0" i="0">
                <a:solidFill>
                  <a:srgbClr val="1F2D33"/>
                </a:solidFill>
              </a:rPr>
              <a:t>A p-value alone says nothing about the size of an effect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 tests and p-values</a:t>
            </a:r>
          </a:p>
        </p:txBody>
      </p:sp>
      <p:sp>
        <p:nvSpPr>
          <p:cNvPr id="3" name="Slide Number Placeholder 2"/>
          <p:cNvSpPr>
            <a:spLocks noGrp="1"/>
          </p:cNvSpPr>
          <p:nvPr>
            <p:ph type="sldNum" idx="12" sz="quarter"/>
          </p:nvPr>
        </p:nvSpPr>
        <p:spPr/>
        <p:txBody>
          <a:bodyPr/>
          <a:lstStyle/>
          <a:p>
            <a:fld id="{B6F15528-21DE-4FAA-801E-634DDDAF4B2B}" type="slidenum">
              <a:rPr lang="en-GB"/>
              <a:t>20</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Null hypothesis (H0): no difference or no association in the population</a:t>
            </a:r>
          </a:p>
          <a:p>
            <a:pPr>
              <a:spcAft>
                <a:spcPts val="1000"/>
              </a:spcAft>
            </a:pPr>
            <a:r>
              <a:rPr sz="1600" b="0" i="0">
                <a:solidFill>
                  <a:srgbClr val="0D7377"/>
                </a:solidFill>
              </a:rPr>
              <a:t>●  </a:t>
            </a:r>
            <a:r>
              <a:rPr sz="2200" b="0" i="0">
                <a:solidFill>
                  <a:srgbClr val="1F2D33"/>
                </a:solidFill>
              </a:rPr>
              <a:t>p-value: if H0 were true, the probability of a result at least as extreme as ours</a:t>
            </a:r>
          </a:p>
          <a:p>
            <a:pPr>
              <a:spcAft>
                <a:spcPts val="1000"/>
              </a:spcAft>
            </a:pPr>
            <a:r>
              <a:rPr sz="1600" b="0" i="0">
                <a:solidFill>
                  <a:srgbClr val="0D7377"/>
                </a:solidFill>
              </a:rPr>
              <a:t>●  </a:t>
            </a:r>
            <a:r>
              <a:rPr sz="2200" b="0" i="0">
                <a:solidFill>
                  <a:srgbClr val="1F2D33"/>
                </a:solidFill>
              </a:rPr>
              <a:t>A small p-value means the data are hard to reconcile with H0</a:t>
            </a:r>
          </a:p>
          <a:p>
            <a:pPr>
              <a:spcAft>
                <a:spcPts val="1000"/>
              </a:spcAft>
            </a:pPr>
            <a:r>
              <a:rPr sz="1600" b="0" i="0">
                <a:solidFill>
                  <a:srgbClr val="0D7377"/>
                </a:solidFill>
              </a:rPr>
              <a:t>●  </a:t>
            </a:r>
            <a:r>
              <a:rPr sz="2200" b="0" i="0">
                <a:solidFill>
                  <a:srgbClr val="1F2D33"/>
                </a:solidFill>
              </a:rPr>
              <a:t>The p-value is NOT the probability that H0 is true</a:t>
            </a:r>
          </a:p>
          <a:p>
            <a:pPr>
              <a:spcAft>
                <a:spcPts val="1000"/>
              </a:spcAft>
            </a:pPr>
            <a:r>
              <a:rPr sz="1600" b="0" i="0">
                <a:solidFill>
                  <a:srgbClr val="0D7377"/>
                </a:solidFill>
              </a:rPr>
              <a:t>●  </a:t>
            </a:r>
            <a:r>
              <a:rPr sz="2200" b="0" i="0">
                <a:solidFill>
                  <a:srgbClr val="1F2D33"/>
                </a:solidFill>
              </a:rPr>
              <a:t>p &gt; 0.05 is NOT evidence of no difference: look at the CI</a:t>
            </a:r>
          </a:p>
          <a:p>
            <a:pPr>
              <a:spcAft>
                <a:spcPts val="1000"/>
              </a:spcAft>
            </a:pPr>
            <a:r>
              <a:rPr sz="1600" b="0" i="0">
                <a:solidFill>
                  <a:srgbClr val="0D7377"/>
                </a:solidFill>
              </a:rPr>
              <a:t>●  </a:t>
            </a:r>
            <a:r>
              <a:rPr sz="2200" b="0" i="0">
                <a:solidFill>
                  <a:srgbClr val="1F2D33"/>
                </a:solidFill>
              </a:rPr>
              <a:t>0.05 is a convention, not a law. Report the actual p-value (e.g. p = 0.03)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Statistical significance is not practical importance</a:t>
            </a:r>
          </a:p>
        </p:txBody>
      </p:sp>
      <p:sp>
        <p:nvSpPr>
          <p:cNvPr id="3" name="Slide Number Placeholder 2"/>
          <p:cNvSpPr>
            <a:spLocks noGrp="1"/>
          </p:cNvSpPr>
          <p:nvPr>
            <p:ph type="sldNum" idx="12" sz="quarter"/>
          </p:nvPr>
        </p:nvSpPr>
        <p:spPr/>
        <p:txBody>
          <a:bodyPr/>
          <a:lstStyle/>
          <a:p>
            <a:fld id="{B6F15528-21DE-4FAA-801E-634DDDAF4B2B}" type="slidenum">
              <a:rPr lang="en-GB"/>
              <a:t>21</a:t>
            </a:fld>
          </a:p>
        </p:txBody>
      </p:sp>
      <p:pic>
        <p:nvPicPr>
          <p:cNvPr id="4" name="Picture 3" descr="f_significance_vs_importance.png"/>
          <p:cNvPicPr>
            <a:picLocks noChangeAspect="1"/>
          </p:cNvPicPr>
          <p:nvPr/>
        </p:nvPicPr>
        <p:blipFill>
          <a:blip r:embed="rId3"/>
          <a:stretch>
            <a:fillRect/>
          </a:stretch>
        </p:blipFill>
        <p:spPr>
          <a:xfrm>
            <a:off x="1571472" y="1344168"/>
            <a:ext cx="9048750" cy="4343400"/>
          </a:xfrm>
          <a:prstGeom prst="rect">
            <a:avLst/>
          </a:prstGeom>
        </p:spPr>
      </p:pic>
      <p:sp>
        <p:nvSpPr>
          <p:cNvPr id="5" name="TextBox 4"/>
          <p:cNvSpPr txBox="1"/>
          <p:nvPr/>
        </p:nvSpPr>
        <p:spPr>
          <a:xfrm>
            <a:off x="429768" y="5733288"/>
            <a:ext cx="11332159" cy="411480"/>
          </a:xfrm>
          <a:prstGeom prst="rect">
            <a:avLst/>
          </a:prstGeom>
          <a:noFill/>
        </p:spPr>
        <p:txBody>
          <a:bodyPr wrap="square" anchor="t" lIns="45720" rIns="45720">
            <a:spAutoFit/>
          </a:bodyPr>
          <a:lstStyle/>
          <a:p>
            <a:pPr algn="ctr"/>
            <a:r>
              <a:rPr sz="1500" b="0" i="0">
                <a:solidFill>
                  <a:srgbClr val="0070C0"/>
                </a:solidFill>
              </a:rPr>
              <a:t>Hypothetical studies. Judge results by the estimate and both ends of the CI.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Comparing groups: continuous outcomes</a:t>
            </a:r>
          </a:p>
        </p:txBody>
      </p:sp>
      <p:sp>
        <p:nvSpPr>
          <p:cNvPr id="3" name="Text Placeholder 2"/>
          <p:cNvSpPr>
            <a:spLocks noGrp="1"/>
          </p:cNvSpPr>
          <p:nvPr>
            <p:ph type="body" idx="1"/>
          </p:nvPr>
        </p:nvSpPr>
        <p:spPr/>
        <p:txBody>
          <a:bodyPr/>
          <a:lstStyle/>
          <a:p>
            <a:r>
              <a:t>Part 4. Two groups, more than two groups, and paired data</a:t>
            </a:r>
          </a:p>
        </p:txBody>
      </p:sp>
      <p:sp>
        <p:nvSpPr>
          <p:cNvPr id="4" name="Slide Number Placeholder 3"/>
          <p:cNvSpPr>
            <a:spLocks noGrp="1"/>
          </p:cNvSpPr>
          <p:nvPr>
            <p:ph type="sldNum" idx="12" sz="quarter"/>
          </p:nvPr>
        </p:nvSpPr>
        <p:spPr/>
        <p:txBody>
          <a:bodyPr/>
          <a:lstStyle/>
          <a:p>
            <a:fld id="{B6F15528-21DE-4FAA-801E-634DDDAF4B2B}" type="slidenum">
              <a:rPr lang="en-GB"/>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First question: independent or paired?</a:t>
            </a:r>
          </a:p>
        </p:txBody>
      </p:sp>
      <p:sp>
        <p:nvSpPr>
          <p:cNvPr id="3" name="Slide Number Placeholder 2"/>
          <p:cNvSpPr>
            <a:spLocks noGrp="1"/>
          </p:cNvSpPr>
          <p:nvPr>
            <p:ph type="sldNum" idx="12" sz="quarter"/>
          </p:nvPr>
        </p:nvSpPr>
        <p:spPr/>
        <p:txBody>
          <a:bodyPr/>
          <a:lstStyle/>
          <a:p>
            <a:fld id="{B6F15528-21DE-4FAA-801E-634DDDAF4B2B}" type="slidenum">
              <a:rPr lang="en-GB"/>
              <a:t>23</a:t>
            </a:fld>
          </a:p>
        </p:txBody>
      </p:sp>
      <p:sp>
        <p:nvSpPr>
          <p:cNvPr id="4" name="TextBox 3"/>
          <p:cNvSpPr txBox="1"/>
          <p:nvPr/>
        </p:nvSpPr>
        <p:spPr>
          <a:xfrm>
            <a:off x="429768" y="1389888"/>
            <a:ext cx="3739612"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Independent: different people in each group (men vs women)</a:t>
            </a:r>
          </a:p>
          <a:p>
            <a:pPr>
              <a:spcAft>
                <a:spcPts val="1000"/>
              </a:spcAft>
            </a:pPr>
            <a:r>
              <a:rPr sz="1300" b="0" i="0">
                <a:solidFill>
                  <a:srgbClr val="0D7377"/>
                </a:solidFill>
              </a:rPr>
              <a:t>●  </a:t>
            </a:r>
            <a:r>
              <a:rPr sz="1900" b="0" i="0">
                <a:solidFill>
                  <a:srgbClr val="1F2D33"/>
                </a:solidFill>
              </a:rPr>
              <a:t>Paired: the same people measured twice, or matched pairs</a:t>
            </a:r>
          </a:p>
          <a:p>
            <a:pPr>
              <a:spcAft>
                <a:spcPts val="1000"/>
              </a:spcAft>
            </a:pPr>
            <a:r>
              <a:rPr sz="1300" b="0" i="0">
                <a:solidFill>
                  <a:srgbClr val="0D7377"/>
                </a:solidFill>
              </a:rPr>
              <a:t>●  </a:t>
            </a:r>
            <a:r>
              <a:rPr sz="1900" b="0" i="0">
                <a:solidFill>
                  <a:srgbClr val="1F2D33"/>
                </a:solidFill>
              </a:rPr>
              <a:t>Paired designs remove between-person differences, so they are more precise</a:t>
            </a:r>
          </a:p>
          <a:p>
            <a:pPr>
              <a:spcAft>
                <a:spcPts val="1000"/>
              </a:spcAft>
            </a:pPr>
            <a:r>
              <a:rPr sz="1300" b="0" i="0">
                <a:solidFill>
                  <a:srgbClr val="0D7377"/>
                </a:solidFill>
              </a:rPr>
              <a:t>●  </a:t>
            </a:r>
            <a:r>
              <a:rPr sz="1900" b="0" i="0">
                <a:solidFill>
                  <a:srgbClr val="1F2D33"/>
                </a:solidFill>
              </a:rPr>
              <a:t>Analysing paired data as independent gives the wrong CI and p-value</a:t>
            </a:r>
          </a:p>
        </p:txBody>
      </p:sp>
      <p:pic>
        <p:nvPicPr>
          <p:cNvPr id="5" name="Picture 4" descr="f_paired.png"/>
          <p:cNvPicPr>
            <a:picLocks noChangeAspect="1"/>
          </p:cNvPicPr>
          <p:nvPr/>
        </p:nvPicPr>
        <p:blipFill>
          <a:blip r:embed="rId3"/>
          <a:stretch>
            <a:fillRect/>
          </a:stretch>
        </p:blipFill>
        <p:spPr>
          <a:xfrm>
            <a:off x="4352260" y="2150673"/>
            <a:ext cx="7409667" cy="3233309"/>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independent groups: Welch's t-test</a:t>
            </a:r>
          </a:p>
        </p:txBody>
      </p:sp>
      <p:sp>
        <p:nvSpPr>
          <p:cNvPr id="3" name="Slide Number Placeholder 2"/>
          <p:cNvSpPr>
            <a:spLocks noGrp="1"/>
          </p:cNvSpPr>
          <p:nvPr>
            <p:ph type="sldNum" idx="12" sz="quarter"/>
          </p:nvPr>
        </p:nvSpPr>
        <p:spPr/>
        <p:txBody>
          <a:bodyPr/>
          <a:lstStyle/>
          <a:p>
            <a:fld id="{B6F15528-21DE-4FAA-801E-634DDDAF4B2B}" type="slidenum">
              <a:rPr lang="en-GB"/>
              <a:t>24</a:t>
            </a:fld>
          </a:p>
        </p:txBody>
      </p:sp>
      <p:sp>
        <p:nvSpPr>
          <p:cNvPr id="4" name="TextBox 3"/>
          <p:cNvSpPr txBox="1"/>
          <p:nvPr/>
        </p:nvSpPr>
        <p:spPr>
          <a:xfrm>
            <a:off x="429768" y="1389888"/>
            <a:ext cx="5439436"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Question: does mean SBP differ between men and women?</a:t>
            </a:r>
          </a:p>
          <a:p>
            <a:pPr>
              <a:spcAft>
                <a:spcPts val="1000"/>
              </a:spcAft>
            </a:pPr>
            <a:r>
              <a:rPr sz="1300" b="0" i="0">
                <a:solidFill>
                  <a:srgbClr val="0D7377"/>
                </a:solidFill>
              </a:rPr>
              <a:t>●  </a:t>
            </a:r>
            <a:r>
              <a:rPr sz="1900" b="0" i="0">
                <a:solidFill>
                  <a:srgbClr val="1F2D33"/>
                </a:solidFill>
              </a:rPr>
              <a:t>Difference (men - women): 6.1 mmHg, 95% CI 3.4 to 8.9, p &lt; 0.001</a:t>
            </a:r>
          </a:p>
          <a:p>
            <a:pPr>
              <a:spcAft>
                <a:spcPts val="1000"/>
              </a:spcAft>
            </a:pPr>
            <a:r>
              <a:rPr sz="1300" b="0" i="0">
                <a:solidFill>
                  <a:srgbClr val="0D7377"/>
                </a:solidFill>
              </a:rPr>
              <a:t>●  </a:t>
            </a:r>
            <a:r>
              <a:rPr sz="1900" b="0" i="0">
                <a:solidFill>
                  <a:srgbClr val="1F2D33"/>
                </a:solidFill>
              </a:rPr>
              <a:t>Welch's version does not assume equal variances: use it by default</a:t>
            </a:r>
          </a:p>
          <a:p>
            <a:pPr>
              <a:spcAft>
                <a:spcPts val="1000"/>
              </a:spcAft>
            </a:pPr>
            <a:r>
              <a:rPr sz="1300" b="0" i="0">
                <a:solidFill>
                  <a:srgbClr val="0D7377"/>
                </a:solidFill>
              </a:rPr>
              <a:t>●  </a:t>
            </a:r>
            <a:r>
              <a:rPr sz="1900" b="0" i="0">
                <a:solidFill>
                  <a:srgbClr val="1F2D33"/>
                </a:solidFill>
              </a:rPr>
              <a:t>Assumptions: independent observations; sample means approximately normal</a:t>
            </a:r>
          </a:p>
          <a:p>
            <a:pPr>
              <a:spcAft>
                <a:spcPts val="500"/>
              </a:spcAft>
            </a:pPr>
            <a:r>
              <a:rPr sz="1600" b="0" i="0">
                <a:solidFill>
                  <a:srgbClr val="8A99A3"/>
                </a:solidFill>
              </a:rPr>
              <a:t>        –  </a:t>
            </a:r>
            <a:r>
              <a:rPr sz="1600" b="0" i="0">
                <a:solidFill>
                  <a:srgbClr val="8A99A3"/>
                </a:solidFill>
              </a:rPr>
              <a:t>Holds for large groups even if data are moderately skewed</a:t>
            </a:r>
          </a:p>
        </p:txBody>
      </p:sp>
      <p:pic>
        <p:nvPicPr>
          <p:cNvPr id="5" name="Picture 4" descr="f_ttest_sex.png"/>
          <p:cNvPicPr>
            <a:picLocks noChangeAspect="1"/>
          </p:cNvPicPr>
          <p:nvPr/>
        </p:nvPicPr>
        <p:blipFill>
          <a:blip r:embed="rId3"/>
          <a:stretch>
            <a:fillRect/>
          </a:stretch>
        </p:blipFill>
        <p:spPr>
          <a:xfrm>
            <a:off x="6052084" y="1728098"/>
            <a:ext cx="5709843" cy="407845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skewed outcome: CRP in smokers and non-smokers</a:t>
            </a:r>
          </a:p>
        </p:txBody>
      </p:sp>
      <p:sp>
        <p:nvSpPr>
          <p:cNvPr id="3" name="Slide Number Placeholder 2"/>
          <p:cNvSpPr>
            <a:spLocks noGrp="1"/>
          </p:cNvSpPr>
          <p:nvPr>
            <p:ph type="sldNum" idx="12" sz="quarter"/>
          </p:nvPr>
        </p:nvSpPr>
        <p:spPr/>
        <p:txBody>
          <a:bodyPr/>
          <a:lstStyle/>
          <a:p>
            <a:fld id="{B6F15528-21DE-4FAA-801E-634DDDAF4B2B}" type="slidenum">
              <a:rPr lang="en-GB"/>
              <a:t>25</a:t>
            </a:fld>
          </a:p>
        </p:txBody>
      </p:sp>
      <p:sp>
        <p:nvSpPr>
          <p:cNvPr id="4" name="TextBox 3"/>
          <p:cNvSpPr txBox="1"/>
          <p:nvPr/>
        </p:nvSpPr>
        <p:spPr>
          <a:xfrm>
            <a:off x="429768" y="1389888"/>
            <a:ext cx="5483199" cy="457200"/>
          </a:xfrm>
          <a:prstGeom prst="rect">
            <a:avLst/>
          </a:prstGeom>
          <a:noFill/>
        </p:spPr>
        <p:txBody>
          <a:bodyPr wrap="square" anchor="t" lIns="45720" rIns="45720">
            <a:spAutoFit/>
          </a:bodyPr>
          <a:lstStyle/>
          <a:p>
            <a:pPr algn="l"/>
            <a:r>
              <a:rPr sz="2100" b="1" i="0">
                <a:solidFill>
                  <a:srgbClr val="0B376C"/>
                </a:solidFill>
              </a:rPr>
              <a:t>Option 1: log scale</a:t>
            </a:r>
          </a:p>
        </p:txBody>
      </p:sp>
      <p:sp>
        <p:nvSpPr>
          <p:cNvPr id="5" name="TextBox 4"/>
          <p:cNvSpPr txBox="1"/>
          <p:nvPr/>
        </p:nvSpPr>
        <p:spPr>
          <a:xfrm>
            <a:off x="429768" y="1892808"/>
            <a:ext cx="5483199" cy="32918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Analyse log(CRP) with a t-test, then back-transform</a:t>
            </a:r>
          </a:p>
          <a:p>
            <a:pPr>
              <a:spcAft>
                <a:spcPts val="1000"/>
              </a:spcAft>
            </a:pPr>
            <a:r>
              <a:rPr sz="1300" b="0" i="0">
                <a:solidFill>
                  <a:srgbClr val="0D7377"/>
                </a:solidFill>
              </a:rPr>
              <a:t>●  </a:t>
            </a:r>
            <a:r>
              <a:rPr sz="1900" b="0" i="0">
                <a:solidFill>
                  <a:srgbClr val="1F2D33"/>
                </a:solidFill>
              </a:rPr>
              <a:t>Ratio of geometric means: 1.63 (95% CI 1.31 to 2.03)</a:t>
            </a:r>
          </a:p>
          <a:p>
            <a:pPr>
              <a:spcAft>
                <a:spcPts val="1000"/>
              </a:spcAft>
            </a:pPr>
            <a:r>
              <a:rPr sz="1300" b="0" i="0">
                <a:solidFill>
                  <a:srgbClr val="0D7377"/>
                </a:solidFill>
              </a:rPr>
              <a:t>●  </a:t>
            </a:r>
            <a:r>
              <a:rPr sz="1900" b="0" i="0">
                <a:solidFill>
                  <a:srgbClr val="1F2D33"/>
                </a:solidFill>
              </a:rPr>
              <a:t>"Typical CRP is about 60% higher in smokers"</a:t>
            </a:r>
          </a:p>
        </p:txBody>
      </p:sp>
      <p:sp>
        <p:nvSpPr>
          <p:cNvPr id="6" name="TextBox 5"/>
          <p:cNvSpPr txBox="1"/>
          <p:nvPr/>
        </p:nvSpPr>
        <p:spPr>
          <a:xfrm>
            <a:off x="6278727" y="1389888"/>
            <a:ext cx="5483199" cy="457200"/>
          </a:xfrm>
          <a:prstGeom prst="rect">
            <a:avLst/>
          </a:prstGeom>
          <a:noFill/>
        </p:spPr>
        <p:txBody>
          <a:bodyPr wrap="square" anchor="t" lIns="45720" rIns="45720">
            <a:spAutoFit/>
          </a:bodyPr>
          <a:lstStyle/>
          <a:p>
            <a:pPr algn="l"/>
            <a:r>
              <a:rPr sz="2100" b="1" i="0">
                <a:solidFill>
                  <a:srgbClr val="0B376C"/>
                </a:solidFill>
              </a:rPr>
              <a:t>Option 2: rank-based</a:t>
            </a:r>
          </a:p>
        </p:txBody>
      </p:sp>
      <p:sp>
        <p:nvSpPr>
          <p:cNvPr id="7" name="TextBox 6"/>
          <p:cNvSpPr txBox="1"/>
          <p:nvPr/>
        </p:nvSpPr>
        <p:spPr>
          <a:xfrm>
            <a:off x="6278727" y="1892808"/>
            <a:ext cx="5483199" cy="32918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Wilcoxon rank-sum (Mann-Whitney) test, p &lt; 0.001</a:t>
            </a:r>
          </a:p>
          <a:p>
            <a:pPr>
              <a:spcAft>
                <a:spcPts val="1000"/>
              </a:spcAft>
            </a:pPr>
            <a:r>
              <a:rPr sz="1300" b="0" i="0">
                <a:solidFill>
                  <a:srgbClr val="0D7377"/>
                </a:solidFill>
              </a:rPr>
              <a:t>●  </a:t>
            </a:r>
            <a:r>
              <a:rPr sz="1900" b="0" i="0">
                <a:solidFill>
                  <a:srgbClr val="1F2D33"/>
                </a:solidFill>
              </a:rPr>
              <a:t>Asks whether values in one group tend to be larger</a:t>
            </a:r>
          </a:p>
          <a:p>
            <a:pPr>
              <a:spcAft>
                <a:spcPts val="1000"/>
              </a:spcAft>
            </a:pPr>
            <a:r>
              <a:rPr sz="1300" b="0" i="0">
                <a:solidFill>
                  <a:srgbClr val="0D7377"/>
                </a:solidFill>
              </a:rPr>
              <a:t>●  </a:t>
            </a:r>
            <a:r>
              <a:rPr sz="1900" b="0" i="0">
                <a:solidFill>
                  <a:srgbClr val="1F2D33"/>
                </a:solidFill>
              </a:rPr>
              <a:t>Hodges-Lehmann shift 0.9 mg/L (0.5 to 1.4): not a difference in medians</a:t>
            </a:r>
          </a:p>
        </p:txBody>
      </p:sp>
      <p:sp>
        <p:nvSpPr>
          <p:cNvPr id="8" name="Rectangle 7"/>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600" b="0" i="0">
                <a:solidFill>
                  <a:srgbClr val="04242F"/>
                </a:solidFill>
              </a:rPr>
              <a:t>Rank tests still assume independent observations. They are not assumption-free and not, in general, tests of medians.</a:t>
            </a:r>
          </a:p>
        </p:txBody>
      </p:sp>
      <p:sp>
        <p:nvSpPr>
          <p:cNvPr id="9" name="Rectangle 8"/>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between t-tests and rank-based tests</a:t>
            </a:r>
          </a:p>
        </p:txBody>
      </p:sp>
      <p:sp>
        <p:nvSpPr>
          <p:cNvPr id="3" name="Slide Number Placeholder 2"/>
          <p:cNvSpPr>
            <a:spLocks noGrp="1"/>
          </p:cNvSpPr>
          <p:nvPr>
            <p:ph type="sldNum" idx="12" sz="quarter"/>
          </p:nvPr>
        </p:nvSpPr>
        <p:spPr/>
        <p:txBody>
          <a:bodyPr/>
          <a:lstStyle/>
          <a:p>
            <a:fld id="{B6F15528-21DE-4FAA-801E-634DDDAF4B2B}" type="slidenum">
              <a:rPr lang="en-GB"/>
              <a:t>26</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Ask first: what summary answers the question? Mean, typical (geometric mean), or tendency to be larger?</a:t>
            </a:r>
          </a:p>
          <a:p>
            <a:pPr>
              <a:spcAft>
                <a:spcPts val="1000"/>
              </a:spcAft>
            </a:pPr>
            <a:r>
              <a:rPr sz="1600" b="0" i="0">
                <a:solidFill>
                  <a:srgbClr val="0D7377"/>
                </a:solidFill>
              </a:rPr>
              <a:t>●  </a:t>
            </a:r>
            <a:r>
              <a:rPr sz="2200" b="0" i="0">
                <a:solidFill>
                  <a:srgbClr val="1F2D33"/>
                </a:solidFill>
              </a:rPr>
              <a:t>Look at plots of the data, not only a normality-test p-value</a:t>
            </a:r>
          </a:p>
          <a:p>
            <a:pPr>
              <a:spcAft>
                <a:spcPts val="500"/>
              </a:spcAft>
            </a:pPr>
            <a:r>
              <a:rPr sz="1900" b="0" i="0">
                <a:solidFill>
                  <a:srgbClr val="8A99A3"/>
                </a:solidFill>
              </a:rPr>
              <a:t>        –  </a:t>
            </a:r>
            <a:r>
              <a:rPr sz="1900" b="0" i="0">
                <a:solidFill>
                  <a:srgbClr val="8A99A3"/>
                </a:solidFill>
              </a:rPr>
              <a:t>Normality tests reject trivial departures in large samples and miss big ones in small samples</a:t>
            </a:r>
          </a:p>
          <a:p>
            <a:pPr>
              <a:spcAft>
                <a:spcPts val="1000"/>
              </a:spcAft>
            </a:pPr>
            <a:r>
              <a:rPr sz="1600" b="0" i="0">
                <a:solidFill>
                  <a:srgbClr val="0D7377"/>
                </a:solidFill>
              </a:rPr>
              <a:t>●  </a:t>
            </a:r>
            <a:r>
              <a:rPr sz="2200" b="0" i="0">
                <a:solidFill>
                  <a:srgbClr val="1F2D33"/>
                </a:solidFill>
              </a:rPr>
              <a:t>A small sample does not automatically require a nonparametric test</a:t>
            </a:r>
          </a:p>
          <a:p>
            <a:pPr>
              <a:spcAft>
                <a:spcPts val="500"/>
              </a:spcAft>
            </a:pPr>
            <a:r>
              <a:rPr sz="1900" b="0" i="0">
                <a:solidFill>
                  <a:srgbClr val="8A99A3"/>
                </a:solidFill>
              </a:rPr>
              <a:t>        –  </a:t>
            </a:r>
            <a:r>
              <a:rPr sz="1900" b="0" i="0">
                <a:solidFill>
                  <a:srgbClr val="8A99A3"/>
                </a:solidFill>
              </a:rPr>
              <a:t>With few observations every method has little information; rank tests can have very low power</a:t>
            </a:r>
          </a:p>
          <a:p>
            <a:pPr>
              <a:spcAft>
                <a:spcPts val="1000"/>
              </a:spcAft>
            </a:pPr>
            <a:r>
              <a:rPr sz="1600" b="0" i="0">
                <a:solidFill>
                  <a:srgbClr val="0D7377"/>
                </a:solidFill>
              </a:rPr>
              <a:t>●  </a:t>
            </a:r>
            <a:r>
              <a:rPr sz="2200" b="0" i="0">
                <a:solidFill>
                  <a:srgbClr val="1F2D33"/>
                </a:solidFill>
              </a:rPr>
              <a:t>For t-tests the normality assumption concerns the sampling distribution of the mean (or the residuals)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Paired data: the paired t-test</a:t>
            </a:r>
          </a:p>
        </p:txBody>
      </p:sp>
      <p:sp>
        <p:nvSpPr>
          <p:cNvPr id="3" name="Slide Number Placeholder 2"/>
          <p:cNvSpPr>
            <a:spLocks noGrp="1"/>
          </p:cNvSpPr>
          <p:nvPr>
            <p:ph type="sldNum" idx="12" sz="quarter"/>
          </p:nvPr>
        </p:nvSpPr>
        <p:spPr/>
        <p:txBody>
          <a:bodyPr/>
          <a:lstStyle/>
          <a:p>
            <a:fld id="{B6F15528-21DE-4FAA-801E-634DDDAF4B2B}" type="slidenum">
              <a:rPr lang="en-GB"/>
              <a:t>27</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Calculate each person's change, then analyse the changes</a:t>
            </a:r>
          </a:p>
          <a:p>
            <a:pPr>
              <a:spcAft>
                <a:spcPts val="1000"/>
              </a:spcAft>
            </a:pPr>
            <a:r>
              <a:rPr sz="1600" b="0" i="0">
                <a:solidFill>
                  <a:srgbClr val="0D7377"/>
                </a:solidFill>
              </a:rPr>
              <a:t>●  </a:t>
            </a:r>
            <a:r>
              <a:rPr sz="2200" b="0" i="0">
                <a:solidFill>
                  <a:srgbClr val="1F2D33"/>
                </a:solidFill>
              </a:rPr>
              <a:t>Lifestyle group (n = 224): mean change -6.0 mmHg, 95% CI -7.2 to -4.8</a:t>
            </a:r>
          </a:p>
          <a:p>
            <a:pPr>
              <a:spcAft>
                <a:spcPts val="1000"/>
              </a:spcAft>
            </a:pPr>
            <a:r>
              <a:rPr sz="1600" b="0" i="0">
                <a:solidFill>
                  <a:srgbClr val="0D7377"/>
                </a:solidFill>
              </a:rPr>
              <a:t>●  </a:t>
            </a:r>
            <a:r>
              <a:rPr sz="2200" b="0" i="0">
                <a:solidFill>
                  <a:srgbClr val="1F2D33"/>
                </a:solidFill>
              </a:rPr>
              <a:t>Standard advice group (n = 215): mean change -2.0 mmHg, 95% CI -3.2 to -0.8</a:t>
            </a:r>
          </a:p>
          <a:p>
            <a:pPr>
              <a:spcAft>
                <a:spcPts val="1000"/>
              </a:spcAft>
            </a:pPr>
            <a:r>
              <a:rPr sz="1600" b="0" i="0">
                <a:solidFill>
                  <a:srgbClr val="0D7377"/>
                </a:solidFill>
              </a:rPr>
              <a:t>●  </a:t>
            </a:r>
            <a:r>
              <a:rPr sz="2200" b="0" i="0">
                <a:solidFill>
                  <a:srgbClr val="1F2D33"/>
                </a:solidFill>
              </a:rPr>
              <a:t>Rank-based alternative: Wilcoxon signed-rank test</a:t>
            </a:r>
          </a:p>
          <a:p>
            <a:pPr>
              <a:spcAft>
                <a:spcPts val="1000"/>
              </a:spcAft>
            </a:pPr>
            <a:r>
              <a:rPr sz="1600" b="0" i="0">
                <a:solidFill>
                  <a:srgbClr val="0D7377"/>
                </a:solidFill>
              </a:rPr>
              <a:t>●  </a:t>
            </a:r>
            <a:r>
              <a:rPr sz="2200" b="0" i="0">
                <a:solidFill>
                  <a:srgbClr val="1F2D33"/>
                </a:solidFill>
              </a:rPr>
              <a:t>To compare the programme with standard advice, compare the changes between the two groups:</a:t>
            </a:r>
          </a:p>
          <a:p>
            <a:pPr>
              <a:spcAft>
                <a:spcPts val="500"/>
              </a:spcAft>
            </a:pPr>
            <a:r>
              <a:rPr sz="1900" b="0" i="0">
                <a:solidFill>
                  <a:srgbClr val="8A99A3"/>
                </a:solidFill>
              </a:rPr>
              <a:t>        –  </a:t>
            </a:r>
            <a:r>
              <a:rPr sz="1900" b="0" i="0">
                <a:solidFill>
                  <a:srgbClr val="8A99A3"/>
                </a:solidFill>
              </a:rPr>
              <a:t>difference 4.0 mmHg, 95% CI 2.3 to 5.6 (Welch t-test on the changes)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More than two groups: one-way ANOVA</a:t>
            </a:r>
          </a:p>
        </p:txBody>
      </p:sp>
      <p:sp>
        <p:nvSpPr>
          <p:cNvPr id="3" name="Slide Number Placeholder 2"/>
          <p:cNvSpPr>
            <a:spLocks noGrp="1"/>
          </p:cNvSpPr>
          <p:nvPr>
            <p:ph type="sldNum" idx="12" sz="quarter"/>
          </p:nvPr>
        </p:nvSpPr>
        <p:spPr/>
        <p:txBody>
          <a:bodyPr/>
          <a:lstStyle/>
          <a:p>
            <a:fld id="{B6F15528-21DE-4FAA-801E-634DDDAF4B2B}" type="slidenum">
              <a:rPr lang="en-GB"/>
              <a:t>28</a:t>
            </a:fld>
          </a:p>
        </p:txBody>
      </p:sp>
      <p:sp>
        <p:nvSpPr>
          <p:cNvPr id="4" name="TextBox 3"/>
          <p:cNvSpPr txBox="1"/>
          <p:nvPr/>
        </p:nvSpPr>
        <p:spPr>
          <a:xfrm>
            <a:off x="429768" y="1389888"/>
            <a:ext cx="5099471" cy="475488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Question: does mean SBP differ between the four districts?</a:t>
            </a:r>
          </a:p>
          <a:p>
            <a:pPr>
              <a:spcAft>
                <a:spcPts val="1000"/>
              </a:spcAft>
            </a:pPr>
            <a:r>
              <a:rPr sz="1300" b="0" i="0">
                <a:solidFill>
                  <a:srgbClr val="0D7377"/>
                </a:solidFill>
              </a:rPr>
              <a:t>●  </a:t>
            </a:r>
            <a:r>
              <a:rPr sz="1900" b="0" i="0">
                <a:solidFill>
                  <a:srgbClr val="1F2D33"/>
                </a:solidFill>
              </a:rPr>
              <a:t>Welch's ANOVA: F = 6.8, p &lt; 0.001</a:t>
            </a:r>
          </a:p>
          <a:p>
            <a:pPr>
              <a:spcAft>
                <a:spcPts val="1000"/>
              </a:spcAft>
            </a:pPr>
            <a:r>
              <a:rPr sz="1300" b="0" i="0">
                <a:solidFill>
                  <a:srgbClr val="0D7377"/>
                </a:solidFill>
              </a:rPr>
              <a:t>●  </a:t>
            </a:r>
            <a:r>
              <a:rPr sz="1900" b="0" i="0">
                <a:solidFill>
                  <a:srgbClr val="1F2D33"/>
                </a:solidFill>
              </a:rPr>
              <a:t>The overall test says the means are not all equal</a:t>
            </a:r>
          </a:p>
          <a:p>
            <a:pPr>
              <a:spcAft>
                <a:spcPts val="1000"/>
              </a:spcAft>
            </a:pPr>
            <a:r>
              <a:rPr sz="1300" b="0" i="0">
                <a:solidFill>
                  <a:srgbClr val="0D7377"/>
                </a:solidFill>
              </a:rPr>
              <a:t>●  </a:t>
            </a:r>
            <a:r>
              <a:rPr sz="1900" b="0" i="0">
                <a:solidFill>
                  <a:srgbClr val="1F2D33"/>
                </a:solidFill>
              </a:rPr>
              <a:t>It does not say which districts differ</a:t>
            </a:r>
          </a:p>
          <a:p>
            <a:pPr>
              <a:spcAft>
                <a:spcPts val="1000"/>
              </a:spcAft>
            </a:pPr>
            <a:r>
              <a:rPr sz="1300" b="0" i="0">
                <a:solidFill>
                  <a:srgbClr val="0D7377"/>
                </a:solidFill>
              </a:rPr>
              <a:t>●  </a:t>
            </a:r>
            <a:r>
              <a:rPr sz="1900" b="0" i="0">
                <a:solidFill>
                  <a:srgbClr val="1F2D33"/>
                </a:solidFill>
              </a:rPr>
              <a:t>Assumptions: independence, similar spread (or use Welch), approximately normal residuals</a:t>
            </a:r>
          </a:p>
        </p:txBody>
      </p:sp>
      <p:pic>
        <p:nvPicPr>
          <p:cNvPr id="5" name="Picture 4" descr="f_anova_district.png"/>
          <p:cNvPicPr>
            <a:picLocks noChangeAspect="1"/>
          </p:cNvPicPr>
          <p:nvPr/>
        </p:nvPicPr>
        <p:blipFill>
          <a:blip r:embed="rId3"/>
          <a:stretch>
            <a:fillRect/>
          </a:stretch>
        </p:blipFill>
        <p:spPr>
          <a:xfrm>
            <a:off x="5712119" y="1876763"/>
            <a:ext cx="6049808" cy="378113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Which groups differ? Pairwise comparisons</a:t>
            </a:r>
          </a:p>
        </p:txBody>
      </p:sp>
      <p:sp>
        <p:nvSpPr>
          <p:cNvPr id="3" name="Slide Number Placeholder 2"/>
          <p:cNvSpPr>
            <a:spLocks noGrp="1"/>
          </p:cNvSpPr>
          <p:nvPr>
            <p:ph type="sldNum" idx="12" sz="quarter"/>
          </p:nvPr>
        </p:nvSpPr>
        <p:spPr/>
        <p:txBody>
          <a:bodyPr/>
          <a:lstStyle/>
          <a:p>
            <a:fld id="{B6F15528-21DE-4FAA-801E-634DDDAF4B2B}" type="slidenum">
              <a:rPr lang="en-GB"/>
              <a:t>29</a:t>
            </a:fld>
          </a:p>
        </p:txBody>
      </p:sp>
      <p:graphicFrame>
        <p:nvGraphicFramePr>
          <p:cNvPr id="4" name="Table 3"/>
          <p:cNvGraphicFramePr>
            <a:graphicFrameLocks noGrp="1"/>
          </p:cNvGraphicFramePr>
          <p:nvPr/>
        </p:nvGraphicFramePr>
        <p:xfrm>
          <a:off x="429768" y="1435608"/>
          <a:ext cx="11332157" cy="3200400"/>
        </p:xfrm>
        <a:graphic>
          <a:graphicData uri="http://schemas.openxmlformats.org/drawingml/2006/table">
            <a:tbl>
              <a:tblPr firstRow="1" bandRow="1">
                <a:tableStyleId>{5C22544A-7EE6-4342-B048-85BDC9FD1C3A}</a:tableStyleId>
              </a:tblPr>
              <a:tblGrid>
                <a:gridCol w="4532863"/>
                <a:gridCol w="3399647"/>
                <a:gridCol w="3399647"/>
              </a:tblGrid>
              <a:tr h="457200">
                <a:tc>
                  <a:txBody>
                    <a:bodyPr/>
                    <a:lstStyle/>
                    <a:p>
                      <a:r>
                        <a:rPr sz="1900" b="1" i="0">
                          <a:solidFill>
                            <a:srgbClr val="FFFFFF"/>
                          </a:solidFill>
                        </a:rPr>
                        <a:t>Comparison (Tukey)</a:t>
                      </a:r>
                    </a:p>
                  </a:txBody>
                  <a:tcPr marL="73152" marR="73152" marT="36576" marB="36576">
                    <a:solidFill>
                      <a:srgbClr val="04242F"/>
                    </a:solidFill>
                  </a:tcPr>
                </a:tc>
                <a:tc>
                  <a:txBody>
                    <a:bodyPr/>
                    <a:lstStyle/>
                    <a:p>
                      <a:r>
                        <a:rPr sz="1900" b="1" i="0">
                          <a:solidFill>
                            <a:srgbClr val="FFFFFF"/>
                          </a:solidFill>
                        </a:rPr>
                        <a:t>Difference (mmHg)</a:t>
                      </a:r>
                    </a:p>
                  </a:txBody>
                  <a:tcPr marL="73152" marR="73152" marT="36576" marB="36576">
                    <a:solidFill>
                      <a:srgbClr val="04242F"/>
                    </a:solidFill>
                  </a:tcPr>
                </a:tc>
                <a:tc>
                  <a:txBody>
                    <a:bodyPr/>
                    <a:lstStyle/>
                    <a:p>
                      <a:r>
                        <a:rPr sz="1900" b="1" i="0">
                          <a:solidFill>
                            <a:srgbClr val="FFFFFF"/>
                          </a:solidFill>
                        </a:rPr>
                        <a:t>95% CI (adjusted)</a:t>
                      </a:r>
                    </a:p>
                  </a:txBody>
                  <a:tcPr marL="73152" marR="73152" marT="36576" marB="36576">
                    <a:solidFill>
                      <a:srgbClr val="04242F"/>
                    </a:solidFill>
                  </a:tcPr>
                </a:tc>
              </a:tr>
              <a:tr h="457200">
                <a:tc>
                  <a:txBody>
                    <a:bodyPr/>
                    <a:lstStyle/>
                    <a:p>
                      <a:r>
                        <a:rPr sz="1900" b="0" i="0">
                          <a:solidFill>
                            <a:srgbClr val="1F2D33"/>
                          </a:solidFill>
                        </a:rPr>
                        <a:t>South - North</a:t>
                      </a:r>
                    </a:p>
                  </a:txBody>
                  <a:tcPr marL="73152" marR="73152" marT="36576" marB="36576">
                    <a:solidFill>
                      <a:srgbClr val="FFFFFF"/>
                    </a:solidFill>
                  </a:tcPr>
                </a:tc>
                <a:tc>
                  <a:txBody>
                    <a:bodyPr/>
                    <a:lstStyle/>
                    <a:p>
                      <a:r>
                        <a:rPr sz="1900" b="0" i="0">
                          <a:solidFill>
                            <a:srgbClr val="1F2D33"/>
                          </a:solidFill>
                        </a:rPr>
                        <a:t>7.6</a:t>
                      </a:r>
                    </a:p>
                  </a:txBody>
                  <a:tcPr marL="73152" marR="73152" marT="36576" marB="36576">
                    <a:solidFill>
                      <a:srgbClr val="FFFFFF"/>
                    </a:solidFill>
                  </a:tcPr>
                </a:tc>
                <a:tc>
                  <a:txBody>
                    <a:bodyPr/>
                    <a:lstStyle/>
                    <a:p>
                      <a:r>
                        <a:rPr sz="1900" b="0" i="0">
                          <a:solidFill>
                            <a:srgbClr val="1F2D33"/>
                          </a:solidFill>
                        </a:rPr>
                        <a:t>2.5 to 12.8</a:t>
                      </a:r>
                    </a:p>
                  </a:txBody>
                  <a:tcPr marL="73152" marR="73152" marT="36576" marB="36576">
                    <a:solidFill>
                      <a:srgbClr val="FFFFFF"/>
                    </a:solidFill>
                  </a:tcPr>
                </a:tc>
              </a:tr>
              <a:tr h="457200">
                <a:tc>
                  <a:txBody>
                    <a:bodyPr/>
                    <a:lstStyle/>
                    <a:p>
                      <a:r>
                        <a:rPr sz="1900" b="0" i="0">
                          <a:solidFill>
                            <a:srgbClr val="1F2D33"/>
                          </a:solidFill>
                        </a:rPr>
                        <a:t>East - North</a:t>
                      </a:r>
                    </a:p>
                  </a:txBody>
                  <a:tcPr marL="73152" marR="73152" marT="36576" marB="36576">
                    <a:solidFill>
                      <a:srgbClr val="EAF2F5"/>
                    </a:solidFill>
                  </a:tcPr>
                </a:tc>
                <a:tc>
                  <a:txBody>
                    <a:bodyPr/>
                    <a:lstStyle/>
                    <a:p>
                      <a:r>
                        <a:rPr sz="1900" b="0" i="0">
                          <a:solidFill>
                            <a:srgbClr val="1F2D33"/>
                          </a:solidFill>
                        </a:rPr>
                        <a:t>4.5</a:t>
                      </a:r>
                    </a:p>
                  </a:txBody>
                  <a:tcPr marL="73152" marR="73152" marT="36576" marB="36576">
                    <a:solidFill>
                      <a:srgbClr val="EAF2F5"/>
                    </a:solidFill>
                  </a:tcPr>
                </a:tc>
                <a:tc>
                  <a:txBody>
                    <a:bodyPr/>
                    <a:lstStyle/>
                    <a:p>
                      <a:r>
                        <a:rPr sz="1900" b="0" i="0">
                          <a:solidFill>
                            <a:srgbClr val="1F2D33"/>
                          </a:solidFill>
                        </a:rPr>
                        <a:t>-0.6 to 9.5</a:t>
                      </a:r>
                    </a:p>
                  </a:txBody>
                  <a:tcPr marL="73152" marR="73152" marT="36576" marB="36576">
                    <a:solidFill>
                      <a:srgbClr val="EAF2F5"/>
                    </a:solidFill>
                  </a:tcPr>
                </a:tc>
              </a:tr>
              <a:tr h="457200">
                <a:tc>
                  <a:txBody>
                    <a:bodyPr/>
                    <a:lstStyle/>
                    <a:p>
                      <a:r>
                        <a:rPr sz="1900" b="0" i="0">
                          <a:solidFill>
                            <a:srgbClr val="1F2D33"/>
                          </a:solidFill>
                        </a:rPr>
                        <a:t>West - North</a:t>
                      </a:r>
                    </a:p>
                  </a:txBody>
                  <a:tcPr marL="73152" marR="73152" marT="36576" marB="36576">
                    <a:solidFill>
                      <a:srgbClr val="FFFFFF"/>
                    </a:solidFill>
                  </a:tcPr>
                </a:tc>
                <a:tc>
                  <a:txBody>
                    <a:bodyPr/>
                    <a:lstStyle/>
                    <a:p>
                      <a:r>
                        <a:rPr sz="1900" b="0" i="0">
                          <a:solidFill>
                            <a:srgbClr val="1F2D33"/>
                          </a:solidFill>
                        </a:rPr>
                        <a:t>-0.3</a:t>
                      </a:r>
                    </a:p>
                  </a:txBody>
                  <a:tcPr marL="73152" marR="73152" marT="36576" marB="36576">
                    <a:solidFill>
                      <a:srgbClr val="FFFFFF"/>
                    </a:solidFill>
                  </a:tcPr>
                </a:tc>
                <a:tc>
                  <a:txBody>
                    <a:bodyPr/>
                    <a:lstStyle/>
                    <a:p>
                      <a:r>
                        <a:rPr sz="1900" b="0" i="0">
                          <a:solidFill>
                            <a:srgbClr val="1F2D33"/>
                          </a:solidFill>
                        </a:rPr>
                        <a:t>-5.4 to 4.7</a:t>
                      </a:r>
                    </a:p>
                  </a:txBody>
                  <a:tcPr marL="73152" marR="73152" marT="36576" marB="36576">
                    <a:solidFill>
                      <a:srgbClr val="FFFFFF"/>
                    </a:solidFill>
                  </a:tcPr>
                </a:tc>
              </a:tr>
              <a:tr h="457200">
                <a:tc>
                  <a:txBody>
                    <a:bodyPr/>
                    <a:lstStyle/>
                    <a:p>
                      <a:r>
                        <a:rPr sz="1900" b="0" i="0">
                          <a:solidFill>
                            <a:srgbClr val="1F2D33"/>
                          </a:solidFill>
                        </a:rPr>
                        <a:t>East - South</a:t>
                      </a:r>
                    </a:p>
                  </a:txBody>
                  <a:tcPr marL="73152" marR="73152" marT="36576" marB="36576">
                    <a:solidFill>
                      <a:srgbClr val="EAF2F5"/>
                    </a:solidFill>
                  </a:tcPr>
                </a:tc>
                <a:tc>
                  <a:txBody>
                    <a:bodyPr/>
                    <a:lstStyle/>
                    <a:p>
                      <a:r>
                        <a:rPr sz="1900" b="0" i="0">
                          <a:solidFill>
                            <a:srgbClr val="1F2D33"/>
                          </a:solidFill>
                        </a:rPr>
                        <a:t>-3.2</a:t>
                      </a:r>
                    </a:p>
                  </a:txBody>
                  <a:tcPr marL="73152" marR="73152" marT="36576" marB="36576">
                    <a:solidFill>
                      <a:srgbClr val="EAF2F5"/>
                    </a:solidFill>
                  </a:tcPr>
                </a:tc>
                <a:tc>
                  <a:txBody>
                    <a:bodyPr/>
                    <a:lstStyle/>
                    <a:p>
                      <a:r>
                        <a:rPr sz="1900" b="0" i="0">
                          <a:solidFill>
                            <a:srgbClr val="1F2D33"/>
                          </a:solidFill>
                        </a:rPr>
                        <a:t>-8.3 to 1.9</a:t>
                      </a:r>
                    </a:p>
                  </a:txBody>
                  <a:tcPr marL="73152" marR="73152" marT="36576" marB="36576">
                    <a:solidFill>
                      <a:srgbClr val="EAF2F5"/>
                    </a:solidFill>
                  </a:tcPr>
                </a:tc>
              </a:tr>
              <a:tr h="457200">
                <a:tc>
                  <a:txBody>
                    <a:bodyPr/>
                    <a:lstStyle/>
                    <a:p>
                      <a:r>
                        <a:rPr sz="1900" b="0" i="0">
                          <a:solidFill>
                            <a:srgbClr val="1F2D33"/>
                          </a:solidFill>
                        </a:rPr>
                        <a:t>West - South</a:t>
                      </a:r>
                    </a:p>
                  </a:txBody>
                  <a:tcPr marL="73152" marR="73152" marT="36576" marB="36576">
                    <a:solidFill>
                      <a:srgbClr val="FFFFFF"/>
                    </a:solidFill>
                  </a:tcPr>
                </a:tc>
                <a:tc>
                  <a:txBody>
                    <a:bodyPr/>
                    <a:lstStyle/>
                    <a:p>
                      <a:r>
                        <a:rPr sz="1900" b="0" i="0">
                          <a:solidFill>
                            <a:srgbClr val="1F2D33"/>
                          </a:solidFill>
                        </a:rPr>
                        <a:t>-8.0</a:t>
                      </a:r>
                    </a:p>
                  </a:txBody>
                  <a:tcPr marL="73152" marR="73152" marT="36576" marB="36576">
                    <a:solidFill>
                      <a:srgbClr val="FFFFFF"/>
                    </a:solidFill>
                  </a:tcPr>
                </a:tc>
                <a:tc>
                  <a:txBody>
                    <a:bodyPr/>
                    <a:lstStyle/>
                    <a:p>
                      <a:r>
                        <a:rPr sz="1900" b="0" i="0">
                          <a:solidFill>
                            <a:srgbClr val="1F2D33"/>
                          </a:solidFill>
                        </a:rPr>
                        <a:t>-13.1 to -2.8</a:t>
                      </a:r>
                    </a:p>
                  </a:txBody>
                  <a:tcPr marL="73152" marR="73152" marT="36576" marB="36576">
                    <a:solidFill>
                      <a:srgbClr val="FFFFFF"/>
                    </a:solidFill>
                  </a:tcPr>
                </a:tc>
              </a:tr>
              <a:tr h="457200">
                <a:tc>
                  <a:txBody>
                    <a:bodyPr/>
                    <a:lstStyle/>
                    <a:p>
                      <a:r>
                        <a:rPr sz="1900" b="0" i="0">
                          <a:solidFill>
                            <a:srgbClr val="1F2D33"/>
                          </a:solidFill>
                        </a:rPr>
                        <a:t>West - East</a:t>
                      </a:r>
                    </a:p>
                  </a:txBody>
                  <a:tcPr marL="73152" marR="73152" marT="36576" marB="36576">
                    <a:solidFill>
                      <a:srgbClr val="EAF2F5"/>
                    </a:solidFill>
                  </a:tcPr>
                </a:tc>
                <a:tc>
                  <a:txBody>
                    <a:bodyPr/>
                    <a:lstStyle/>
                    <a:p>
                      <a:r>
                        <a:rPr sz="1900" b="0" i="0">
                          <a:solidFill>
                            <a:srgbClr val="1F2D33"/>
                          </a:solidFill>
                        </a:rPr>
                        <a:t>-4.8</a:t>
                      </a:r>
                    </a:p>
                  </a:txBody>
                  <a:tcPr marL="73152" marR="73152" marT="36576" marB="36576">
                    <a:solidFill>
                      <a:srgbClr val="EAF2F5"/>
                    </a:solidFill>
                  </a:tcPr>
                </a:tc>
                <a:tc>
                  <a:txBody>
                    <a:bodyPr/>
                    <a:lstStyle/>
                    <a:p>
                      <a:r>
                        <a:rPr sz="1900" b="0" i="0">
                          <a:solidFill>
                            <a:srgbClr val="1F2D33"/>
                          </a:solidFill>
                        </a:rPr>
                        <a:t>-9.8 to 0.2</a:t>
                      </a:r>
                    </a:p>
                  </a:txBody>
                  <a:tcPr marL="73152" marR="73152" marT="36576" marB="36576">
                    <a:solidFill>
                      <a:srgbClr val="EAF2F5"/>
                    </a:solidFill>
                  </a:tcPr>
                </a:tc>
              </a:tr>
            </a:tbl>
          </a:graphicData>
        </a:graphic>
      </p:graphicFrame>
      <p:sp>
        <p:nvSpPr>
          <p:cNvPr id="5" name="TextBox 4"/>
          <p:cNvSpPr txBox="1"/>
          <p:nvPr/>
        </p:nvSpPr>
        <p:spPr>
          <a:xfrm>
            <a:off x="429768" y="4910328"/>
            <a:ext cx="11332159" cy="12344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Six comparisons: adjust for multiple testing (Tukey, or Holm with pairwise.t.test)</a:t>
            </a:r>
          </a:p>
          <a:p>
            <a:pPr>
              <a:spcAft>
                <a:spcPts val="1000"/>
              </a:spcAft>
            </a:pPr>
            <a:r>
              <a:rPr sz="1300" b="0" i="0">
                <a:solidFill>
                  <a:srgbClr val="0D7377"/>
                </a:solidFill>
              </a:rPr>
              <a:t>●  </a:t>
            </a:r>
            <a:r>
              <a:rPr sz="1900" b="0" i="0">
                <a:solidFill>
                  <a:srgbClr val="1F2D33"/>
                </a:solidFill>
              </a:rPr>
              <a:t>Better still: decide the comparisons that matter before seeing the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Kruskal-Wallis: a rank-based comparison of several groups</a:t>
            </a:r>
          </a:p>
        </p:txBody>
      </p:sp>
      <p:sp>
        <p:nvSpPr>
          <p:cNvPr id="3" name="Slide Number Placeholder 2"/>
          <p:cNvSpPr>
            <a:spLocks noGrp="1"/>
          </p:cNvSpPr>
          <p:nvPr>
            <p:ph type="sldNum" idx="12" sz="quarter"/>
          </p:nvPr>
        </p:nvSpPr>
        <p:spPr/>
        <p:txBody>
          <a:bodyPr/>
          <a:lstStyle/>
          <a:p>
            <a:fld id="{B6F15528-21DE-4FAA-801E-634DDDAF4B2B}" type="slidenum">
              <a:rPr lang="en-GB"/>
              <a:t>30</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Extends the Wilcoxon rank-sum test to three or more independent groups</a:t>
            </a:r>
          </a:p>
          <a:p>
            <a:pPr>
              <a:spcAft>
                <a:spcPts val="1000"/>
              </a:spcAft>
            </a:pPr>
            <a:r>
              <a:rPr sz="1600" b="0" i="0">
                <a:solidFill>
                  <a:srgbClr val="0D7377"/>
                </a:solidFill>
              </a:rPr>
              <a:t>●  </a:t>
            </a:r>
            <a:r>
              <a:rPr sz="2200" b="0" i="0">
                <a:solidFill>
                  <a:srgbClr val="1F2D33"/>
                </a:solidFill>
              </a:rPr>
              <a:t>Asks whether values tend to be larger in some groups than others</a:t>
            </a:r>
          </a:p>
          <a:p>
            <a:pPr>
              <a:spcAft>
                <a:spcPts val="1000"/>
              </a:spcAft>
            </a:pPr>
            <a:r>
              <a:rPr sz="1600" b="0" i="0">
                <a:solidFill>
                  <a:srgbClr val="0D7377"/>
                </a:solidFill>
              </a:rPr>
              <a:t>●  </a:t>
            </a:r>
            <a:r>
              <a:rPr sz="2200" b="0" i="0">
                <a:solidFill>
                  <a:srgbClr val="1F2D33"/>
                </a:solidFill>
              </a:rPr>
              <a:t>CRP by district: medians 1.8 to 2.5 mg/L, Kruskal-Wallis p = 0.07</a:t>
            </a:r>
          </a:p>
          <a:p>
            <a:pPr>
              <a:spcAft>
                <a:spcPts val="1000"/>
              </a:spcAft>
            </a:pPr>
            <a:r>
              <a:rPr sz="1600" b="0" i="0">
                <a:solidFill>
                  <a:srgbClr val="0D7377"/>
                </a:solidFill>
              </a:rPr>
              <a:t>●  </a:t>
            </a:r>
            <a:r>
              <a:rPr sz="2200" b="0" i="0">
                <a:solidFill>
                  <a:srgbClr val="1F2D33"/>
                </a:solidFill>
              </a:rPr>
              <a:t>A p-value above 0.05 is not proof of no difference: the data are inconclusive</a:t>
            </a:r>
          </a:p>
          <a:p>
            <a:pPr>
              <a:spcAft>
                <a:spcPts val="1000"/>
              </a:spcAft>
            </a:pPr>
            <a:r>
              <a:rPr sz="1600" b="0" i="0">
                <a:solidFill>
                  <a:srgbClr val="0D7377"/>
                </a:solidFill>
              </a:rPr>
              <a:t>●  </a:t>
            </a:r>
            <a:r>
              <a:rPr sz="2200" b="0" i="0">
                <a:solidFill>
                  <a:srgbClr val="1F2D33"/>
                </a:solidFill>
              </a:rPr>
              <a:t>Like Wilcoxon, it assumes independence and is not generally a test of medians</a:t>
            </a:r>
          </a:p>
          <a:p>
            <a:pPr>
              <a:spcAft>
                <a:spcPts val="1000"/>
              </a:spcAft>
            </a:pPr>
            <a:r>
              <a:rPr sz="1600" b="0" i="0">
                <a:solidFill>
                  <a:srgbClr val="0D7377"/>
                </a:solidFill>
              </a:rPr>
              <a:t>●  </a:t>
            </a:r>
            <a:r>
              <a:rPr sz="2200" b="0" i="0">
                <a:solidFill>
                  <a:srgbClr val="1F2D33"/>
                </a:solidFill>
              </a:rPr>
              <a:t>Follow-up: pairwise Wilcoxon tests with adjusted p-values, if justified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Associations between categorical variables</a:t>
            </a:r>
          </a:p>
        </p:txBody>
      </p:sp>
      <p:sp>
        <p:nvSpPr>
          <p:cNvPr id="3" name="Text Placeholder 2"/>
          <p:cNvSpPr>
            <a:spLocks noGrp="1"/>
          </p:cNvSpPr>
          <p:nvPr>
            <p:ph type="body" idx="1"/>
          </p:nvPr>
        </p:nvSpPr>
        <p:spPr/>
        <p:txBody>
          <a:bodyPr/>
          <a:lstStyle/>
          <a:p>
            <a:r>
              <a:t>Part 5. Contingency tables, risks, odds, chi-square and Fisher's exact test</a:t>
            </a:r>
          </a:p>
        </p:txBody>
      </p:sp>
      <p:sp>
        <p:nvSpPr>
          <p:cNvPr id="4" name="Slide Number Placeholder 3"/>
          <p:cNvSpPr>
            <a:spLocks noGrp="1"/>
          </p:cNvSpPr>
          <p:nvPr>
            <p:ph type="sldNum" idx="12" sz="quarter"/>
          </p:nvPr>
        </p:nvSpPr>
        <p:spPr/>
        <p:txBody>
          <a:bodyPr/>
          <a:lstStyle/>
          <a:p>
            <a:fld id="{B6F15528-21DE-4FAA-801E-634DDDAF4B2B}" type="slidenum">
              <a:rPr lang="en-GB"/>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2 × 2 table: smoking and high blood pressure</a:t>
            </a:r>
          </a:p>
        </p:txBody>
      </p:sp>
      <p:sp>
        <p:nvSpPr>
          <p:cNvPr id="3" name="Slide Number Placeholder 2"/>
          <p:cNvSpPr>
            <a:spLocks noGrp="1"/>
          </p:cNvSpPr>
          <p:nvPr>
            <p:ph type="sldNum" idx="12" sz="quarter"/>
          </p:nvPr>
        </p:nvSpPr>
        <p:spPr/>
        <p:txBody>
          <a:bodyPr/>
          <a:lstStyle/>
          <a:p>
            <a:fld id="{B6F15528-21DE-4FAA-801E-634DDDAF4B2B}" type="slidenum">
              <a:rPr lang="en-GB"/>
              <a:t>32</a:t>
            </a:fld>
          </a:p>
        </p:txBody>
      </p:sp>
      <p:graphicFrame>
        <p:nvGraphicFramePr>
          <p:cNvPr id="4" name="Table 3"/>
          <p:cNvGraphicFramePr>
            <a:graphicFrameLocks noGrp="1"/>
          </p:cNvGraphicFramePr>
          <p:nvPr/>
        </p:nvGraphicFramePr>
        <p:xfrm>
          <a:off x="429768" y="1435608"/>
          <a:ext cx="11332157" cy="1828800"/>
        </p:xfrm>
        <a:graphic>
          <a:graphicData uri="http://schemas.openxmlformats.org/drawingml/2006/table">
            <a:tbl>
              <a:tblPr firstRow="1" bandRow="1">
                <a:tableStyleId>{5C22544A-7EE6-4342-B048-85BDC9FD1C3A}</a:tableStyleId>
              </a:tblPr>
              <a:tblGrid>
                <a:gridCol w="2179261"/>
                <a:gridCol w="1961335"/>
                <a:gridCol w="1961335"/>
                <a:gridCol w="1416519"/>
                <a:gridCol w="3813707"/>
              </a:tblGrid>
              <a:tr h="457200">
                <a:tc>
                  <a:txBody>
                    <a:bodyPr/>
                    <a:lstStyle/>
                    <a:p>
                      <a:r>
                        <a:rPr sz="1900" b="1" i="0">
                          <a:solidFill>
                            <a:srgbClr val="FFFFFF"/>
                          </a:solidFill>
                        </a:rPr>
                        <a:t/>
                      </a:r>
                    </a:p>
                  </a:txBody>
                  <a:tcPr marL="73152" marR="73152" marT="36576" marB="36576">
                    <a:solidFill>
                      <a:srgbClr val="04242F"/>
                    </a:solidFill>
                  </a:tcPr>
                </a:tc>
                <a:tc>
                  <a:txBody>
                    <a:bodyPr/>
                    <a:lstStyle/>
                    <a:p>
                      <a:r>
                        <a:rPr sz="1900" b="1" i="0">
                          <a:solidFill>
                            <a:srgbClr val="FFFFFF"/>
                          </a:solidFill>
                        </a:rPr>
                        <a:t>High BP: yes</a:t>
                      </a:r>
                    </a:p>
                  </a:txBody>
                  <a:tcPr marL="73152" marR="73152" marT="36576" marB="36576">
                    <a:solidFill>
                      <a:srgbClr val="04242F"/>
                    </a:solidFill>
                  </a:tcPr>
                </a:tc>
                <a:tc>
                  <a:txBody>
                    <a:bodyPr/>
                    <a:lstStyle/>
                    <a:p>
                      <a:r>
                        <a:rPr sz="1900" b="1" i="0">
                          <a:solidFill>
                            <a:srgbClr val="FFFFFF"/>
                          </a:solidFill>
                        </a:rPr>
                        <a:t>High BP: no</a:t>
                      </a:r>
                    </a:p>
                  </a:txBody>
                  <a:tcPr marL="73152" marR="73152" marT="36576" marB="36576">
                    <a:solidFill>
                      <a:srgbClr val="04242F"/>
                    </a:solidFill>
                  </a:tcPr>
                </a:tc>
                <a:tc>
                  <a:txBody>
                    <a:bodyPr/>
                    <a:lstStyle/>
                    <a:p>
                      <a:r>
                        <a:rPr sz="1900" b="1" i="0">
                          <a:solidFill>
                            <a:srgbClr val="FFFFFF"/>
                          </a:solidFill>
                        </a:rPr>
                        <a:t>Total</a:t>
                      </a:r>
                    </a:p>
                  </a:txBody>
                  <a:tcPr marL="73152" marR="73152" marT="36576" marB="36576">
                    <a:solidFill>
                      <a:srgbClr val="04242F"/>
                    </a:solidFill>
                  </a:tcPr>
                </a:tc>
                <a:tc>
                  <a:txBody>
                    <a:bodyPr/>
                    <a:lstStyle/>
                    <a:p>
                      <a:r>
                        <a:rPr sz="1900" b="1" i="0">
                          <a:solidFill>
                            <a:srgbClr val="FFFFFF"/>
                          </a:solidFill>
                        </a:rPr>
                        <a:t>Proportion with high BP</a:t>
                      </a:r>
                    </a:p>
                  </a:txBody>
                  <a:tcPr marL="73152" marR="73152" marT="36576" marB="36576">
                    <a:solidFill>
                      <a:srgbClr val="04242F"/>
                    </a:solidFill>
                  </a:tcPr>
                </a:tc>
              </a:tr>
              <a:tr h="457200">
                <a:tc>
                  <a:txBody>
                    <a:bodyPr/>
                    <a:lstStyle/>
                    <a:p>
                      <a:r>
                        <a:rPr sz="1900" b="0" i="0">
                          <a:solidFill>
                            <a:srgbClr val="1F2D33"/>
                          </a:solidFill>
                        </a:rPr>
                        <a:t>Smoker</a:t>
                      </a:r>
                    </a:p>
                  </a:txBody>
                  <a:tcPr marL="73152" marR="73152" marT="36576" marB="36576">
                    <a:solidFill>
                      <a:srgbClr val="FFFFFF"/>
                    </a:solidFill>
                  </a:tcPr>
                </a:tc>
                <a:tc>
                  <a:txBody>
                    <a:bodyPr/>
                    <a:lstStyle/>
                    <a:p>
                      <a:r>
                        <a:rPr sz="1900" b="0" i="0">
                          <a:solidFill>
                            <a:srgbClr val="1F2D33"/>
                          </a:solidFill>
                        </a:rPr>
                        <a:t>38</a:t>
                      </a:r>
                    </a:p>
                  </a:txBody>
                  <a:tcPr marL="73152" marR="73152" marT="36576" marB="36576">
                    <a:solidFill>
                      <a:srgbClr val="FFFFFF"/>
                    </a:solidFill>
                  </a:tcPr>
                </a:tc>
                <a:tc>
                  <a:txBody>
                    <a:bodyPr/>
                    <a:lstStyle/>
                    <a:p>
                      <a:r>
                        <a:rPr sz="1900" b="0" i="0">
                          <a:solidFill>
                            <a:srgbClr val="1F2D33"/>
                          </a:solidFill>
                        </a:rPr>
                        <a:t>41</a:t>
                      </a:r>
                    </a:p>
                  </a:txBody>
                  <a:tcPr marL="73152" marR="73152" marT="36576" marB="36576">
                    <a:solidFill>
                      <a:srgbClr val="FFFFFF"/>
                    </a:solidFill>
                  </a:tcPr>
                </a:tc>
                <a:tc>
                  <a:txBody>
                    <a:bodyPr/>
                    <a:lstStyle/>
                    <a:p>
                      <a:r>
                        <a:rPr sz="1900" b="0" i="0">
                          <a:solidFill>
                            <a:srgbClr val="1F2D33"/>
                          </a:solidFill>
                        </a:rPr>
                        <a:t>79</a:t>
                      </a:r>
                    </a:p>
                  </a:txBody>
                  <a:tcPr marL="73152" marR="73152" marT="36576" marB="36576">
                    <a:solidFill>
                      <a:srgbClr val="FFFFFF"/>
                    </a:solidFill>
                  </a:tcPr>
                </a:tc>
                <a:tc>
                  <a:txBody>
                    <a:bodyPr/>
                    <a:lstStyle/>
                    <a:p>
                      <a:r>
                        <a:rPr sz="1900" b="0" i="0">
                          <a:solidFill>
                            <a:srgbClr val="1F2D33"/>
                          </a:solidFill>
                        </a:rPr>
                        <a:t>38 / 79 = 48.1%</a:t>
                      </a:r>
                    </a:p>
                  </a:txBody>
                  <a:tcPr marL="73152" marR="73152" marT="36576" marB="36576">
                    <a:solidFill>
                      <a:srgbClr val="FFFFFF"/>
                    </a:solidFill>
                  </a:tcPr>
                </a:tc>
              </a:tr>
              <a:tr h="457200">
                <a:tc>
                  <a:txBody>
                    <a:bodyPr/>
                    <a:lstStyle/>
                    <a:p>
                      <a:r>
                        <a:rPr sz="1900" b="0" i="0">
                          <a:solidFill>
                            <a:srgbClr val="1F2D33"/>
                          </a:solidFill>
                        </a:rPr>
                        <a:t>Non-smoker</a:t>
                      </a:r>
                    </a:p>
                  </a:txBody>
                  <a:tcPr marL="73152" marR="73152" marT="36576" marB="36576">
                    <a:solidFill>
                      <a:srgbClr val="EAF2F5"/>
                    </a:solidFill>
                  </a:tcPr>
                </a:tc>
                <a:tc>
                  <a:txBody>
                    <a:bodyPr/>
                    <a:lstStyle/>
                    <a:p>
                      <a:r>
                        <a:rPr sz="1900" b="0" i="0">
                          <a:solidFill>
                            <a:srgbClr val="1F2D33"/>
                          </a:solidFill>
                        </a:rPr>
                        <a:t>86</a:t>
                      </a:r>
                    </a:p>
                  </a:txBody>
                  <a:tcPr marL="73152" marR="73152" marT="36576" marB="36576">
                    <a:solidFill>
                      <a:srgbClr val="EAF2F5"/>
                    </a:solidFill>
                  </a:tcPr>
                </a:tc>
                <a:tc>
                  <a:txBody>
                    <a:bodyPr/>
                    <a:lstStyle/>
                    <a:p>
                      <a:r>
                        <a:rPr sz="1900" b="0" i="0">
                          <a:solidFill>
                            <a:srgbClr val="1F2D33"/>
                          </a:solidFill>
                        </a:rPr>
                        <a:t>315</a:t>
                      </a:r>
                    </a:p>
                  </a:txBody>
                  <a:tcPr marL="73152" marR="73152" marT="36576" marB="36576">
                    <a:solidFill>
                      <a:srgbClr val="EAF2F5"/>
                    </a:solidFill>
                  </a:tcPr>
                </a:tc>
                <a:tc>
                  <a:txBody>
                    <a:bodyPr/>
                    <a:lstStyle/>
                    <a:p>
                      <a:r>
                        <a:rPr sz="1900" b="0" i="0">
                          <a:solidFill>
                            <a:srgbClr val="1F2D33"/>
                          </a:solidFill>
                        </a:rPr>
                        <a:t>401</a:t>
                      </a:r>
                    </a:p>
                  </a:txBody>
                  <a:tcPr marL="73152" marR="73152" marT="36576" marB="36576">
                    <a:solidFill>
                      <a:srgbClr val="EAF2F5"/>
                    </a:solidFill>
                  </a:tcPr>
                </a:tc>
                <a:tc>
                  <a:txBody>
                    <a:bodyPr/>
                    <a:lstStyle/>
                    <a:p>
                      <a:r>
                        <a:rPr sz="1900" b="0" i="0">
                          <a:solidFill>
                            <a:srgbClr val="1F2D33"/>
                          </a:solidFill>
                        </a:rPr>
                        <a:t>86 / 401 = 21.4%</a:t>
                      </a:r>
                    </a:p>
                  </a:txBody>
                  <a:tcPr marL="73152" marR="73152" marT="36576" marB="36576">
                    <a:solidFill>
                      <a:srgbClr val="EAF2F5"/>
                    </a:solidFill>
                  </a:tcPr>
                </a:tc>
              </a:tr>
              <a:tr h="457200">
                <a:tc>
                  <a:txBody>
                    <a:bodyPr/>
                    <a:lstStyle/>
                    <a:p>
                      <a:r>
                        <a:rPr sz="1900" b="0" i="0">
                          <a:solidFill>
                            <a:srgbClr val="1F2D33"/>
                          </a:solidFill>
                        </a:rPr>
                        <a:t>Total</a:t>
                      </a:r>
                    </a:p>
                  </a:txBody>
                  <a:tcPr marL="73152" marR="73152" marT="36576" marB="36576">
                    <a:solidFill>
                      <a:srgbClr val="FFFFFF"/>
                    </a:solidFill>
                  </a:tcPr>
                </a:tc>
                <a:tc>
                  <a:txBody>
                    <a:bodyPr/>
                    <a:lstStyle/>
                    <a:p>
                      <a:r>
                        <a:rPr sz="1900" b="0" i="0">
                          <a:solidFill>
                            <a:srgbClr val="1F2D33"/>
                          </a:solidFill>
                        </a:rPr>
                        <a:t>124</a:t>
                      </a:r>
                    </a:p>
                  </a:txBody>
                  <a:tcPr marL="73152" marR="73152" marT="36576" marB="36576">
                    <a:solidFill>
                      <a:srgbClr val="FFFFFF"/>
                    </a:solidFill>
                  </a:tcPr>
                </a:tc>
                <a:tc>
                  <a:txBody>
                    <a:bodyPr/>
                    <a:lstStyle/>
                    <a:p>
                      <a:r>
                        <a:rPr sz="1900" b="0" i="0">
                          <a:solidFill>
                            <a:srgbClr val="1F2D33"/>
                          </a:solidFill>
                        </a:rPr>
                        <a:t>356</a:t>
                      </a:r>
                    </a:p>
                  </a:txBody>
                  <a:tcPr marL="73152" marR="73152" marT="36576" marB="36576">
                    <a:solidFill>
                      <a:srgbClr val="FFFFFF"/>
                    </a:solidFill>
                  </a:tcPr>
                </a:tc>
                <a:tc>
                  <a:txBody>
                    <a:bodyPr/>
                    <a:lstStyle/>
                    <a:p>
                      <a:r>
                        <a:rPr sz="1900" b="0" i="0">
                          <a:solidFill>
                            <a:srgbClr val="1F2D33"/>
                          </a:solidFill>
                        </a:rPr>
                        <a:t>480</a:t>
                      </a:r>
                    </a:p>
                  </a:txBody>
                  <a:tcPr marL="73152" marR="73152" marT="36576" marB="36576">
                    <a:solidFill>
                      <a:srgbClr val="FFFFFF"/>
                    </a:solidFill>
                  </a:tcPr>
                </a:tc>
                <a:tc>
                  <a:txBody>
                    <a:bodyPr/>
                    <a:lstStyle/>
                    <a:p>
                      <a:r>
                        <a:rPr sz="1900" b="0" i="0">
                          <a:solidFill>
                            <a:srgbClr val="1F2D33"/>
                          </a:solidFill>
                        </a:rPr>
                        <a:t>124 / 480 = 25.8%</a:t>
                      </a:r>
                    </a:p>
                  </a:txBody>
                  <a:tcPr marL="73152" marR="73152" marT="36576" marB="36576">
                    <a:solidFill>
                      <a:srgbClr val="FFFFFF"/>
                    </a:solidFill>
                  </a:tcPr>
                </a:tc>
              </a:tr>
            </a:tbl>
          </a:graphicData>
        </a:graphic>
      </p:graphicFrame>
      <p:sp>
        <p:nvSpPr>
          <p:cNvPr id="5" name="TextBox 4"/>
          <p:cNvSpPr txBox="1"/>
          <p:nvPr/>
        </p:nvSpPr>
        <p:spPr>
          <a:xfrm>
            <a:off x="429768" y="3538728"/>
            <a:ext cx="11332159" cy="26060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Row proportions answer: how common is high BP in each smoking group?</a:t>
            </a:r>
          </a:p>
          <a:p>
            <a:pPr>
              <a:spcAft>
                <a:spcPts val="1000"/>
              </a:spcAft>
            </a:pPr>
            <a:r>
              <a:rPr sz="1300" b="0" i="0">
                <a:solidFill>
                  <a:srgbClr val="0D7377"/>
                </a:solidFill>
              </a:rPr>
              <a:t>●  </a:t>
            </a:r>
            <a:r>
              <a:rPr sz="1900" b="0" i="0">
                <a:solidFill>
                  <a:srgbClr val="1F2D33"/>
                </a:solidFill>
              </a:rPr>
              <a:t>Column proportions answer a different question: what share of people with high BP smoke?</a:t>
            </a:r>
          </a:p>
          <a:p>
            <a:pPr>
              <a:spcAft>
                <a:spcPts val="1000"/>
              </a:spcAft>
            </a:pPr>
            <a:r>
              <a:rPr sz="1300" b="0" i="0">
                <a:solidFill>
                  <a:srgbClr val="0D7377"/>
                </a:solidFill>
              </a:rPr>
              <a:t>●  </a:t>
            </a:r>
            <a:r>
              <a:rPr sz="1900" b="0" i="0">
                <a:solidFill>
                  <a:srgbClr val="1F2D33"/>
                </a:solidFill>
              </a:rPr>
              <a:t>High BP here means SBP ≥ 140 mmHg at baseline (a cross-sectional measurement)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Proportions, risks and odds</a:t>
            </a:r>
          </a:p>
        </p:txBody>
      </p:sp>
      <p:sp>
        <p:nvSpPr>
          <p:cNvPr id="3" name="Slide Number Placeholder 2"/>
          <p:cNvSpPr>
            <a:spLocks noGrp="1"/>
          </p:cNvSpPr>
          <p:nvPr>
            <p:ph type="sldNum" idx="12" sz="quarter"/>
          </p:nvPr>
        </p:nvSpPr>
        <p:spPr/>
        <p:txBody>
          <a:bodyPr/>
          <a:lstStyle/>
          <a:p>
            <a:fld id="{B6F15528-21DE-4FAA-801E-634DDDAF4B2B}" type="slidenum">
              <a:rPr lang="en-GB"/>
              <a:t>33</a:t>
            </a:fld>
          </a:p>
        </p:txBody>
      </p:sp>
      <p:sp>
        <p:nvSpPr>
          <p:cNvPr id="4" name="TextBox 3"/>
          <p:cNvSpPr txBox="1"/>
          <p:nvPr/>
        </p:nvSpPr>
        <p:spPr>
          <a:xfrm>
            <a:off x="429768" y="1389888"/>
            <a:ext cx="5099471" cy="379476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Proportion (prevalence): 38 / 79 = 0.48 vs 86 / 401 = 0.21</a:t>
            </a:r>
          </a:p>
          <a:p>
            <a:pPr>
              <a:spcAft>
                <a:spcPts val="1000"/>
              </a:spcAft>
            </a:pPr>
            <a:r>
              <a:rPr sz="1300" b="0" i="0">
                <a:solidFill>
                  <a:srgbClr val="0D7377"/>
                </a:solidFill>
              </a:rPr>
              <a:t>●  </a:t>
            </a:r>
            <a:r>
              <a:rPr sz="1900" b="0" i="0">
                <a:solidFill>
                  <a:srgbClr val="1F2D33"/>
                </a:solidFill>
              </a:rPr>
              <a:t>Prevalence ratio (PR): 0.48 / 0.21 = 2.24 (95% CI 1.67 to 3.02)</a:t>
            </a:r>
          </a:p>
          <a:p>
            <a:pPr>
              <a:spcAft>
                <a:spcPts val="1000"/>
              </a:spcAft>
            </a:pPr>
            <a:r>
              <a:rPr sz="1300" b="0" i="0">
                <a:solidFill>
                  <a:srgbClr val="0D7377"/>
                </a:solidFill>
              </a:rPr>
              <a:t>●  </a:t>
            </a:r>
            <a:r>
              <a:rPr sz="1900" b="0" i="0">
                <a:solidFill>
                  <a:srgbClr val="1F2D33"/>
                </a:solidFill>
              </a:rPr>
              <a:t>Odds: 38 / 41 = 0.93 vs 86 / 315 = 0.27</a:t>
            </a:r>
          </a:p>
          <a:p>
            <a:pPr>
              <a:spcAft>
                <a:spcPts val="1000"/>
              </a:spcAft>
            </a:pPr>
            <a:r>
              <a:rPr sz="1300" b="0" i="0">
                <a:solidFill>
                  <a:srgbClr val="0D7377"/>
                </a:solidFill>
              </a:rPr>
              <a:t>●  </a:t>
            </a:r>
            <a:r>
              <a:rPr sz="1900" b="0" i="0">
                <a:solidFill>
                  <a:srgbClr val="1F2D33"/>
                </a:solidFill>
              </a:rPr>
              <a:t>Odds ratio (OR): 0.93 / 0.27 = 3.39 (95% CI 2.06 to 5.61)</a:t>
            </a:r>
          </a:p>
          <a:p>
            <a:pPr>
              <a:spcAft>
                <a:spcPts val="1000"/>
              </a:spcAft>
            </a:pPr>
            <a:r>
              <a:rPr sz="1300" b="0" i="0">
                <a:solidFill>
                  <a:srgbClr val="0D7377"/>
                </a:solidFill>
              </a:rPr>
              <a:t>●  </a:t>
            </a:r>
            <a:r>
              <a:rPr sz="1900" b="0" i="0">
                <a:solidFill>
                  <a:srgbClr val="1F2D33"/>
                </a:solidFill>
              </a:rPr>
              <a:t>The OR is further from 1 than the PR because high BP is common</a:t>
            </a:r>
          </a:p>
        </p:txBody>
      </p:sp>
      <p:pic>
        <p:nvPicPr>
          <p:cNvPr id="5" name="Picture 4" descr="f_or_vs_rr.png"/>
          <p:cNvPicPr>
            <a:picLocks noChangeAspect="1"/>
          </p:cNvPicPr>
          <p:nvPr/>
        </p:nvPicPr>
        <p:blipFill>
          <a:blip r:embed="rId3"/>
          <a:stretch>
            <a:fillRect/>
          </a:stretch>
        </p:blipFill>
        <p:spPr>
          <a:xfrm>
            <a:off x="5712119" y="1606766"/>
            <a:ext cx="6049808" cy="3361004"/>
          </a:xfrm>
          <a:prstGeom prst="rect">
            <a:avLst/>
          </a:prstGeom>
        </p:spPr>
      </p:pic>
      <p:sp>
        <p:nvSpPr>
          <p:cNvPr id="6" name="Rectangle 5"/>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600" b="0" i="0">
                <a:solidFill>
                  <a:srgbClr val="04242F"/>
                </a:solidFill>
              </a:rPr>
              <a:t>Do not describe an OR of 3.4 as "3.4 times the risk". Here the prevalence is about 2.2 times higher.</a:t>
            </a:r>
          </a:p>
        </p:txBody>
      </p:sp>
      <p:sp>
        <p:nvSpPr>
          <p:cNvPr id="7" name="Rectangle 6"/>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study design decides which measure you can interpret</a:t>
            </a:r>
          </a:p>
        </p:txBody>
      </p:sp>
      <p:sp>
        <p:nvSpPr>
          <p:cNvPr id="3" name="Slide Number Placeholder 2"/>
          <p:cNvSpPr>
            <a:spLocks noGrp="1"/>
          </p:cNvSpPr>
          <p:nvPr>
            <p:ph type="sldNum" idx="12" sz="quarter"/>
          </p:nvPr>
        </p:nvSpPr>
        <p:spPr/>
        <p:txBody>
          <a:bodyPr/>
          <a:lstStyle/>
          <a:p>
            <a:fld id="{B6F15528-21DE-4FAA-801E-634DDDAF4B2B}" type="slidenum">
              <a:rPr lang="en-GB"/>
              <a:t>34</a:t>
            </a:fld>
          </a:p>
        </p:txBody>
      </p:sp>
      <p:graphicFrame>
        <p:nvGraphicFramePr>
          <p:cNvPr id="4" name="Table 3"/>
          <p:cNvGraphicFramePr>
            <a:graphicFrameLocks noGrp="1"/>
          </p:cNvGraphicFramePr>
          <p:nvPr/>
        </p:nvGraphicFramePr>
        <p:xfrm>
          <a:off x="429768" y="1435608"/>
          <a:ext cx="11332158" cy="1828800"/>
        </p:xfrm>
        <a:graphic>
          <a:graphicData uri="http://schemas.openxmlformats.org/drawingml/2006/table">
            <a:tbl>
              <a:tblPr firstRow="1" bandRow="1">
                <a:tableStyleId>{5C22544A-7EE6-4342-B048-85BDC9FD1C3A}</a:tableStyleId>
              </a:tblPr>
              <a:tblGrid>
                <a:gridCol w="2982147"/>
                <a:gridCol w="4970245"/>
                <a:gridCol w="3379766"/>
              </a:tblGrid>
              <a:tr h="457200">
                <a:tc>
                  <a:txBody>
                    <a:bodyPr/>
                    <a:lstStyle/>
                    <a:p>
                      <a:r>
                        <a:rPr sz="1900" b="1" i="0">
                          <a:solidFill>
                            <a:srgbClr val="FFFFFF"/>
                          </a:solidFill>
                        </a:rPr>
                        <a:t>Design</a:t>
                      </a:r>
                    </a:p>
                  </a:txBody>
                  <a:tcPr marL="73152" marR="73152" marT="36576" marB="36576">
                    <a:solidFill>
                      <a:srgbClr val="04242F"/>
                    </a:solidFill>
                  </a:tcPr>
                </a:tc>
                <a:tc>
                  <a:txBody>
                    <a:bodyPr/>
                    <a:lstStyle/>
                    <a:p>
                      <a:r>
                        <a:rPr sz="1900" b="1" i="0">
                          <a:solidFill>
                            <a:srgbClr val="FFFFFF"/>
                          </a:solidFill>
                        </a:rPr>
                        <a:t>What you can estimate</a:t>
                      </a:r>
                    </a:p>
                  </a:txBody>
                  <a:tcPr marL="73152" marR="73152" marT="36576" marB="36576">
                    <a:solidFill>
                      <a:srgbClr val="04242F"/>
                    </a:solidFill>
                  </a:tcPr>
                </a:tc>
                <a:tc>
                  <a:txBody>
                    <a:bodyPr/>
                    <a:lstStyle/>
                    <a:p>
                      <a:r>
                        <a:rPr sz="1900" b="1" i="0">
                          <a:solidFill>
                            <a:srgbClr val="FFFFFF"/>
                          </a:solidFill>
                        </a:rPr>
                        <a:t>Example</a:t>
                      </a:r>
                    </a:p>
                  </a:txBody>
                  <a:tcPr marL="73152" marR="73152" marT="36576" marB="36576">
                    <a:solidFill>
                      <a:srgbClr val="04242F"/>
                    </a:solidFill>
                  </a:tcPr>
                </a:tc>
              </a:tr>
              <a:tr h="457200">
                <a:tc>
                  <a:txBody>
                    <a:bodyPr/>
                    <a:lstStyle/>
                    <a:p>
                      <a:r>
                        <a:rPr sz="1900" b="0" i="0">
                          <a:solidFill>
                            <a:srgbClr val="1F2D33"/>
                          </a:solidFill>
                        </a:rPr>
                        <a:t>Cohort or randomised trial</a:t>
                      </a:r>
                    </a:p>
                  </a:txBody>
                  <a:tcPr marL="73152" marR="73152" marT="36576" marB="36576">
                    <a:solidFill>
                      <a:srgbClr val="FFFFFF"/>
                    </a:solidFill>
                  </a:tcPr>
                </a:tc>
                <a:tc>
                  <a:txBody>
                    <a:bodyPr/>
                    <a:lstStyle/>
                    <a:p>
                      <a:r>
                        <a:rPr sz="1900" b="0" i="0">
                          <a:solidFill>
                            <a:srgbClr val="1F2D33"/>
                          </a:solidFill>
                        </a:rPr>
                        <a:t>Risks, risk difference, risk ratio (RR), OR</a:t>
                      </a:r>
                    </a:p>
                  </a:txBody>
                  <a:tcPr marL="73152" marR="73152" marT="36576" marB="36576">
                    <a:solidFill>
                      <a:srgbClr val="FFFFFF"/>
                    </a:solidFill>
                  </a:tcPr>
                </a:tc>
                <a:tc>
                  <a:txBody>
                    <a:bodyPr/>
                    <a:lstStyle/>
                    <a:p>
                      <a:r>
                        <a:rPr sz="1900" b="0" i="0">
                          <a:solidFill>
                            <a:srgbClr val="1F2D33"/>
                          </a:solidFill>
                        </a:rPr>
                        <a:t>Adverse events by programme</a:t>
                      </a:r>
                    </a:p>
                  </a:txBody>
                  <a:tcPr marL="73152" marR="73152" marT="36576" marB="36576">
                    <a:solidFill>
                      <a:srgbClr val="FFFFFF"/>
                    </a:solidFill>
                  </a:tcPr>
                </a:tc>
              </a:tr>
              <a:tr h="457200">
                <a:tc>
                  <a:txBody>
                    <a:bodyPr/>
                    <a:lstStyle/>
                    <a:p>
                      <a:r>
                        <a:rPr sz="1900" b="0" i="0">
                          <a:solidFill>
                            <a:srgbClr val="1F2D33"/>
                          </a:solidFill>
                        </a:rPr>
                        <a:t>Cross-sectional survey</a:t>
                      </a:r>
                    </a:p>
                  </a:txBody>
                  <a:tcPr marL="73152" marR="73152" marT="36576" marB="36576">
                    <a:solidFill>
                      <a:srgbClr val="EAF2F5"/>
                    </a:solidFill>
                  </a:tcPr>
                </a:tc>
                <a:tc>
                  <a:txBody>
                    <a:bodyPr/>
                    <a:lstStyle/>
                    <a:p>
                      <a:r>
                        <a:rPr sz="1900" b="0" i="0">
                          <a:solidFill>
                            <a:srgbClr val="1F2D33"/>
                          </a:solidFill>
                        </a:rPr>
                        <a:t>Prevalence, prevalence ratio (PR), OR</a:t>
                      </a:r>
                    </a:p>
                  </a:txBody>
                  <a:tcPr marL="73152" marR="73152" marT="36576" marB="36576">
                    <a:solidFill>
                      <a:srgbClr val="EAF2F5"/>
                    </a:solidFill>
                  </a:tcPr>
                </a:tc>
                <a:tc>
                  <a:txBody>
                    <a:bodyPr/>
                    <a:lstStyle/>
                    <a:p>
                      <a:r>
                        <a:rPr sz="1900" b="0" i="0">
                          <a:solidFill>
                            <a:srgbClr val="1F2D33"/>
                          </a:solidFill>
                        </a:rPr>
                        <a:t>High BP by smoking at baseline</a:t>
                      </a:r>
                    </a:p>
                  </a:txBody>
                  <a:tcPr marL="73152" marR="73152" marT="36576" marB="36576">
                    <a:solidFill>
                      <a:srgbClr val="EAF2F5"/>
                    </a:solidFill>
                  </a:tcPr>
                </a:tc>
              </a:tr>
              <a:tr h="457200">
                <a:tc>
                  <a:txBody>
                    <a:bodyPr/>
                    <a:lstStyle/>
                    <a:p>
                      <a:r>
                        <a:rPr sz="1900" b="0" i="0">
                          <a:solidFill>
                            <a:srgbClr val="1F2D33"/>
                          </a:solidFill>
                        </a:rPr>
                        <a:t>Case-control study</a:t>
                      </a:r>
                    </a:p>
                  </a:txBody>
                  <a:tcPr marL="73152" marR="73152" marT="36576" marB="36576">
                    <a:solidFill>
                      <a:srgbClr val="FFFFFF"/>
                    </a:solidFill>
                  </a:tcPr>
                </a:tc>
                <a:tc>
                  <a:txBody>
                    <a:bodyPr/>
                    <a:lstStyle/>
                    <a:p>
                      <a:r>
                        <a:rPr sz="1900" b="0" i="0">
                          <a:solidFill>
                            <a:srgbClr val="1F2D33"/>
                          </a:solidFill>
                        </a:rPr>
                        <a:t>Only the OR (cases and controls are sampled by outcome)</a:t>
                      </a:r>
                    </a:p>
                  </a:txBody>
                  <a:tcPr marL="73152" marR="73152" marT="36576" marB="36576">
                    <a:solidFill>
                      <a:srgbClr val="FFFFFF"/>
                    </a:solidFill>
                  </a:tcPr>
                </a:tc>
                <a:tc>
                  <a:txBody>
                    <a:bodyPr/>
                    <a:lstStyle/>
                    <a:p>
                      <a:r>
                        <a:rPr sz="1900" b="0" i="0">
                          <a:solidFill>
                            <a:srgbClr val="1F2D33"/>
                          </a:solidFill>
                        </a:rPr>
                        <a:t>(not in our data)</a:t>
                      </a:r>
                    </a:p>
                  </a:txBody>
                  <a:tcPr marL="73152" marR="73152" marT="36576" marB="36576">
                    <a:solidFill>
                      <a:srgbClr val="FFFFFF"/>
                    </a:solidFill>
                  </a:tcPr>
                </a:tc>
              </a:tr>
            </a:tbl>
          </a:graphicData>
        </a:graphic>
      </p:graphicFrame>
      <p:sp>
        <p:nvSpPr>
          <p:cNvPr id="5" name="TextBox 4"/>
          <p:cNvSpPr txBox="1"/>
          <p:nvPr/>
        </p:nvSpPr>
        <p:spPr>
          <a:xfrm>
            <a:off x="429768" y="3538728"/>
            <a:ext cx="11332159" cy="26060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"Risk" means new cases over a period among people initially free of the outcome</a:t>
            </a:r>
          </a:p>
          <a:p>
            <a:pPr>
              <a:spcAft>
                <a:spcPts val="1000"/>
              </a:spcAft>
            </a:pPr>
            <a:r>
              <a:rPr sz="1300" b="0" i="0">
                <a:solidFill>
                  <a:srgbClr val="0D7377"/>
                </a:solidFill>
              </a:rPr>
              <a:t>●  </a:t>
            </a:r>
            <a:r>
              <a:rPr sz="1900" b="0" i="0">
                <a:solidFill>
                  <a:srgbClr val="1F2D33"/>
                </a:solidFill>
              </a:rPr>
              <a:t>Logistic regression gives ORs whatever the design; interpret them with the design in mind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Chi-square and Fisher's exact test</a:t>
            </a:r>
          </a:p>
        </p:txBody>
      </p:sp>
      <p:sp>
        <p:nvSpPr>
          <p:cNvPr id="3" name="Slide Number Placeholder 2"/>
          <p:cNvSpPr>
            <a:spLocks noGrp="1"/>
          </p:cNvSpPr>
          <p:nvPr>
            <p:ph type="sldNum" idx="12" sz="quarter"/>
          </p:nvPr>
        </p:nvSpPr>
        <p:spPr/>
        <p:txBody>
          <a:bodyPr/>
          <a:lstStyle/>
          <a:p>
            <a:fld id="{B6F15528-21DE-4FAA-801E-634DDDAF4B2B}" type="slidenum">
              <a:rPr lang="en-GB"/>
              <a:t>35</a:t>
            </a:fld>
          </a:p>
        </p:txBody>
      </p:sp>
      <p:sp>
        <p:nvSpPr>
          <p:cNvPr id="4" name="TextBox 3"/>
          <p:cNvSpPr txBox="1"/>
          <p:nvPr/>
        </p:nvSpPr>
        <p:spPr>
          <a:xfrm>
            <a:off x="429768" y="1389888"/>
            <a:ext cx="5483199" cy="457200"/>
          </a:xfrm>
          <a:prstGeom prst="rect">
            <a:avLst/>
          </a:prstGeom>
          <a:noFill/>
        </p:spPr>
        <p:txBody>
          <a:bodyPr wrap="square" anchor="t" lIns="45720" rIns="45720">
            <a:spAutoFit/>
          </a:bodyPr>
          <a:lstStyle/>
          <a:p>
            <a:pPr algn="l"/>
            <a:r>
              <a:rPr sz="2100" b="1" i="0">
                <a:solidFill>
                  <a:srgbClr val="0B376C"/>
                </a:solidFill>
              </a:rPr>
              <a:t>Chi-square test</a:t>
            </a:r>
          </a:p>
        </p:txBody>
      </p:sp>
      <p:sp>
        <p:nvSpPr>
          <p:cNvPr id="5" name="TextBox 4"/>
          <p:cNvSpPr txBox="1"/>
          <p:nvPr/>
        </p:nvSpPr>
        <p:spPr>
          <a:xfrm>
            <a:off x="429768" y="1892808"/>
            <a:ext cx="5483199" cy="32918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Tests whether two categorical variables are associated</a:t>
            </a:r>
          </a:p>
          <a:p>
            <a:pPr>
              <a:spcAft>
                <a:spcPts val="1000"/>
              </a:spcAft>
            </a:pPr>
            <a:r>
              <a:rPr sz="1300" b="0" i="0">
                <a:solidFill>
                  <a:srgbClr val="0D7377"/>
                </a:solidFill>
              </a:rPr>
              <a:t>●  </a:t>
            </a:r>
            <a:r>
              <a:rPr sz="1900" b="0" i="0">
                <a:solidFill>
                  <a:srgbClr val="1F2D33"/>
                </a:solidFill>
              </a:rPr>
              <a:t>Compares observed counts with the counts expected under no association</a:t>
            </a:r>
          </a:p>
          <a:p>
            <a:pPr>
              <a:spcAft>
                <a:spcPts val="1000"/>
              </a:spcAft>
            </a:pPr>
            <a:r>
              <a:rPr sz="1300" b="0" i="0">
                <a:solidFill>
                  <a:srgbClr val="0D7377"/>
                </a:solidFill>
              </a:rPr>
              <a:t>●  </a:t>
            </a:r>
            <a:r>
              <a:rPr sz="1900" b="0" i="0">
                <a:solidFill>
                  <a:srgbClr val="1F2D33"/>
                </a:solidFill>
              </a:rPr>
              <a:t>Smoking and high BP: χ² = 23.1, p &lt; 0.001</a:t>
            </a:r>
          </a:p>
          <a:p>
            <a:pPr>
              <a:spcAft>
                <a:spcPts val="1000"/>
              </a:spcAft>
            </a:pPr>
            <a:r>
              <a:rPr sz="1300" b="0" i="0">
                <a:solidFill>
                  <a:srgbClr val="0D7377"/>
                </a:solidFill>
              </a:rPr>
              <a:t>●  </a:t>
            </a:r>
            <a:r>
              <a:rPr sz="1900" b="0" i="0">
                <a:solidFill>
                  <a:srgbClr val="1F2D33"/>
                </a:solidFill>
              </a:rPr>
              <a:t>Approximation works when expected counts are about 5 or more</a:t>
            </a:r>
          </a:p>
        </p:txBody>
      </p:sp>
      <p:sp>
        <p:nvSpPr>
          <p:cNvPr id="6" name="TextBox 5"/>
          <p:cNvSpPr txBox="1"/>
          <p:nvPr/>
        </p:nvSpPr>
        <p:spPr>
          <a:xfrm>
            <a:off x="6278727" y="1389888"/>
            <a:ext cx="5483199" cy="457200"/>
          </a:xfrm>
          <a:prstGeom prst="rect">
            <a:avLst/>
          </a:prstGeom>
          <a:noFill/>
        </p:spPr>
        <p:txBody>
          <a:bodyPr wrap="square" anchor="t" lIns="45720" rIns="45720">
            <a:spAutoFit/>
          </a:bodyPr>
          <a:lstStyle/>
          <a:p>
            <a:pPr algn="l"/>
            <a:r>
              <a:rPr sz="2100" b="1" i="0">
                <a:solidFill>
                  <a:srgbClr val="0B376C"/>
                </a:solidFill>
              </a:rPr>
              <a:t>Fisher's exact test</a:t>
            </a:r>
          </a:p>
        </p:txBody>
      </p:sp>
      <p:sp>
        <p:nvSpPr>
          <p:cNvPr id="7" name="TextBox 6"/>
          <p:cNvSpPr txBox="1"/>
          <p:nvPr/>
        </p:nvSpPr>
        <p:spPr>
          <a:xfrm>
            <a:off x="6278727" y="1892808"/>
            <a:ext cx="5483199" cy="32918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Exact test: no large-sample approximation</a:t>
            </a:r>
          </a:p>
          <a:p>
            <a:pPr>
              <a:spcAft>
                <a:spcPts val="1000"/>
              </a:spcAft>
            </a:pPr>
            <a:r>
              <a:rPr sz="1300" b="0" i="0">
                <a:solidFill>
                  <a:srgbClr val="0D7377"/>
                </a:solidFill>
              </a:rPr>
              <a:t>●  </a:t>
            </a:r>
            <a:r>
              <a:rPr sz="1900" b="0" i="0">
                <a:solidFill>
                  <a:srgbClr val="1F2D33"/>
                </a:solidFill>
              </a:rPr>
              <a:t>Adverse events: 14 / 240 (5.8%) vs 3 / 240 (1.3%)</a:t>
            </a:r>
          </a:p>
          <a:p>
            <a:pPr>
              <a:spcAft>
                <a:spcPts val="1000"/>
              </a:spcAft>
            </a:pPr>
            <a:r>
              <a:rPr sz="1300" b="0" i="0">
                <a:solidFill>
                  <a:srgbClr val="0D7377"/>
                </a:solidFill>
              </a:rPr>
              <a:t>●  </a:t>
            </a:r>
            <a:r>
              <a:rPr sz="1900" b="0" i="0">
                <a:solidFill>
                  <a:srgbClr val="1F2D33"/>
                </a:solidFill>
              </a:rPr>
              <a:t>RR 4.67 (95% CI 1.36 to 16.0), Fisher p = 0.011</a:t>
            </a:r>
          </a:p>
          <a:p>
            <a:pPr>
              <a:spcAft>
                <a:spcPts val="1000"/>
              </a:spcAft>
            </a:pPr>
            <a:r>
              <a:rPr sz="1300" b="0" i="0">
                <a:solidFill>
                  <a:srgbClr val="0D7377"/>
                </a:solidFill>
              </a:rPr>
              <a:t>●  </a:t>
            </a:r>
            <a:r>
              <a:rPr sz="1900" b="0" i="0">
                <a:solidFill>
                  <a:srgbClr val="1F2D33"/>
                </a:solidFill>
              </a:rPr>
              <a:t>Few events give a very wide CI: the size of the increase is uncertain</a:t>
            </a:r>
          </a:p>
        </p:txBody>
      </p:sp>
      <p:sp>
        <p:nvSpPr>
          <p:cNvPr id="8" name="Rectangle 7"/>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600" b="0" i="0">
                <a:solidFill>
                  <a:srgbClr val="04242F"/>
                </a:solidFill>
              </a:rPr>
              <a:t>A significant chi-square for a larger table says the proportions differ somewhere. Look at the row proportions to see where.</a:t>
            </a:r>
          </a:p>
        </p:txBody>
      </p:sp>
      <p:sp>
        <p:nvSpPr>
          <p:cNvPr id="9" name="Rectangle 8"/>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first look at confounding</a:t>
            </a:r>
          </a:p>
        </p:txBody>
      </p:sp>
      <p:sp>
        <p:nvSpPr>
          <p:cNvPr id="3" name="Slide Number Placeholder 2"/>
          <p:cNvSpPr>
            <a:spLocks noGrp="1"/>
          </p:cNvSpPr>
          <p:nvPr>
            <p:ph type="sldNum" idx="12" sz="quarter"/>
          </p:nvPr>
        </p:nvSpPr>
        <p:spPr/>
        <p:txBody>
          <a:bodyPr/>
          <a:lstStyle/>
          <a:p>
            <a:fld id="{B6F15528-21DE-4FAA-801E-634DDDAF4B2B}" type="slidenum">
              <a:rPr lang="en-GB"/>
              <a:t>36</a:t>
            </a:fld>
          </a:p>
        </p:txBody>
      </p:sp>
      <p:graphicFrame>
        <p:nvGraphicFramePr>
          <p:cNvPr id="4" name="Table 3"/>
          <p:cNvGraphicFramePr>
            <a:graphicFrameLocks noGrp="1"/>
          </p:cNvGraphicFramePr>
          <p:nvPr/>
        </p:nvGraphicFramePr>
        <p:xfrm>
          <a:off x="429768" y="1435608"/>
          <a:ext cx="11332157" cy="2743200"/>
        </p:xfrm>
        <a:graphic>
          <a:graphicData uri="http://schemas.openxmlformats.org/drawingml/2006/table">
            <a:tbl>
              <a:tblPr firstRow="1" bandRow="1">
                <a:tableStyleId>{5C22544A-7EE6-4342-B048-85BDC9FD1C3A}</a:tableStyleId>
              </a:tblPr>
              <a:tblGrid>
                <a:gridCol w="5419728"/>
                <a:gridCol w="3448917"/>
                <a:gridCol w="2463512"/>
              </a:tblGrid>
              <a:tr h="457200">
                <a:tc>
                  <a:txBody>
                    <a:bodyPr/>
                    <a:lstStyle/>
                    <a:p>
                      <a:r>
                        <a:rPr sz="1900" b="1" i="0">
                          <a:solidFill>
                            <a:srgbClr val="FFFFFF"/>
                          </a:solidFill>
                        </a:rPr>
                        <a:t>Analysis</a:t>
                      </a:r>
                    </a:p>
                  </a:txBody>
                  <a:tcPr marL="73152" marR="73152" marT="36576" marB="36576">
                    <a:solidFill>
                      <a:srgbClr val="04242F"/>
                    </a:solidFill>
                  </a:tcPr>
                </a:tc>
                <a:tc>
                  <a:txBody>
                    <a:bodyPr/>
                    <a:lstStyle/>
                    <a:p>
                      <a:r>
                        <a:rPr sz="1900" b="1" i="0">
                          <a:solidFill>
                            <a:srgbClr val="FFFFFF"/>
                          </a:solidFill>
                        </a:rPr>
                        <a:t>Odds ratio for smoking and high BP</a:t>
                      </a:r>
                    </a:p>
                  </a:txBody>
                  <a:tcPr marL="73152" marR="73152" marT="36576" marB="36576">
                    <a:solidFill>
                      <a:srgbClr val="04242F"/>
                    </a:solidFill>
                  </a:tcPr>
                </a:tc>
                <a:tc>
                  <a:txBody>
                    <a:bodyPr/>
                    <a:lstStyle/>
                    <a:p>
                      <a:r>
                        <a:rPr sz="1900" b="1" i="0">
                          <a:solidFill>
                            <a:srgbClr val="FFFFFF"/>
                          </a:solidFill>
                        </a:rPr>
                        <a:t>95% CI</a:t>
                      </a:r>
                    </a:p>
                  </a:txBody>
                  <a:tcPr marL="73152" marR="73152" marT="36576" marB="36576">
                    <a:solidFill>
                      <a:srgbClr val="04242F"/>
                    </a:solidFill>
                  </a:tcPr>
                </a:tc>
              </a:tr>
              <a:tr h="457200">
                <a:tc>
                  <a:txBody>
                    <a:bodyPr/>
                    <a:lstStyle/>
                    <a:p>
                      <a:r>
                        <a:rPr sz="1900" b="0" i="0">
                          <a:solidFill>
                            <a:srgbClr val="1F2D33"/>
                          </a:solidFill>
                        </a:rPr>
                        <a:t>Crude (all participants)</a:t>
                      </a:r>
                    </a:p>
                  </a:txBody>
                  <a:tcPr marL="73152" marR="73152" marT="36576" marB="36576">
                    <a:solidFill>
                      <a:srgbClr val="FFFFFF"/>
                    </a:solidFill>
                  </a:tcPr>
                </a:tc>
                <a:tc>
                  <a:txBody>
                    <a:bodyPr/>
                    <a:lstStyle/>
                    <a:p>
                      <a:r>
                        <a:rPr sz="1900" b="0" i="0">
                          <a:solidFill>
                            <a:srgbClr val="1F2D33"/>
                          </a:solidFill>
                        </a:rPr>
                        <a:t>3.39</a:t>
                      </a:r>
                    </a:p>
                  </a:txBody>
                  <a:tcPr marL="73152" marR="73152" marT="36576" marB="36576">
                    <a:solidFill>
                      <a:srgbClr val="FFFFFF"/>
                    </a:solidFill>
                  </a:tcPr>
                </a:tc>
                <a:tc>
                  <a:txBody>
                    <a:bodyPr/>
                    <a:lstStyle/>
                    <a:p>
                      <a:r>
                        <a:rPr sz="1900" b="0" i="0">
                          <a:solidFill>
                            <a:srgbClr val="1F2D33"/>
                          </a:solidFill>
                        </a:rPr>
                        <a:t>2.06 to 5.61</a:t>
                      </a:r>
                    </a:p>
                  </a:txBody>
                  <a:tcPr marL="73152" marR="73152" marT="36576" marB="36576">
                    <a:solidFill>
                      <a:srgbClr val="FFFFFF"/>
                    </a:solidFill>
                  </a:tcPr>
                </a:tc>
              </a:tr>
              <a:tr h="457200">
                <a:tc>
                  <a:txBody>
                    <a:bodyPr/>
                    <a:lstStyle/>
                    <a:p>
                      <a:r>
                        <a:rPr sz="1900" b="0" i="0">
                          <a:solidFill>
                            <a:srgbClr val="1F2D33"/>
                          </a:solidFill>
                        </a:rPr>
                        <a:t>Women only</a:t>
                      </a:r>
                    </a:p>
                  </a:txBody>
                  <a:tcPr marL="73152" marR="73152" marT="36576" marB="36576">
                    <a:solidFill>
                      <a:srgbClr val="EAF2F5"/>
                    </a:solidFill>
                  </a:tcPr>
                </a:tc>
                <a:tc>
                  <a:txBody>
                    <a:bodyPr/>
                    <a:lstStyle/>
                    <a:p>
                      <a:r>
                        <a:rPr sz="1900" b="0" i="0">
                          <a:solidFill>
                            <a:srgbClr val="1F2D33"/>
                          </a:solidFill>
                        </a:rPr>
                        <a:t>2.75</a:t>
                      </a:r>
                    </a:p>
                  </a:txBody>
                  <a:tcPr marL="73152" marR="73152" marT="36576" marB="36576">
                    <a:solidFill>
                      <a:srgbClr val="EAF2F5"/>
                    </a:solidFill>
                  </a:tcPr>
                </a:tc>
                <a:tc>
                  <a:txBody>
                    <a:bodyPr/>
                    <a:lstStyle/>
                    <a:p>
                      <a:r>
                        <a:rPr sz="1900" b="0" i="0">
                          <a:solidFill>
                            <a:srgbClr val="1F2D33"/>
                          </a:solidFill>
                        </a:rPr>
                        <a:t>1.17 to 6.43</a:t>
                      </a:r>
                    </a:p>
                  </a:txBody>
                  <a:tcPr marL="73152" marR="73152" marT="36576" marB="36576">
                    <a:solidFill>
                      <a:srgbClr val="EAF2F5"/>
                    </a:solidFill>
                  </a:tcPr>
                </a:tc>
              </a:tr>
              <a:tr h="457200">
                <a:tc>
                  <a:txBody>
                    <a:bodyPr/>
                    <a:lstStyle/>
                    <a:p>
                      <a:r>
                        <a:rPr sz="1900" b="0" i="0">
                          <a:solidFill>
                            <a:srgbClr val="1F2D33"/>
                          </a:solidFill>
                        </a:rPr>
                        <a:t>Men only</a:t>
                      </a:r>
                    </a:p>
                  </a:txBody>
                  <a:tcPr marL="73152" marR="73152" marT="36576" marB="36576">
                    <a:solidFill>
                      <a:srgbClr val="FFFFFF"/>
                    </a:solidFill>
                  </a:tcPr>
                </a:tc>
                <a:tc>
                  <a:txBody>
                    <a:bodyPr/>
                    <a:lstStyle/>
                    <a:p>
                      <a:r>
                        <a:rPr sz="1900" b="0" i="0">
                          <a:solidFill>
                            <a:srgbClr val="1F2D33"/>
                          </a:solidFill>
                        </a:rPr>
                        <a:t>3.28</a:t>
                      </a:r>
                    </a:p>
                  </a:txBody>
                  <a:tcPr marL="73152" marR="73152" marT="36576" marB="36576">
                    <a:solidFill>
                      <a:srgbClr val="FFFFFF"/>
                    </a:solidFill>
                  </a:tcPr>
                </a:tc>
                <a:tc>
                  <a:txBody>
                    <a:bodyPr/>
                    <a:lstStyle/>
                    <a:p>
                      <a:r>
                        <a:rPr sz="1900" b="0" i="0">
                          <a:solidFill>
                            <a:srgbClr val="1F2D33"/>
                          </a:solidFill>
                        </a:rPr>
                        <a:t>1.73 to 6.23</a:t>
                      </a:r>
                    </a:p>
                  </a:txBody>
                  <a:tcPr marL="73152" marR="73152" marT="36576" marB="36576">
                    <a:solidFill>
                      <a:srgbClr val="FFFFFF"/>
                    </a:solidFill>
                  </a:tcPr>
                </a:tc>
              </a:tr>
              <a:tr h="457200">
                <a:tc>
                  <a:txBody>
                    <a:bodyPr/>
                    <a:lstStyle/>
                    <a:p>
                      <a:r>
                        <a:rPr sz="1900" b="0" i="0">
                          <a:solidFill>
                            <a:srgbClr val="1F2D33"/>
                          </a:solidFill>
                        </a:rPr>
                        <a:t>Combined, adjusted for sex (Mantel-Haenszel)</a:t>
                      </a:r>
                    </a:p>
                  </a:txBody>
                  <a:tcPr marL="73152" marR="73152" marT="36576" marB="36576">
                    <a:solidFill>
                      <a:srgbClr val="EAF2F5"/>
                    </a:solidFill>
                  </a:tcPr>
                </a:tc>
                <a:tc>
                  <a:txBody>
                    <a:bodyPr/>
                    <a:lstStyle/>
                    <a:p>
                      <a:r>
                        <a:rPr sz="1900" b="0" i="0">
                          <a:solidFill>
                            <a:srgbClr val="1F2D33"/>
                          </a:solidFill>
                        </a:rPr>
                        <a:t>3.09</a:t>
                      </a:r>
                    </a:p>
                  </a:txBody>
                  <a:tcPr marL="73152" marR="73152" marT="36576" marB="36576">
                    <a:solidFill>
                      <a:srgbClr val="EAF2F5"/>
                    </a:solidFill>
                  </a:tcPr>
                </a:tc>
                <a:tc>
                  <a:txBody>
                    <a:bodyPr/>
                    <a:lstStyle/>
                    <a:p>
                      <a:r>
                        <a:rPr sz="1900" b="0" i="0">
                          <a:solidFill>
                            <a:srgbClr val="1F2D33"/>
                          </a:solidFill>
                        </a:rPr>
                        <a:t>1.85 to 5.15</a:t>
                      </a:r>
                    </a:p>
                  </a:txBody>
                  <a:tcPr marL="73152" marR="73152" marT="36576" marB="36576">
                    <a:solidFill>
                      <a:srgbClr val="EAF2F5"/>
                    </a:solidFill>
                  </a:tcPr>
                </a:tc>
              </a:tr>
              <a:tr h="457200">
                <a:tc>
                  <a:txBody>
                    <a:bodyPr/>
                    <a:lstStyle/>
                    <a:p>
                      <a:r>
                        <a:rPr sz="1900" b="0" i="0">
                          <a:solidFill>
                            <a:srgbClr val="1F2D33"/>
                          </a:solidFill>
                        </a:rPr>
                        <a:t>Combined, adjusted for age group (Mantel-Haenszel)</a:t>
                      </a:r>
                    </a:p>
                  </a:txBody>
                  <a:tcPr marL="73152" marR="73152" marT="36576" marB="36576">
                    <a:solidFill>
                      <a:srgbClr val="FFFFFF"/>
                    </a:solidFill>
                  </a:tcPr>
                </a:tc>
                <a:tc>
                  <a:txBody>
                    <a:bodyPr/>
                    <a:lstStyle/>
                    <a:p>
                      <a:r>
                        <a:rPr sz="1900" b="0" i="0">
                          <a:solidFill>
                            <a:srgbClr val="1F2D33"/>
                          </a:solidFill>
                        </a:rPr>
                        <a:t>2.57</a:t>
                      </a:r>
                    </a:p>
                  </a:txBody>
                  <a:tcPr marL="73152" marR="73152" marT="36576" marB="36576">
                    <a:solidFill>
                      <a:srgbClr val="FFFFFF"/>
                    </a:solidFill>
                  </a:tcPr>
                </a:tc>
                <a:tc>
                  <a:txBody>
                    <a:bodyPr/>
                    <a:lstStyle/>
                    <a:p>
                      <a:r>
                        <a:rPr sz="1900" b="0" i="0">
                          <a:solidFill>
                            <a:srgbClr val="1F2D33"/>
                          </a:solidFill>
                        </a:rPr>
                        <a:t>1.51 to 4.37</a:t>
                      </a:r>
                    </a:p>
                  </a:txBody>
                  <a:tcPr marL="73152" marR="73152" marT="36576" marB="36576">
                    <a:solidFill>
                      <a:srgbClr val="FFFFFF"/>
                    </a:solidFill>
                  </a:tcPr>
                </a:tc>
              </a:tr>
            </a:tbl>
          </a:graphicData>
        </a:graphic>
      </p:graphicFrame>
      <p:sp>
        <p:nvSpPr>
          <p:cNvPr id="5" name="TextBox 4"/>
          <p:cNvSpPr txBox="1"/>
          <p:nvPr/>
        </p:nvSpPr>
        <p:spPr>
          <a:xfrm>
            <a:off x="429768" y="4453128"/>
            <a:ext cx="11332159" cy="16916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Smokers in these data are more often men and older; both raise blood pressure</a:t>
            </a:r>
          </a:p>
          <a:p>
            <a:pPr>
              <a:spcAft>
                <a:spcPts val="1000"/>
              </a:spcAft>
            </a:pPr>
            <a:r>
              <a:rPr sz="1300" b="0" i="0">
                <a:solidFill>
                  <a:srgbClr val="0D7377"/>
                </a:solidFill>
              </a:rPr>
              <a:t>●  </a:t>
            </a:r>
            <a:r>
              <a:rPr sz="1900" b="0" i="0">
                <a:solidFill>
                  <a:srgbClr val="1F2D33"/>
                </a:solidFill>
              </a:rPr>
              <a:t>Part of the crude association reflects age and sex, not smoking</a:t>
            </a:r>
          </a:p>
          <a:p>
            <a:pPr>
              <a:spcAft>
                <a:spcPts val="1000"/>
              </a:spcAft>
            </a:pPr>
            <a:r>
              <a:rPr sz="1300" b="0" i="0">
                <a:solidFill>
                  <a:srgbClr val="0D7377"/>
                </a:solidFill>
              </a:rPr>
              <a:t>●  </a:t>
            </a:r>
            <a:r>
              <a:rPr sz="1900" b="0" i="0">
                <a:solidFill>
                  <a:srgbClr val="1F2D33"/>
                </a:solidFill>
              </a:rPr>
              <a:t>Day 2: regression adjusts for several confounders at once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Paired categorical data: McNemar's test</a:t>
            </a:r>
          </a:p>
        </p:txBody>
      </p:sp>
      <p:sp>
        <p:nvSpPr>
          <p:cNvPr id="3" name="Slide Number Placeholder 2"/>
          <p:cNvSpPr>
            <a:spLocks noGrp="1"/>
          </p:cNvSpPr>
          <p:nvPr>
            <p:ph type="sldNum" idx="12" sz="quarter"/>
          </p:nvPr>
        </p:nvSpPr>
        <p:spPr/>
        <p:txBody>
          <a:bodyPr/>
          <a:lstStyle/>
          <a:p>
            <a:fld id="{B6F15528-21DE-4FAA-801E-634DDDAF4B2B}" type="slidenum">
              <a:rPr lang="en-GB"/>
              <a:t>37</a:t>
            </a:fld>
          </a:p>
        </p:txBody>
      </p:sp>
      <p:sp>
        <p:nvSpPr>
          <p:cNvPr id="4" name="TextBox 3"/>
          <p:cNvSpPr txBox="1"/>
          <p:nvPr/>
        </p:nvSpPr>
        <p:spPr>
          <a:xfrm>
            <a:off x="429768" y="1389888"/>
            <a:ext cx="11332159" cy="4754880"/>
          </a:xfrm>
          <a:prstGeom prst="rect">
            <a:avLst/>
          </a:prstGeom>
          <a:noFill/>
        </p:spPr>
        <p:txBody>
          <a:bodyPr wrap="square">
            <a:spAutoFit/>
          </a:bodyPr>
          <a:lstStyle/>
          <a:p>
            <a:pPr>
              <a:spcAft>
                <a:spcPts val="1000"/>
              </a:spcAft>
            </a:pPr>
            <a:r>
              <a:rPr sz="1600" b="0" i="0">
                <a:solidFill>
                  <a:srgbClr val="0D7377"/>
                </a:solidFill>
              </a:rPr>
              <a:t>●  </a:t>
            </a:r>
            <a:r>
              <a:rPr sz="2200" b="0" i="0">
                <a:solidFill>
                  <a:srgbClr val="1F2D33"/>
                </a:solidFill>
              </a:rPr>
              <a:t>Same people classified twice: high BP at baseline and at 12 months</a:t>
            </a:r>
          </a:p>
          <a:p>
            <a:pPr>
              <a:spcAft>
                <a:spcPts val="1000"/>
              </a:spcAft>
            </a:pPr>
            <a:r>
              <a:rPr sz="1600" b="0" i="0">
                <a:solidFill>
                  <a:srgbClr val="0D7377"/>
                </a:solidFill>
              </a:rPr>
              <a:t>●  </a:t>
            </a:r>
            <a:r>
              <a:rPr sz="2200" b="0" i="0">
                <a:solidFill>
                  <a:srgbClr val="1F2D33"/>
                </a:solidFill>
              </a:rPr>
              <a:t>Lifestyle group: 28 changed from high to not high; 6 changed from not high to high</a:t>
            </a:r>
          </a:p>
          <a:p>
            <a:pPr>
              <a:spcAft>
                <a:spcPts val="1000"/>
              </a:spcAft>
            </a:pPr>
            <a:r>
              <a:rPr sz="1600" b="0" i="0">
                <a:solidFill>
                  <a:srgbClr val="0D7377"/>
                </a:solidFill>
              </a:rPr>
              <a:t>●  </a:t>
            </a:r>
            <a:r>
              <a:rPr sz="2200" b="0" i="0">
                <a:solidFill>
                  <a:srgbClr val="1F2D33"/>
                </a:solidFill>
              </a:rPr>
              <a:t>Only these discordant pairs carry information about change</a:t>
            </a:r>
          </a:p>
          <a:p>
            <a:pPr>
              <a:spcAft>
                <a:spcPts val="1000"/>
              </a:spcAft>
            </a:pPr>
            <a:r>
              <a:rPr sz="1600" b="0" i="0">
                <a:solidFill>
                  <a:srgbClr val="0D7377"/>
                </a:solidFill>
              </a:rPr>
              <a:t>●  </a:t>
            </a:r>
            <a:r>
              <a:rPr sz="2200" b="0" i="0">
                <a:solidFill>
                  <a:srgbClr val="1F2D33"/>
                </a:solidFill>
              </a:rPr>
              <a:t>McNemar's test: p &lt; 0.001</a:t>
            </a:r>
          </a:p>
          <a:p>
            <a:pPr>
              <a:spcAft>
                <a:spcPts val="1000"/>
              </a:spcAft>
            </a:pPr>
            <a:r>
              <a:rPr sz="1600" b="0" i="0">
                <a:solidFill>
                  <a:srgbClr val="0D7377"/>
                </a:solidFill>
              </a:rPr>
              <a:t>●  </a:t>
            </a:r>
            <a:r>
              <a:rPr sz="2200" b="0" i="0">
                <a:solidFill>
                  <a:srgbClr val="1F2D33"/>
                </a:solidFill>
              </a:rPr>
              <a:t>A chi-square test on these data would wrongly treat the time points as independent groups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choosing a comparison</a:t>
            </a:r>
          </a:p>
        </p:txBody>
      </p:sp>
      <p:sp>
        <p:nvSpPr>
          <p:cNvPr id="3" name="Slide Number Placeholder 2"/>
          <p:cNvSpPr>
            <a:spLocks noGrp="1"/>
          </p:cNvSpPr>
          <p:nvPr>
            <p:ph type="sldNum" idx="12" sz="quarter"/>
          </p:nvPr>
        </p:nvSpPr>
        <p:spPr/>
        <p:txBody>
          <a:bodyPr/>
          <a:lstStyle/>
          <a:p>
            <a:fld id="{B6F15528-21DE-4FAA-801E-634DDDAF4B2B}" type="slidenum">
              <a:rPr lang="en-GB"/>
              <a:t>38</a:t>
            </a:fld>
          </a:p>
        </p:txBody>
      </p:sp>
      <p:graphicFrame>
        <p:nvGraphicFramePr>
          <p:cNvPr id="4" name="Table 3"/>
          <p:cNvGraphicFramePr>
            <a:graphicFrameLocks noGrp="1"/>
          </p:cNvGraphicFramePr>
          <p:nvPr/>
        </p:nvGraphicFramePr>
        <p:xfrm>
          <a:off x="429768" y="1435608"/>
          <a:ext cx="11332157" cy="2743200"/>
        </p:xfrm>
        <a:graphic>
          <a:graphicData uri="http://schemas.openxmlformats.org/drawingml/2006/table">
            <a:tbl>
              <a:tblPr firstRow="1" bandRow="1">
                <a:tableStyleId>{5C22544A-7EE6-4342-B048-85BDC9FD1C3A}</a:tableStyleId>
              </a:tblPr>
              <a:tblGrid>
                <a:gridCol w="2496916"/>
                <a:gridCol w="3073127"/>
                <a:gridCol w="3265198"/>
                <a:gridCol w="2496916"/>
              </a:tblGrid>
              <a:tr h="548640">
                <a:tc>
                  <a:txBody>
                    <a:bodyPr/>
                    <a:lstStyle/>
                    <a:p>
                      <a:r>
                        <a:rPr sz="1700" b="1" i="0">
                          <a:solidFill>
                            <a:srgbClr val="FFFFFF"/>
                          </a:solidFill>
                        </a:rPr>
                        <a:t>Outcome</a:t>
                      </a:r>
                    </a:p>
                  </a:txBody>
                  <a:tcPr marL="73152" marR="73152" marT="36576" marB="36576">
                    <a:solidFill>
                      <a:srgbClr val="04242F"/>
                    </a:solidFill>
                  </a:tcPr>
                </a:tc>
                <a:tc>
                  <a:txBody>
                    <a:bodyPr/>
                    <a:lstStyle/>
                    <a:p>
                      <a:r>
                        <a:rPr sz="1700" b="1" i="0">
                          <a:solidFill>
                            <a:srgbClr val="FFFFFF"/>
                          </a:solidFill>
                        </a:rPr>
                        <a:t>2 independent groups</a:t>
                      </a:r>
                    </a:p>
                  </a:txBody>
                  <a:tcPr marL="73152" marR="73152" marT="36576" marB="36576">
                    <a:solidFill>
                      <a:srgbClr val="04242F"/>
                    </a:solidFill>
                  </a:tcPr>
                </a:tc>
                <a:tc>
                  <a:txBody>
                    <a:bodyPr/>
                    <a:lstStyle/>
                    <a:p>
                      <a:r>
                        <a:rPr sz="1700" b="1" i="0">
                          <a:solidFill>
                            <a:srgbClr val="FFFFFF"/>
                          </a:solidFill>
                        </a:rPr>
                        <a:t>&gt; 2 independent groups</a:t>
                      </a:r>
                    </a:p>
                  </a:txBody>
                  <a:tcPr marL="73152" marR="73152" marT="36576" marB="36576">
                    <a:solidFill>
                      <a:srgbClr val="04242F"/>
                    </a:solidFill>
                  </a:tcPr>
                </a:tc>
                <a:tc>
                  <a:txBody>
                    <a:bodyPr/>
                    <a:lstStyle/>
                    <a:p>
                      <a:r>
                        <a:rPr sz="1700" b="1" i="0">
                          <a:solidFill>
                            <a:srgbClr val="FFFFFF"/>
                          </a:solidFill>
                        </a:rPr>
                        <a:t>Paired</a:t>
                      </a:r>
                    </a:p>
                  </a:txBody>
                  <a:tcPr marL="73152" marR="73152" marT="36576" marB="36576">
                    <a:solidFill>
                      <a:srgbClr val="04242F"/>
                    </a:solidFill>
                  </a:tcPr>
                </a:tc>
              </a:tr>
              <a:tr h="548640">
                <a:tc>
                  <a:txBody>
                    <a:bodyPr/>
                    <a:lstStyle/>
                    <a:p>
                      <a:r>
                        <a:rPr sz="1700" b="0" i="0">
                          <a:solidFill>
                            <a:srgbClr val="1F2D33"/>
                          </a:solidFill>
                        </a:rPr>
                        <a:t>Continuous, mean meaningful</a:t>
                      </a:r>
                    </a:p>
                  </a:txBody>
                  <a:tcPr marL="73152" marR="73152" marT="36576" marB="36576">
                    <a:solidFill>
                      <a:srgbClr val="FFFFFF"/>
                    </a:solidFill>
                  </a:tcPr>
                </a:tc>
                <a:tc>
                  <a:txBody>
                    <a:bodyPr/>
                    <a:lstStyle/>
                    <a:p>
                      <a:r>
                        <a:rPr sz="1700" b="0" i="0">
                          <a:solidFill>
                            <a:srgbClr val="1F2D33"/>
                          </a:solidFill>
                        </a:rPr>
                        <a:t>Welch t-test</a:t>
                      </a:r>
                    </a:p>
                  </a:txBody>
                  <a:tcPr marL="73152" marR="73152" marT="36576" marB="36576">
                    <a:solidFill>
                      <a:srgbClr val="FFFFFF"/>
                    </a:solidFill>
                  </a:tcPr>
                </a:tc>
                <a:tc>
                  <a:txBody>
                    <a:bodyPr/>
                    <a:lstStyle/>
                    <a:p>
                      <a:r>
                        <a:rPr sz="1700" b="0" i="0">
                          <a:solidFill>
                            <a:srgbClr val="1F2D33"/>
                          </a:solidFill>
                        </a:rPr>
                        <a:t>Welch ANOVA (+ adjusted pairwise)</a:t>
                      </a:r>
                    </a:p>
                  </a:txBody>
                  <a:tcPr marL="73152" marR="73152" marT="36576" marB="36576">
                    <a:solidFill>
                      <a:srgbClr val="FFFFFF"/>
                    </a:solidFill>
                  </a:tcPr>
                </a:tc>
                <a:tc>
                  <a:txBody>
                    <a:bodyPr/>
                    <a:lstStyle/>
                    <a:p>
                      <a:r>
                        <a:rPr sz="1700" b="0" i="0">
                          <a:solidFill>
                            <a:srgbClr val="1F2D33"/>
                          </a:solidFill>
                        </a:rPr>
                        <a:t>Paired t-test</a:t>
                      </a:r>
                    </a:p>
                  </a:txBody>
                  <a:tcPr marL="73152" marR="73152" marT="36576" marB="36576">
                    <a:solidFill>
                      <a:srgbClr val="FFFFFF"/>
                    </a:solidFill>
                  </a:tcPr>
                </a:tc>
              </a:tr>
              <a:tr h="548640">
                <a:tc>
                  <a:txBody>
                    <a:bodyPr/>
                    <a:lstStyle/>
                    <a:p>
                      <a:r>
                        <a:rPr sz="1700" b="0" i="0">
                          <a:solidFill>
                            <a:srgbClr val="1F2D33"/>
                          </a:solidFill>
                        </a:rPr>
                        <a:t>Skewed, positive</a:t>
                      </a:r>
                    </a:p>
                  </a:txBody>
                  <a:tcPr marL="73152" marR="73152" marT="36576" marB="36576">
                    <a:solidFill>
                      <a:srgbClr val="EAF2F5"/>
                    </a:solidFill>
                  </a:tcPr>
                </a:tc>
                <a:tc>
                  <a:txBody>
                    <a:bodyPr/>
                    <a:lstStyle/>
                    <a:p>
                      <a:r>
                        <a:rPr sz="1700" b="0" i="0">
                          <a:solidFill>
                            <a:srgbClr val="1F2D33"/>
                          </a:solidFill>
                        </a:rPr>
                        <a:t>t-test on log scale, or Wilcoxon rank-sum</a:t>
                      </a:r>
                    </a:p>
                  </a:txBody>
                  <a:tcPr marL="73152" marR="73152" marT="36576" marB="36576">
                    <a:solidFill>
                      <a:srgbClr val="EAF2F5"/>
                    </a:solidFill>
                  </a:tcPr>
                </a:tc>
                <a:tc>
                  <a:txBody>
                    <a:bodyPr/>
                    <a:lstStyle/>
                    <a:p>
                      <a:r>
                        <a:rPr sz="1700" b="0" i="0">
                          <a:solidFill>
                            <a:srgbClr val="1F2D33"/>
                          </a:solidFill>
                        </a:rPr>
                        <a:t>ANOVA on logs, or Kruskal-Wallis</a:t>
                      </a:r>
                    </a:p>
                  </a:txBody>
                  <a:tcPr marL="73152" marR="73152" marT="36576" marB="36576">
                    <a:solidFill>
                      <a:srgbClr val="EAF2F5"/>
                    </a:solidFill>
                  </a:tcPr>
                </a:tc>
                <a:tc>
                  <a:txBody>
                    <a:bodyPr/>
                    <a:lstStyle/>
                    <a:p>
                      <a:r>
                        <a:rPr sz="1700" b="0" i="0">
                          <a:solidFill>
                            <a:srgbClr val="1F2D33"/>
                          </a:solidFill>
                        </a:rPr>
                        <a:t>Paired t on logs, or signed-rank</a:t>
                      </a:r>
                    </a:p>
                  </a:txBody>
                  <a:tcPr marL="73152" marR="73152" marT="36576" marB="36576">
                    <a:solidFill>
                      <a:srgbClr val="EAF2F5"/>
                    </a:solidFill>
                  </a:tcPr>
                </a:tc>
              </a:tr>
              <a:tr h="548640">
                <a:tc>
                  <a:txBody>
                    <a:bodyPr/>
                    <a:lstStyle/>
                    <a:p>
                      <a:r>
                        <a:rPr sz="1700" b="0" i="0">
                          <a:solidFill>
                            <a:srgbClr val="1F2D33"/>
                          </a:solidFill>
                        </a:rPr>
                        <a:t>Ordinal</a:t>
                      </a:r>
                    </a:p>
                  </a:txBody>
                  <a:tcPr marL="73152" marR="73152" marT="36576" marB="36576">
                    <a:solidFill>
                      <a:srgbClr val="FFFFFF"/>
                    </a:solidFill>
                  </a:tcPr>
                </a:tc>
                <a:tc>
                  <a:txBody>
                    <a:bodyPr/>
                    <a:lstStyle/>
                    <a:p>
                      <a:r>
                        <a:rPr sz="1700" b="0" i="0">
                          <a:solidFill>
                            <a:srgbClr val="1F2D33"/>
                          </a:solidFill>
                        </a:rPr>
                        <a:t>Wilcoxon rank-sum</a:t>
                      </a:r>
                    </a:p>
                  </a:txBody>
                  <a:tcPr marL="73152" marR="73152" marT="36576" marB="36576">
                    <a:solidFill>
                      <a:srgbClr val="FFFFFF"/>
                    </a:solidFill>
                  </a:tcPr>
                </a:tc>
                <a:tc>
                  <a:txBody>
                    <a:bodyPr/>
                    <a:lstStyle/>
                    <a:p>
                      <a:r>
                        <a:rPr sz="1700" b="0" i="0">
                          <a:solidFill>
                            <a:srgbClr val="1F2D33"/>
                          </a:solidFill>
                        </a:rPr>
                        <a:t>Kruskal-Wallis</a:t>
                      </a:r>
                    </a:p>
                  </a:txBody>
                  <a:tcPr marL="73152" marR="73152" marT="36576" marB="36576">
                    <a:solidFill>
                      <a:srgbClr val="FFFFFF"/>
                    </a:solidFill>
                  </a:tcPr>
                </a:tc>
                <a:tc>
                  <a:txBody>
                    <a:bodyPr/>
                    <a:lstStyle/>
                    <a:p>
                      <a:r>
                        <a:rPr sz="1700" b="0" i="0">
                          <a:solidFill>
                            <a:srgbClr val="1F2D33"/>
                          </a:solidFill>
                        </a:rPr>
                        <a:t>Wilcoxon signed-rank</a:t>
                      </a:r>
                    </a:p>
                  </a:txBody>
                  <a:tcPr marL="73152" marR="73152" marT="36576" marB="36576">
                    <a:solidFill>
                      <a:srgbClr val="FFFFFF"/>
                    </a:solidFill>
                  </a:tcPr>
                </a:tc>
              </a:tr>
              <a:tr h="548640">
                <a:tc>
                  <a:txBody>
                    <a:bodyPr/>
                    <a:lstStyle/>
                    <a:p>
                      <a:r>
                        <a:rPr sz="1700" b="0" i="0">
                          <a:solidFill>
                            <a:srgbClr val="1F2D33"/>
                          </a:solidFill>
                        </a:rPr>
                        <a:t>Binary</a:t>
                      </a:r>
                    </a:p>
                  </a:txBody>
                  <a:tcPr marL="73152" marR="73152" marT="36576" marB="36576">
                    <a:solidFill>
                      <a:srgbClr val="EAF2F5"/>
                    </a:solidFill>
                  </a:tcPr>
                </a:tc>
                <a:tc>
                  <a:txBody>
                    <a:bodyPr/>
                    <a:lstStyle/>
                    <a:p>
                      <a:r>
                        <a:rPr sz="1700" b="0" i="0">
                          <a:solidFill>
                            <a:srgbClr val="1F2D33"/>
                          </a:solidFill>
                        </a:rPr>
                        <a:t>Chi-square or Fisher; RR/OR with CI</a:t>
                      </a:r>
                    </a:p>
                  </a:txBody>
                  <a:tcPr marL="73152" marR="73152" marT="36576" marB="36576">
                    <a:solidFill>
                      <a:srgbClr val="EAF2F5"/>
                    </a:solidFill>
                  </a:tcPr>
                </a:tc>
                <a:tc>
                  <a:txBody>
                    <a:bodyPr/>
                    <a:lstStyle/>
                    <a:p>
                      <a:r>
                        <a:rPr sz="1700" b="0" i="0">
                          <a:solidFill>
                            <a:srgbClr val="1F2D33"/>
                          </a:solidFill>
                        </a:rPr>
                        <a:t>Chi-square (or Fisher)</a:t>
                      </a:r>
                    </a:p>
                  </a:txBody>
                  <a:tcPr marL="73152" marR="73152" marT="36576" marB="36576">
                    <a:solidFill>
                      <a:srgbClr val="EAF2F5"/>
                    </a:solidFill>
                  </a:tcPr>
                </a:tc>
                <a:tc>
                  <a:txBody>
                    <a:bodyPr/>
                    <a:lstStyle/>
                    <a:p>
                      <a:r>
                        <a:rPr sz="1700" b="0" i="0">
                          <a:solidFill>
                            <a:srgbClr val="1F2D33"/>
                          </a:solidFill>
                        </a:rPr>
                        <a:t>McNemar</a:t>
                      </a:r>
                    </a:p>
                  </a:txBody>
                  <a:tcPr marL="73152" marR="73152" marT="36576" marB="36576">
                    <a:solidFill>
                      <a:srgbClr val="EAF2F5"/>
                    </a:solidFill>
                  </a:tcPr>
                </a:tc>
              </a:tr>
            </a:tbl>
          </a:graphicData>
        </a:graphic>
      </p:graphicFrame>
      <p:sp>
        <p:nvSpPr>
          <p:cNvPr id="5" name="Rectangle 4"/>
          <p:cNvSpPr/>
          <p:nvPr/>
        </p:nvSpPr>
        <p:spPr>
          <a:xfrm>
            <a:off x="429768" y="5276088"/>
            <a:ext cx="11332159" cy="822960"/>
          </a:xfrm>
          <a:prstGeom prst="rect">
            <a:avLst/>
          </a:prstGeom>
          <a:solidFill>
            <a:srgbClr val="EA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82880"/>
          <a:lstStyle/>
          <a:p>
            <a:pPr algn="ctr"/>
            <a:r>
              <a:rPr sz="1600" b="0" i="0">
                <a:solidFill>
                  <a:srgbClr val="04242F"/>
                </a:solidFill>
              </a:rPr>
              <a:t>These are starting points, not automatic rules. The full decision diagrams are in the reference pack.</a:t>
            </a:r>
          </a:p>
        </p:txBody>
      </p:sp>
      <p:sp>
        <p:nvSpPr>
          <p:cNvPr id="6" name="Rectangle 5"/>
          <p:cNvSpPr/>
          <p:nvPr/>
        </p:nvSpPr>
        <p:spPr>
          <a:xfrm>
            <a:off x="429768" y="5276088"/>
            <a:ext cx="82296" cy="822960"/>
          </a:xfrm>
          <a:prstGeom prst="rect">
            <a:avLst/>
          </a:prstGeom>
          <a:solidFill>
            <a:srgbClr val="05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Practical session (2 hours)</a:t>
            </a:r>
          </a:p>
        </p:txBody>
      </p:sp>
      <p:sp>
        <p:nvSpPr>
          <p:cNvPr id="3" name="Slide Number Placeholder 2"/>
          <p:cNvSpPr>
            <a:spLocks noGrp="1"/>
          </p:cNvSpPr>
          <p:nvPr>
            <p:ph type="sldNum" idx="12" sz="quarter"/>
          </p:nvPr>
        </p:nvSpPr>
        <p:spPr/>
        <p:txBody>
          <a:bodyPr/>
          <a:lstStyle/>
          <a:p>
            <a:fld id="{B6F15528-21DE-4FAA-801E-634DDDAF4B2B}" type="slidenum">
              <a:rPr lang="en-GB"/>
              <a:t>39</a:t>
            </a:fld>
          </a:p>
        </p:txBody>
      </p:sp>
      <p:graphicFrame>
        <p:nvGraphicFramePr>
          <p:cNvPr id="4" name="Table 3"/>
          <p:cNvGraphicFramePr>
            <a:graphicFrameLocks noGrp="1"/>
          </p:cNvGraphicFramePr>
          <p:nvPr/>
        </p:nvGraphicFramePr>
        <p:xfrm>
          <a:off x="429768" y="1435608"/>
          <a:ext cx="11332157" cy="2743200"/>
        </p:xfrm>
        <a:graphic>
          <a:graphicData uri="http://schemas.openxmlformats.org/drawingml/2006/table">
            <a:tbl>
              <a:tblPr firstRow="1" bandRow="1">
                <a:tableStyleId>{5C22544A-7EE6-4342-B048-85BDC9FD1C3A}</a:tableStyleId>
              </a:tblPr>
              <a:tblGrid>
                <a:gridCol w="4826660"/>
                <a:gridCol w="3357676"/>
                <a:gridCol w="1888693"/>
                <a:gridCol w="1259128"/>
              </a:tblGrid>
              <a:tr h="457200">
                <a:tc>
                  <a:txBody>
                    <a:bodyPr/>
                    <a:lstStyle/>
                    <a:p>
                      <a:r>
                        <a:rPr sz="1900" b="1" i="0">
                          <a:solidFill>
                            <a:srgbClr val="FFFFFF"/>
                          </a:solidFill>
                        </a:rPr>
                        <a:t>Part</a:t>
                      </a:r>
                    </a:p>
                  </a:txBody>
                  <a:tcPr marL="73152" marR="73152" marT="36576" marB="36576">
                    <a:solidFill>
                      <a:srgbClr val="04242F"/>
                    </a:solidFill>
                  </a:tcPr>
                </a:tc>
                <a:tc>
                  <a:txBody>
                    <a:bodyPr/>
                    <a:lstStyle/>
                    <a:p>
                      <a:r>
                        <a:rPr sz="1900" b="1" i="0">
                          <a:solidFill>
                            <a:srgbClr val="FFFFFF"/>
                          </a:solidFill>
                        </a:rPr>
                        <a:t>Script</a:t>
                      </a:r>
                    </a:p>
                  </a:txBody>
                  <a:tcPr marL="73152" marR="73152" marT="36576" marB="36576">
                    <a:solidFill>
                      <a:srgbClr val="04242F"/>
                    </a:solidFill>
                  </a:tcPr>
                </a:tc>
                <a:tc>
                  <a:txBody>
                    <a:bodyPr/>
                    <a:lstStyle/>
                    <a:p>
                      <a:r>
                        <a:rPr sz="1900" b="1" i="0">
                          <a:solidFill>
                            <a:srgbClr val="FFFFFF"/>
                          </a:solidFill>
                        </a:rPr>
                        <a:t>Workbook</a:t>
                      </a:r>
                    </a:p>
                  </a:txBody>
                  <a:tcPr marL="73152" marR="73152" marT="36576" marB="36576">
                    <a:solidFill>
                      <a:srgbClr val="04242F"/>
                    </a:solidFill>
                  </a:tcPr>
                </a:tc>
                <a:tc>
                  <a:txBody>
                    <a:bodyPr/>
                    <a:lstStyle/>
                    <a:p>
                      <a:r>
                        <a:rPr sz="1900" b="1" i="0">
                          <a:solidFill>
                            <a:srgbClr val="FFFFFF"/>
                          </a:solidFill>
                        </a:rPr>
                        <a:t>Time</a:t>
                      </a:r>
                    </a:p>
                  </a:txBody>
                  <a:tcPr marL="73152" marR="73152" marT="36576" marB="36576">
                    <a:solidFill>
                      <a:srgbClr val="04242F"/>
                    </a:solidFill>
                  </a:tcPr>
                </a:tc>
              </a:tr>
              <a:tr h="457200">
                <a:tc>
                  <a:txBody>
                    <a:bodyPr/>
                    <a:lstStyle/>
                    <a:p>
                      <a:r>
                        <a:rPr sz="1900" b="0" i="0">
                          <a:solidFill>
                            <a:srgbClr val="1F2D33"/>
                          </a:solidFill>
                        </a:rPr>
                        <a:t>A. Import and inspect, fix missing-value codes</a:t>
                      </a:r>
                    </a:p>
                  </a:txBody>
                  <a:tcPr marL="73152" marR="73152" marT="36576" marB="36576">
                    <a:solidFill>
                      <a:srgbClr val="FFFFFF"/>
                    </a:solidFill>
                  </a:tcPr>
                </a:tc>
                <a:tc>
                  <a:txBody>
                    <a:bodyPr/>
                    <a:lstStyle/>
                    <a:p>
                      <a:r>
                        <a:rPr sz="1900" b="0" i="0">
                          <a:solidFill>
                            <a:srgbClr val="1F2D33"/>
                          </a:solidFill>
                        </a:rPr>
                        <a:t>01_import_and_inspect.R</a:t>
                      </a:r>
                    </a:p>
                  </a:txBody>
                  <a:tcPr marL="73152" marR="73152" marT="36576" marB="36576">
                    <a:solidFill>
                      <a:srgbClr val="FFFFFF"/>
                    </a:solidFill>
                  </a:tcPr>
                </a:tc>
                <a:tc>
                  <a:txBody>
                    <a:bodyPr/>
                    <a:lstStyle/>
                    <a:p>
                      <a:r>
                        <a:rPr sz="1900" b="0" i="0">
                          <a:solidFill>
                            <a:srgbClr val="1F2D33"/>
                          </a:solidFill>
                        </a:rPr>
                        <a:t>1.1 to 1.3</a:t>
                      </a:r>
                    </a:p>
                  </a:txBody>
                  <a:tcPr marL="73152" marR="73152" marT="36576" marB="36576">
                    <a:solidFill>
                      <a:srgbClr val="FFFFFF"/>
                    </a:solidFill>
                  </a:tcPr>
                </a:tc>
                <a:tc>
                  <a:txBody>
                    <a:bodyPr/>
                    <a:lstStyle/>
                    <a:p>
                      <a:r>
                        <a:rPr sz="1900" b="0" i="0">
                          <a:solidFill>
                            <a:srgbClr val="1F2D33"/>
                          </a:solidFill>
                        </a:rPr>
                        <a:t>25 min</a:t>
                      </a:r>
                    </a:p>
                  </a:txBody>
                  <a:tcPr marL="73152" marR="73152" marT="36576" marB="36576">
                    <a:solidFill>
                      <a:srgbClr val="FFFFFF"/>
                    </a:solidFill>
                  </a:tcPr>
                </a:tc>
              </a:tr>
              <a:tr h="457200">
                <a:tc>
                  <a:txBody>
                    <a:bodyPr/>
                    <a:lstStyle/>
                    <a:p>
                      <a:r>
                        <a:rPr sz="1900" b="0" i="0">
                          <a:solidFill>
                            <a:srgbClr val="1F2D33"/>
                          </a:solidFill>
                        </a:rPr>
                        <a:t>B. Describe and plot</a:t>
                      </a:r>
                    </a:p>
                  </a:txBody>
                  <a:tcPr marL="73152" marR="73152" marT="36576" marB="36576">
                    <a:solidFill>
                      <a:srgbClr val="EAF2F5"/>
                    </a:solidFill>
                  </a:tcPr>
                </a:tc>
                <a:tc>
                  <a:txBody>
                    <a:bodyPr/>
                    <a:lstStyle/>
                    <a:p>
                      <a:r>
                        <a:rPr sz="1900" b="0" i="0">
                          <a:solidFill>
                            <a:srgbClr val="1F2D33"/>
                          </a:solidFill>
                        </a:rPr>
                        <a:t>02_describe_and_plot.R</a:t>
                      </a:r>
                    </a:p>
                  </a:txBody>
                  <a:tcPr marL="73152" marR="73152" marT="36576" marB="36576">
                    <a:solidFill>
                      <a:srgbClr val="EAF2F5"/>
                    </a:solidFill>
                  </a:tcPr>
                </a:tc>
                <a:tc>
                  <a:txBody>
                    <a:bodyPr/>
                    <a:lstStyle/>
                    <a:p>
                      <a:r>
                        <a:rPr sz="1900" b="0" i="0">
                          <a:solidFill>
                            <a:srgbClr val="1F2D33"/>
                          </a:solidFill>
                        </a:rPr>
                        <a:t>1.4 to 1.6</a:t>
                      </a:r>
                    </a:p>
                  </a:txBody>
                  <a:tcPr marL="73152" marR="73152" marT="36576" marB="36576">
                    <a:solidFill>
                      <a:srgbClr val="EAF2F5"/>
                    </a:solidFill>
                  </a:tcPr>
                </a:tc>
                <a:tc>
                  <a:txBody>
                    <a:bodyPr/>
                    <a:lstStyle/>
                    <a:p>
                      <a:r>
                        <a:rPr sz="1900" b="0" i="0">
                          <a:solidFill>
                            <a:srgbClr val="1F2D33"/>
                          </a:solidFill>
                        </a:rPr>
                        <a:t>30 min</a:t>
                      </a:r>
                    </a:p>
                  </a:txBody>
                  <a:tcPr marL="73152" marR="73152" marT="36576" marB="36576">
                    <a:solidFill>
                      <a:srgbClr val="EAF2F5"/>
                    </a:solidFill>
                  </a:tcPr>
                </a:tc>
              </a:tr>
              <a:tr h="457200">
                <a:tc>
                  <a:txBody>
                    <a:bodyPr/>
                    <a:lstStyle/>
                    <a:p>
                      <a:r>
                        <a:rPr sz="1900" b="0" i="0">
                          <a:solidFill>
                            <a:srgbClr val="1F2D33"/>
                          </a:solidFill>
                        </a:rPr>
                        <a:t>C1. Compare groups (continuous, paired)</a:t>
                      </a:r>
                    </a:p>
                  </a:txBody>
                  <a:tcPr marL="73152" marR="73152" marT="36576" marB="36576">
                    <a:solidFill>
                      <a:srgbClr val="FFFFFF"/>
                    </a:solidFill>
                  </a:tcPr>
                </a:tc>
                <a:tc>
                  <a:txBody>
                    <a:bodyPr/>
                    <a:lstStyle/>
                    <a:p>
                      <a:r>
                        <a:rPr sz="1900" b="0" i="0">
                          <a:solidFill>
                            <a:srgbClr val="1F2D33"/>
                          </a:solidFill>
                        </a:rPr>
                        <a:t>03_compare_groups.R</a:t>
                      </a:r>
                    </a:p>
                  </a:txBody>
                  <a:tcPr marL="73152" marR="73152" marT="36576" marB="36576">
                    <a:solidFill>
                      <a:srgbClr val="FFFFFF"/>
                    </a:solidFill>
                  </a:tcPr>
                </a:tc>
                <a:tc>
                  <a:txBody>
                    <a:bodyPr/>
                    <a:lstStyle/>
                    <a:p>
                      <a:r>
                        <a:rPr sz="1900" b="0" i="0">
                          <a:solidFill>
                            <a:srgbClr val="1F2D33"/>
                          </a:solidFill>
                        </a:rPr>
                        <a:t>1.7 to 1.9</a:t>
                      </a:r>
                    </a:p>
                  </a:txBody>
                  <a:tcPr marL="73152" marR="73152" marT="36576" marB="36576">
                    <a:solidFill>
                      <a:srgbClr val="FFFFFF"/>
                    </a:solidFill>
                  </a:tcPr>
                </a:tc>
                <a:tc>
                  <a:txBody>
                    <a:bodyPr/>
                    <a:lstStyle/>
                    <a:p>
                      <a:r>
                        <a:rPr sz="1900" b="0" i="0">
                          <a:solidFill>
                            <a:srgbClr val="1F2D33"/>
                          </a:solidFill>
                        </a:rPr>
                        <a:t>35 min</a:t>
                      </a:r>
                    </a:p>
                  </a:txBody>
                  <a:tcPr marL="73152" marR="73152" marT="36576" marB="36576">
                    <a:solidFill>
                      <a:srgbClr val="FFFFFF"/>
                    </a:solidFill>
                  </a:tcPr>
                </a:tc>
              </a:tr>
              <a:tr h="457200">
                <a:tc>
                  <a:txBody>
                    <a:bodyPr/>
                    <a:lstStyle/>
                    <a:p>
                      <a:r>
                        <a:rPr sz="1900" b="0" i="0">
                          <a:solidFill>
                            <a:srgbClr val="1F2D33"/>
                          </a:solidFill>
                        </a:rPr>
                        <a:t>C2. Categorical associations</a:t>
                      </a:r>
                    </a:p>
                  </a:txBody>
                  <a:tcPr marL="73152" marR="73152" marT="36576" marB="36576">
                    <a:solidFill>
                      <a:srgbClr val="EAF2F5"/>
                    </a:solidFill>
                  </a:tcPr>
                </a:tc>
                <a:tc>
                  <a:txBody>
                    <a:bodyPr/>
                    <a:lstStyle/>
                    <a:p>
                      <a:r>
                        <a:rPr sz="1900" b="0" i="0">
                          <a:solidFill>
                            <a:srgbClr val="1F2D33"/>
                          </a:solidFill>
                        </a:rPr>
                        <a:t>04_categorical.R</a:t>
                      </a:r>
                    </a:p>
                  </a:txBody>
                  <a:tcPr marL="73152" marR="73152" marT="36576" marB="36576">
                    <a:solidFill>
                      <a:srgbClr val="EAF2F5"/>
                    </a:solidFill>
                  </a:tcPr>
                </a:tc>
                <a:tc>
                  <a:txBody>
                    <a:bodyPr/>
                    <a:lstStyle/>
                    <a:p>
                      <a:r>
                        <a:rPr sz="1900" b="0" i="0">
                          <a:solidFill>
                            <a:srgbClr val="1F2D33"/>
                          </a:solidFill>
                        </a:rPr>
                        <a:t>1.10 to 1.11</a:t>
                      </a:r>
                    </a:p>
                  </a:txBody>
                  <a:tcPr marL="73152" marR="73152" marT="36576" marB="36576">
                    <a:solidFill>
                      <a:srgbClr val="EAF2F5"/>
                    </a:solidFill>
                  </a:tcPr>
                </a:tc>
                <a:tc>
                  <a:txBody>
                    <a:bodyPr/>
                    <a:lstStyle/>
                    <a:p>
                      <a:r>
                        <a:rPr sz="1900" b="0" i="0">
                          <a:solidFill>
                            <a:srgbClr val="1F2D33"/>
                          </a:solidFill>
                        </a:rPr>
                        <a:t>20 min</a:t>
                      </a:r>
                    </a:p>
                  </a:txBody>
                  <a:tcPr marL="73152" marR="73152" marT="36576" marB="36576">
                    <a:solidFill>
                      <a:srgbClr val="EAF2F5"/>
                    </a:solidFill>
                  </a:tcPr>
                </a:tc>
              </a:tr>
              <a:tr h="457200">
                <a:tc>
                  <a:txBody>
                    <a:bodyPr/>
                    <a:lstStyle/>
                    <a:p>
                      <a:r>
                        <a:rPr sz="1900" b="0" i="0">
                          <a:solidFill>
                            <a:srgbClr val="1F2D33"/>
                          </a:solidFill>
                        </a:rPr>
                        <a:t>Review and questions</a:t>
                      </a:r>
                    </a:p>
                  </a:txBody>
                  <a:tcPr marL="73152" marR="73152" marT="36576" marB="36576">
                    <a:solidFill>
                      <a:srgbClr val="FFFFFF"/>
                    </a:solidFill>
                  </a:tcPr>
                </a:tc>
                <a:tc>
                  <a:txBody>
                    <a:bodyPr/>
                    <a:lstStyle/>
                    <a:p>
                      <a:r>
                        <a:rPr sz="1900" b="0" i="0">
                          <a:solidFill>
                            <a:srgbClr val="1F2D33"/>
                          </a:solidFill>
                        </a:rPr>
                        <a:t/>
                      </a:r>
                    </a:p>
                  </a:txBody>
                  <a:tcPr marL="73152" marR="73152" marT="36576" marB="36576">
                    <a:solidFill>
                      <a:srgbClr val="FFFFFF"/>
                    </a:solidFill>
                  </a:tcPr>
                </a:tc>
                <a:tc>
                  <a:txBody>
                    <a:bodyPr/>
                    <a:lstStyle/>
                    <a:p>
                      <a:r>
                        <a:rPr sz="1900" b="0" i="0">
                          <a:solidFill>
                            <a:srgbClr val="1F2D33"/>
                          </a:solidFill>
                        </a:rPr>
                        <a:t/>
                      </a:r>
                    </a:p>
                  </a:txBody>
                  <a:tcPr marL="73152" marR="73152" marT="36576" marB="36576">
                    <a:solidFill>
                      <a:srgbClr val="FFFFFF"/>
                    </a:solidFill>
                  </a:tcPr>
                </a:tc>
                <a:tc>
                  <a:txBody>
                    <a:bodyPr/>
                    <a:lstStyle/>
                    <a:p>
                      <a:r>
                        <a:rPr sz="1900" b="0" i="0">
                          <a:solidFill>
                            <a:srgbClr val="1F2D33"/>
                          </a:solidFill>
                        </a:rPr>
                        <a:t>10 min</a:t>
                      </a:r>
                    </a:p>
                  </a:txBody>
                  <a:tcPr marL="73152" marR="73152" marT="36576" marB="36576">
                    <a:solidFill>
                      <a:srgbClr val="FFFFFF"/>
                    </a:solidFill>
                  </a:tcPr>
                </a:tc>
              </a:tr>
            </a:tbl>
          </a:graphicData>
        </a:graphic>
      </p:graphicFrame>
      <p:sp>
        <p:nvSpPr>
          <p:cNvPr id="5" name="TextBox 4"/>
          <p:cNvSpPr txBox="1"/>
          <p:nvPr/>
        </p:nvSpPr>
        <p:spPr>
          <a:xfrm>
            <a:off x="429768" y="4453128"/>
            <a:ext cx="11332159" cy="1691640"/>
          </a:xfrm>
          <a:prstGeom prst="rect">
            <a:avLst/>
          </a:prstGeom>
          <a:noFill/>
        </p:spPr>
        <p:txBody>
          <a:bodyPr wrap="square">
            <a:spAutoFit/>
          </a:bodyPr>
          <a:lstStyle/>
          <a:p>
            <a:pPr>
              <a:spcAft>
                <a:spcPts val="1000"/>
              </a:spcAft>
            </a:pPr>
            <a:r>
              <a:rPr sz="1300" b="0" i="0">
                <a:solidFill>
                  <a:srgbClr val="0D7377"/>
                </a:solidFill>
              </a:rPr>
              <a:t>●  </a:t>
            </a:r>
            <a:r>
              <a:rPr sz="1900" b="0" i="0">
                <a:solidFill>
                  <a:srgbClr val="1F2D33"/>
                </a:solidFill>
              </a:rPr>
              <a:t>Open the .Rproj file first, then each script in turn</a:t>
            </a:r>
          </a:p>
          <a:p>
            <a:pPr>
              <a:spcAft>
                <a:spcPts val="1000"/>
              </a:spcAft>
            </a:pPr>
            <a:r>
              <a:rPr sz="1300" b="0" i="0">
                <a:solidFill>
                  <a:srgbClr val="0D7377"/>
                </a:solidFill>
              </a:rPr>
              <a:t>●  </a:t>
            </a:r>
            <a:r>
              <a:rPr sz="1900" b="0" i="0">
                <a:solidFill>
                  <a:srgbClr val="1F2D33"/>
                </a:solidFill>
              </a:rPr>
              <a:t>Extensions E1.1 to E1.6 are for those who finish early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2" sz="quarter"/>
          </p:nvPr>
        </p:nvSpPr>
        <p:spPr/>
        <p:txBody>
          <a:bodyPr/>
          <a:lstStyle/>
          <a:p>
            <a:fld id="{B6F15528-21DE-4FAA-801E-634DDDAF4B2B}" type="slidenum">
              <a:rPr lang="en-GB"/>
              <a:t>40</a:t>
            </a:fld>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Neudata">
  <a:themeElements>
    <a:clrScheme name="Neudata">
      <a:dk1>
        <a:srgbClr val="000000"/>
      </a:dk1>
      <a:lt1>
        <a:srgbClr val="FFFFFF"/>
      </a:lt1>
      <a:dk2>
        <a:srgbClr val="04242F"/>
      </a:dk2>
      <a:lt2>
        <a:srgbClr val="EAF2F5"/>
      </a:lt2>
      <a:accent1>
        <a:srgbClr val="0D7377"/>
      </a:accent1>
      <a:accent2>
        <a:srgbClr val="0070C0"/>
      </a:accent2>
      <a:accent3>
        <a:srgbClr val="055F56"/>
      </a:accent3>
      <a:accent4>
        <a:srgbClr val="0B376C"/>
      </a:accent4>
      <a:accent5>
        <a:srgbClr val="5FA39B"/>
      </a:accent5>
      <a:accent6>
        <a:srgbClr val="8A99A3"/>
      </a:accent6>
      <a:hlink>
        <a:srgbClr val="0070C0"/>
      </a:hlink>
      <a:folHlink>
        <a:srgbClr val="0B376C"/>
      </a:folHlink>
    </a:clrScheme>
    <a:fontScheme name="Neudata">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271</Words>
  <Application>WPS Presentation</Application>
  <PresentationFormat>Widescreen</PresentationFormat>
  <Paragraphs>43</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Wingdings</vt:lpstr>
      <vt:lpstr>Century Gothic</vt:lpstr>
      <vt:lpstr>Verdana</vt:lpstr>
      <vt:lpstr>Consolas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hp</dc:creator>
  <cp:lastModifiedBy>hp</cp:lastModifiedBy>
  <cp:revision>1</cp:revision>
  <dcterms:created xsi:type="dcterms:W3CDTF">2026-10-02T20:53:12Z</dcterms:created>
  <dcterms:modified xsi:type="dcterms:W3CDTF">2026-10-02T20:53:12Z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66A473D4EA134C64882DD82A8CF6BC5A_11</vt:lpwstr>
  </property>
</Properties>
</file>